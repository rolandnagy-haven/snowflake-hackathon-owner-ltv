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while people arrive. Once everyone's in, introduce the day: four teams, each building part of one multi-agent system on Snowflake. Three data teams (Owner LTV, Top of Funnel, Performance Marketing) each build a semantic view and a Cortex Agent on top of it, and the Platform team ties them together with the orchestrator, the MCP connection, CoWork and the shared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day on one slide. The business asks a question in Snowflake CoWork. It reaches our Orchestrator agent over MCP, and the orchestrator routes it to one or more domain agents and merges the answers. Each blue band is one team's build, end to end. Each data team builds both its semantic view (in the morning) and the Cortex agent on top of it (in the afternoon). Each agent sits on exactly one semantic view (names are working titles). The grey boxes outside the bands are the existing tables each semantic view covers; we don't build those, we describe them. Team 4, Platform, owns the orchestrator, the MCP connection, CoWork and the knowledge agent, and also builds the shared owner view, so all three semantic views agree on what an "owner" is. Otherwise the orchestrator would merge numbers that don't line up. The amber lines are the knowledge agent's links: both the orchestrator and the three data agents call it directly. Before answering, an agent recalls what is already known about the topic, and afterwards it records new validated findings. The knowledge agent has no semantic view: it keeps its findings in the AGENT_MEMORY table with vector embeddings, so a finding one agent validated gets reused by all of them instead of being worked out again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built an OLAP cube or a dbt or LookML semantic layer, the left side is familiar. Logical tables sit over physical tables and views and carry primary keys. Relationships declare the joins once, so nobody writes them again. Dimensions are what you group and filter by. Facts are row-level values. Metrics are named aggregations, so "guest nights" means the same thing everywhere. The right side is what makes it useful for AI. Synonyms map the words people use onto the model. Descriptions (comments) carry the business meaning, such as "owners are not in this view". AI instructions (AI_SQL_GENERATION) tell the model about rules and pitfalls. Verified queries are trusted question-and-SQL pairs that Cortex Analyst uses as examples, and they can show up as suggested starter questions. All the examples are from our footfall semantic view. Next I'll show that view live in Snowflake (slide 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define a semantic view, and they cover almost the same ground. The SQL way is CREATE SEMANTIC VIEW: native DDL with TABLES, RELATIONSHIPS, FACTS, DIMENSIONS and METRICS clauses, plus comments, synonyms, AI instructions and verified queries. The YAML way is the semantic model spec that Cortex Analyst started with. You load it with SYSTEM$CREATE_SEMANTIC_VIEW_FROM_YAML, and SYSTEM$READ_YAML_FROM_SEMANTIC_VIEW gives you YAML back from an existing view, so you can go back and forth. Pick whichever your team reads more easily. In a real project this would be versioned and deployed through dbt and CI/CD. For the hackathon, skip that and let Claude Code do the plumbing. Give it your table names, the business definitions and the questions the agent must answer. It writes the provisioning script, deploys it to your dev schema, reads the errors and fixes them. Then it tests the view by running queries in both syntaxes and comparing the results with plain SQL on the underlying tables. That is exactly how the footfall view we just saw was built: deploy.py deploys it, and the parity and query-example check scripts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real question from our footfall semantic view, S2 in query_examples_v1.sql, written two ways. A is the new SEMANTIC_VIEW() table function. You list the dimensions and metrics you want and a WHERE, and Snowflake generates the joins and the GROUP BY. This is also the form Cortex Analyst generates. B is plain SQL: name the semantic view in FROM like any view, group by dimensions, and wrap each metric in AGG() so the view's own aggregation is used. That means any SQL tool, notebook or dashboard can query it without learning new syntax. Both return the same rows, and our check script verifies that. The old query on the raw tables needed an explicit join to DIM_PARK. Here neither form writes a join. One caution for later: a WHERE on a dimension from a different table can change what a metric counts. We'll get to that when we write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semantic view is just an object in Snowflake, so there are two ways to put it to work. Path A is Cortex Analyst, Snowflake's hosted text-to-SQL service. You send it a question in plain English and it returns SQL generated from the semantic view, using the synonyms, descriptions and verified queries. It can optionally run the SQL and return the rows too. A Snowflake-managed MCP server can expose Cortex Analyst as a tool (the dashed box), so any MCP client, including Claude Code, CoWork or our orchestrator, can call it. It's managed and one-shot: question in, SQL out. Path B is Claude Code, or any agentic environment with a Snowflake connection. Instead of going through a translator, the agent reads the semantic view directly with DESCRIBE SEMANTIC VIEW or GET_DDL. It learns the business rules from the comments, synonyms and AI_SQL_GENERATION instructions, writes the query itself in either syntax, runs it, checks whether the numbers make sense, and iterates. Because it sees the whole model and the pitfalls at once and can reason across several queries, in our experience it often writes better queries than Cortex Analyst, especially for multi-step or tricky questions. Either way, everything you put into the semantic view today, especially the descriptions and the AI rules, makes both paths smarter.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detour before we build agents: what is a tool? A tool is one capability an agent can call, with a name, a description the model reads to decide when to use it, and an input schema. In Snowflake you publish tools through a Snowflake-managed MCP server, created with CREATE MCP SERVER … FROM SPECIFICATION. There are four kinds we care about. One: your own code, SQL or Python, wrapped in a stored procedure or a function: a GENERIC tool, for any logic you want to hand an agent. Two: SYSTEM_EXECUTE_SQL, a built-in tool that runs whatever SQL the caller writes, with the caller's role and grants. Pair it with Cortex Analyst (which returns SQL only) or let an agent write its own semantic-view queries. Three: Cortex Analyst over a semantic view, type CORTEX_ANALYST_MESSAGE, the question-to-SQL translator from the previous slide. Four: a whole Cortex Agent, type CORTEX_AGENT_RUN. Every one of these goes on an MCP server the same way. Then the same server can be consumed by a Cortex Agent (list it under mcp_servers in the agent spec, and all its tools show up) or by Claude Code or any other MCP client, just by pointing mcp.json at the server URL. Because an agent can itself be a tool, agents can call agents, and that's the building block for the orchestration on slide 2. Working examples are in the repo's invocation-poc folder: a hello-world procedure tool, a semantic-views MCP server, and an agent exposed as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word "Cortex" out and this is a plain agent, the same pattern as any agent framework. It has three parts. First, instructions: plain-text prompting for the agent's role, how to route and use its tools, and how to shape the answer. Second, tools: an explicit, configured list of what it may call, plus the resources behind them, such as which semantic view or which procedure and warehouse. Third, a runtime that Snowflake hosts. You don't run a server; Snowflake runs the loop (plan, call a tool, look at the result, decide what's next, answer) under the caller's role, within a time and token budget. You define all of it with CREATE AGENT … FROM SPECIFICATION, a YAML spec, so once again Claude Code can write and deploy it for you. As for tools, the agent can use everything from the previous slide: your own SQL or Python procedures, the run-SQL tool, Cortex Analyst over a semantic view, and other agents, declared directly or pulled in from an MCP server with mcp_servers. On top of that there's code execution, a sandbox with Python, shell and files (code_toolset_all in our repo), plus semantic search and the other built-in Cortex tools: Cortex Search for semantic search over text and documents, chart generation, and web search. The agent-orchestration folder in the repo has working agents that use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four agents on the same footfall semantic view and gave them the same hard questions. This slide keeps only the essentials; the full comparison is in sv-to-agent/AGENT_COMPARISON.md, and all four agent definitions are in sv-to-agent/sql in the source package I'll share after the session. The Cortex Analyst agent uses the Analyst tool, which writes and runs the SQL. It's the most governed and documented option, and it gives real tables and charts, but when it added its own calculations around the view it skipped days with no guests, so weekday averages came out about 5% high. The Run SQL via MCP agent reads DESCRIBE SEMANTIC VIEW and writes its own SQL, executed through a read-only run_sql MCP tool; it's transparent, with no second LLM, and it got the weekday averages fully right. The code sandbox agent is the Claude Code equivalent: it gets the coding toolset, discovers the view with a script, follows a checklist of the view's rules, and does the analysis in pandas. It also got the weekday averages fully right, and it gave the best statistical answers. The trade-offs: it's the slowest, it only outputs markdown, it relies on an undocumented system instruction, and it isn't read-only, so run it with a narrow role. The Analyst + Python agent combines the two; it's fast on SQL-shaped questions, but Python only works on small inputs, it inherited the same 5% error, and it claimed to zero-fill when it hadn't. The lesson for today: the semantic view is where correctness lives. Zero-filled metrics such as guests_on_park in the view fix this for every agent, whichever way it accesses the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Platform team's knowledge agent is made of. Every participating agent (the three domain agents, the orchestrator, and Claude Code while we build) connects to the same Snowflake MCP server by listing it under mcp_servers. The server has four tools. findings_index is the table of contents: the brief, the contribution rules and one line per finding, grouped by category, so an agent can load it at the start. search_findings does semantic plus keyword search. get_findings returns full items by id, with links and what replaced them. record_finding saves one finding and immediately tells the agent about likely duplicates. They're plain SQL procedures, about 1.5 seconds each. Findings land in one table, MEM_ITEM, with embeddings, and are searchable straight away with status "new". Then a background organiser takes over, in two ways. On insert: a stream and a triggered task fire within about 30 seconds, and an LLM compares each new item with its six nearest neighbours and decides whether to activate, flag as a duplicate, merge, supersede an older finding, reject, or escalate. On cadence: a nightly cron task runs the organiser Cortex agent, which resolves anything flagged for review or stale, merges and tidies, and rewrites the overview at the top of the index. So agents only contribute; the organiser decides what becomes trusted knowledge, and every change is versioned with a reason in the history table. A topic, such as footfall_bookings, is one YAML config; memctl renders and deploys the whole thing. For the hackathon we'd create an owner-knowledge topic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connect Claude Code to Snowflake-managed MCP servers, such as the shared memory server, without any admin work. The helper is in the mcp_auth folder of the source package. The trick: a Snowflake MCP endpoint accepts a normal Snowflake session token, so we log in with your own browser SSO, no PAT, key pair or OAuth integration needed. The catch: that session token expires after an hour, and the endpoint then returns HTTP 200 with a plain error body instead of a 401, so Claude Code never refreshes and every tool call starts failing with "malformed result". That's why we use a small local proxy. Claude Code talks to sf_mcp_proxy.py over stdio; the proxy forwards to Snowflake over HTTPS and silently logs in again whenever the token expires. Setup is four steps. Install the two requirements into a venv. Log in once with sf_mcp_auth.py --login: it opens the browser, then the SSO token sits in your OS keychain and later logins are silent for about four hours (the account needs ALLOW_ID_TOKEN on, which it usually is). Run the login with the same Python your MCP config uses, otherwise it won't find the keychain entry. Add one proxy entry per MCP server to .mcp.json with the server URL and your account, user and role, then approve it in /mcp. Verify with --check, which lists the server's tools. Your role needs USAGE on the MCP server plus the grants on whatever its tools touch. And this is for development only: the token can do anything your role can do, so for shared or production use go with a PAT, key-pair auth or OAuth.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I'd suggest each data team works today, entirely from Claude Code. Step one: start small. Ask Claude Code to create a semantic view with only a couple of dimensions and metrics over your tables, deploy it to your dev schema and check it runs. Don't try to model the whole domain up front. Step two: experiment. Use the view from Claude Code over your own Snowflake connection with plain SQL, in either syntax, and deliberately skip Cortex Analyst. This is where you find the gaps, the traps like days with no data, and the rules worth writing into the view's descriptions and AI instructions. Grow the view as you go. Step three: plug in the shared memory. Add the memory MCP server to your Claude Code session, then check that it really records: have Claude save a finding and confirm it shows up in the index. Step four: once your questions work well, ask Claude to write a Cortex Agent definition based on what worked in your session, using Opus 5.5 as the model. Use my Snowflake connection plus pandas agent as the template: it's the Cortex Agent equivalent of what you've been doing in Claude Code, a Snowpark session on the sandbox's default connection, pulling semantic view results into pandas. It's in sv-to-agent/sql/07_agent_code_pandas.sql in the source package. Remember it isn't read-only, so run it with a narrow role. Step five: expose your agent as a tool, so the Platform team's orchestrator can call it. The example in sv-to-agent/sql/09_agent_delegation.sql wraps it in a caller's-rights procedure, RUN_AGENT, which runs the agent with DATA_AGENT_RUN, keeps a conversation thread for follow-ups, logs every call, and keeps the end user's grants and the agent's code sandbox. The built-in CORTEX_AGENT_RUN tool type is simpler, but every call is a fresh, stateless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slideLayout" Target="../slideLayouts/slideLayout1.xml"/><Relationship Id="rId2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slideLayout" Target="../slideLayouts/slideLayout1.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3A"/>
        </a:solidFill>
      </p:bgPr>
    </p:bg>
    <p:spTree>
      <p:nvGrpSpPr>
        <p:cNvPr id="1" name=""/>
        <p:cNvGrpSpPr/>
        <p:nvPr/>
      </p:nvGrpSpPr>
      <p:grpSpPr>
        <a:xfrm>
          <a:off x="0" y="0"/>
          <a:ext cx="0" cy="0"/>
          <a:chOff x="0" y="0"/>
          <a:chExt cx="0" cy="0"/>
        </a:xfrm>
      </p:grpSpPr>
      <p:sp>
        <p:nvSpPr>
          <p:cNvPr id="2" name="Shape 0"/>
          <p:cNvSpPr/>
          <p:nvPr/>
        </p:nvSpPr>
        <p:spPr>
          <a:xfrm>
            <a:off x="812800" y="558800"/>
            <a:ext cx="1016000" cy="50800"/>
          </a:xfrm>
          <a:prstGeom prst="roundRect">
            <a:avLst>
              <a:gd name="adj" fmla="val 50000"/>
            </a:avLst>
          </a:prstGeom>
          <a:solidFill>
            <a:srgbClr val="E9B949"/>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9B949"/>
                </a:solidFill>
                <a:latin typeface="IBM Plex Sans" pitchFamily="34" charset="0"/>
                <a:ea typeface="IBM Plex Sans" pitchFamily="34" charset="-122"/>
                <a:cs typeface="IBM Plex Sans" pitchFamily="34" charset="-120"/>
              </a:rPr>
              <a:t>HACKATHON</a:t>
            </a:r>
            <a:endParaRPr lang="en-US" sz="1400" dirty="0"/>
          </a:p>
        </p:txBody>
      </p:sp>
      <p:sp>
        <p:nvSpPr>
          <p:cNvPr id="4" name="Text 2"/>
          <p:cNvSpPr/>
          <p:nvPr/>
        </p:nvSpPr>
        <p:spPr>
          <a:xfrm>
            <a:off x="812800" y="12649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5F3EE"/>
                </a:solidFill>
                <a:latin typeface="IBM Plex Sans" pitchFamily="34" charset="0"/>
                <a:ea typeface="IBM Plex Sans" pitchFamily="34" charset="-122"/>
                <a:cs typeface="IBM Plex Sans" pitchFamily="34" charset="-120"/>
              </a:rPr>
              <a:t>Four agents,</a:t>
            </a:r>
            <a:endParaRPr lang="en-US" sz="6000" dirty="0"/>
          </a:p>
          <a:p>
            <a:pPr algn="l" indent="0" marL="0">
              <a:lnSpc>
                <a:spcPts val="6300"/>
              </a:lnSpc>
              <a:buNone/>
            </a:pPr>
            <a:r>
              <a:rPr lang="en-US" sz="6000" b="1" dirty="0">
                <a:solidFill>
                  <a:srgbClr val="F5F3EE"/>
                </a:solidFill>
                <a:latin typeface="IBM Plex Sans" pitchFamily="34" charset="0"/>
                <a:ea typeface="IBM Plex Sans" pitchFamily="34" charset="-122"/>
                <a:cs typeface="IBM Plex Sans" pitchFamily="34" charset="-120"/>
              </a:rPr>
              <a:t>one prompt</a:t>
            </a:r>
            <a:endParaRPr lang="en-US" sz="6000" dirty="0"/>
          </a:p>
        </p:txBody>
      </p:sp>
      <p:sp>
        <p:nvSpPr>
          <p:cNvPr id="5" name="Text 3"/>
          <p:cNvSpPr/>
          <p:nvPr/>
        </p:nvSpPr>
        <p:spPr>
          <a:xfrm>
            <a:off x="812800" y="3068320"/>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BFCCD8"/>
                </a:solidFill>
                <a:latin typeface="IBM Plex Sans" pitchFamily="34" charset="0"/>
                <a:ea typeface="IBM Plex Sans" pitchFamily="34" charset="-122"/>
                <a:cs typeface="IBM Plex Sans" pitchFamily="34" charset="-120"/>
              </a:rPr>
              <a:t>Snowflake semantic views, Cortex Agents and MCP</a:t>
            </a:r>
            <a:endParaRPr lang="en-US" sz="2200" dirty="0"/>
          </a:p>
        </p:txBody>
      </p:sp>
      <p:sp>
        <p:nvSpPr>
          <p:cNvPr id="6" name="Shape 4"/>
          <p:cNvSpPr/>
          <p:nvPr/>
        </p:nvSpPr>
        <p:spPr>
          <a:xfrm>
            <a:off x="812800" y="5730240"/>
            <a:ext cx="1037947" cy="314960"/>
          </a:xfrm>
          <a:prstGeom prst="roundRect">
            <a:avLst>
              <a:gd name="adj" fmla="val 48387"/>
            </a:avLst>
          </a:prstGeom>
          <a:solidFill>
            <a:srgbClr val="DDE8F1"/>
          </a:solidFill>
          <a:ln/>
        </p:spPr>
      </p:sp>
      <p:sp>
        <p:nvSpPr>
          <p:cNvPr id="7" name="Text 5"/>
          <p:cNvSpPr/>
          <p:nvPr/>
        </p:nvSpPr>
        <p:spPr>
          <a:xfrm>
            <a:off x="952500" y="5781040"/>
            <a:ext cx="8093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Owner LTV</a:t>
            </a:r>
            <a:endParaRPr lang="en-US" sz="1200" dirty="0"/>
          </a:p>
        </p:txBody>
      </p:sp>
      <p:sp>
        <p:nvSpPr>
          <p:cNvPr id="8" name="Shape 6"/>
          <p:cNvSpPr/>
          <p:nvPr/>
        </p:nvSpPr>
        <p:spPr>
          <a:xfrm>
            <a:off x="1952347" y="5730240"/>
            <a:ext cx="1228050" cy="314960"/>
          </a:xfrm>
          <a:prstGeom prst="roundRect">
            <a:avLst>
              <a:gd name="adj" fmla="val 48387"/>
            </a:avLst>
          </a:prstGeom>
          <a:solidFill>
            <a:srgbClr val="DDE8F1"/>
          </a:solidFill>
          <a:ln/>
        </p:spPr>
      </p:sp>
      <p:sp>
        <p:nvSpPr>
          <p:cNvPr id="9" name="Text 7"/>
          <p:cNvSpPr/>
          <p:nvPr/>
        </p:nvSpPr>
        <p:spPr>
          <a:xfrm>
            <a:off x="2092047" y="5781040"/>
            <a:ext cx="999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Top of Funnel</a:t>
            </a:r>
            <a:endParaRPr lang="en-US" sz="1200" dirty="0"/>
          </a:p>
        </p:txBody>
      </p:sp>
      <p:sp>
        <p:nvSpPr>
          <p:cNvPr id="10" name="Shape 8"/>
          <p:cNvSpPr/>
          <p:nvPr/>
        </p:nvSpPr>
        <p:spPr>
          <a:xfrm>
            <a:off x="3281998" y="5730240"/>
            <a:ext cx="1935202" cy="314960"/>
          </a:xfrm>
          <a:prstGeom prst="roundRect">
            <a:avLst>
              <a:gd name="adj" fmla="val 48387"/>
            </a:avLst>
          </a:prstGeom>
          <a:solidFill>
            <a:srgbClr val="DDE8F1"/>
          </a:solidFill>
          <a:ln/>
        </p:spPr>
      </p:sp>
      <p:sp>
        <p:nvSpPr>
          <p:cNvPr id="11" name="Text 9"/>
          <p:cNvSpPr/>
          <p:nvPr/>
        </p:nvSpPr>
        <p:spPr>
          <a:xfrm>
            <a:off x="3421698" y="5781040"/>
            <a:ext cx="17066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Performance Marketing</a:t>
            </a:r>
            <a:endParaRPr lang="en-US" sz="1200" dirty="0"/>
          </a:p>
        </p:txBody>
      </p:sp>
      <p:sp>
        <p:nvSpPr>
          <p:cNvPr id="12" name="Shape 10"/>
          <p:cNvSpPr/>
          <p:nvPr/>
        </p:nvSpPr>
        <p:spPr>
          <a:xfrm>
            <a:off x="5318800" y="5730240"/>
            <a:ext cx="896620" cy="314960"/>
          </a:xfrm>
          <a:prstGeom prst="roundRect">
            <a:avLst>
              <a:gd name="adj" fmla="val 48387"/>
            </a:avLst>
          </a:prstGeom>
          <a:solidFill>
            <a:srgbClr val="E9B949"/>
          </a:solidFill>
          <a:ln/>
        </p:spPr>
      </p:sp>
      <p:sp>
        <p:nvSpPr>
          <p:cNvPr id="13" name="Text 11"/>
          <p:cNvSpPr/>
          <p:nvPr/>
        </p:nvSpPr>
        <p:spPr>
          <a:xfrm>
            <a:off x="5458500" y="5781040"/>
            <a:ext cx="6680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Platform</a:t>
            </a:r>
            <a:endParaRPr lang="en-US" sz="1200" dirty="0"/>
          </a:p>
        </p:txBody>
      </p:sp>
      <p:sp>
        <p:nvSpPr>
          <p:cNvPr id="14" name="Text 12"/>
          <p:cNvSpPr/>
          <p:nvPr/>
        </p:nvSpPr>
        <p:spPr>
          <a:xfrm>
            <a:off x="9076086" y="5814060"/>
            <a:ext cx="2303114" cy="256540"/>
          </a:xfrm>
          <a:prstGeom prst="rect">
            <a:avLst/>
          </a:prstGeom>
          <a:noFill/>
          <a:ln/>
        </p:spPr>
        <p:txBody>
          <a:bodyPr wrap="none" lIns="0" tIns="0" rIns="0" bIns="0" rtlCol="0" anchor="t">
            <a:normAutofit/>
          </a:bodyPr>
          <a:lstStyle/>
          <a:p>
            <a:pPr algn="r" indent="0" marL="0">
              <a:lnSpc>
                <a:spcPts val="1820"/>
              </a:lnSpc>
              <a:buNone/>
            </a:pPr>
            <a:r>
              <a:rPr lang="en-US" sz="1400" dirty="0">
                <a:solidFill>
                  <a:srgbClr val="8FA3B5"/>
                </a:solidFill>
                <a:latin typeface="IBM Plex Sans" pitchFamily="34" charset="0"/>
                <a:ea typeface="IBM Plex Sans" pitchFamily="34" charset="-122"/>
                <a:cs typeface="IBM Plex Sans" pitchFamily="34" charset="-120"/>
              </a:rPr>
              <a:t>Grab a seat, we start shortly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6FA8"/>
                </a:solidFill>
                <a:latin typeface="IBM Plex Sans" pitchFamily="34" charset="0"/>
                <a:ea typeface="IBM Plex Sans" pitchFamily="34" charset="-122"/>
                <a:cs typeface="IBM Plex Sans" pitchFamily="34" charset="-120"/>
              </a:rPr>
              <a:t>HACKATHON · WHAT WE'RE BUILDING</a:t>
            </a:r>
            <a:endParaRPr lang="en-US" sz="1200" dirty="0"/>
          </a:p>
        </p:txBody>
      </p:sp>
      <p:sp>
        <p:nvSpPr>
          <p:cNvPr id="3" name="Text 1"/>
          <p:cNvSpPr/>
          <p:nvPr/>
        </p:nvSpPr>
        <p:spPr>
          <a:xfrm>
            <a:off x="812800" y="84836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3263A"/>
                </a:solidFill>
                <a:latin typeface="IBM Plex Sans" pitchFamily="34" charset="0"/>
                <a:ea typeface="IBM Plex Sans" pitchFamily="34" charset="-122"/>
                <a:cs typeface="IBM Plex Sans" pitchFamily="34" charset="-120"/>
              </a:rPr>
              <a:t>Four agents, one prompt</a:t>
            </a:r>
            <a:endParaRPr lang="en-US" sz="3000" dirty="0"/>
          </a:p>
        </p:txBody>
      </p:sp>
      <p:sp>
        <p:nvSpPr>
          <p:cNvPr id="4" name="Shape 2"/>
          <p:cNvSpPr/>
          <p:nvPr/>
        </p:nvSpPr>
        <p:spPr>
          <a:xfrm>
            <a:off x="3022600" y="1485900"/>
            <a:ext cx="4622800" cy="1003300"/>
          </a:xfrm>
          <a:prstGeom prst="roundRect">
            <a:avLst>
              <a:gd name="adj" fmla="val 12658"/>
            </a:avLst>
          </a:prstGeom>
          <a:solidFill>
            <a:srgbClr val="DDE8F1"/>
          </a:solidFill>
          <a:ln/>
        </p:spPr>
      </p:sp>
      <p:sp>
        <p:nvSpPr>
          <p:cNvPr id="5" name="Shape 3"/>
          <p:cNvSpPr/>
          <p:nvPr/>
        </p:nvSpPr>
        <p:spPr>
          <a:xfrm>
            <a:off x="3022600" y="2565400"/>
            <a:ext cx="4622800" cy="1003300"/>
          </a:xfrm>
          <a:prstGeom prst="roundRect">
            <a:avLst>
              <a:gd name="adj" fmla="val 12658"/>
            </a:avLst>
          </a:prstGeom>
          <a:solidFill>
            <a:srgbClr val="DDE8F1"/>
          </a:solidFill>
          <a:ln/>
        </p:spPr>
      </p:sp>
      <p:sp>
        <p:nvSpPr>
          <p:cNvPr id="6" name="Shape 4"/>
          <p:cNvSpPr/>
          <p:nvPr/>
        </p:nvSpPr>
        <p:spPr>
          <a:xfrm>
            <a:off x="3022600" y="3644900"/>
            <a:ext cx="4622800" cy="1003300"/>
          </a:xfrm>
          <a:prstGeom prst="roundRect">
            <a:avLst>
              <a:gd name="adj" fmla="val 12658"/>
            </a:avLst>
          </a:prstGeom>
          <a:solidFill>
            <a:srgbClr val="DDE8F1"/>
          </a:solidFill>
          <a:ln/>
        </p:spPr>
      </p:sp>
      <p:sp>
        <p:nvSpPr>
          <p:cNvPr id="7" name="Shape 5"/>
          <p:cNvSpPr/>
          <p:nvPr/>
        </p:nvSpPr>
        <p:spPr>
          <a:xfrm>
            <a:off x="3022600" y="4724400"/>
            <a:ext cx="4622800" cy="1003300"/>
          </a:xfrm>
          <a:prstGeom prst="roundRect">
            <a:avLst>
              <a:gd name="adj" fmla="val 12658"/>
            </a:avLst>
          </a:prstGeom>
          <a:solidFill>
            <a:srgbClr val="DDE8F1"/>
          </a:solidFill>
          <a:ln/>
        </p:spPr>
      </p:sp>
      <p:sp>
        <p:nvSpPr>
          <p:cNvPr id="8" name="Text 6"/>
          <p:cNvSpPr/>
          <p:nvPr/>
        </p:nvSpPr>
        <p:spPr>
          <a:xfrm>
            <a:off x="7874000" y="1244600"/>
            <a:ext cx="3610356"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A7686"/>
                </a:solidFill>
                <a:latin typeface="IBM Plex Sans" pitchFamily="34" charset="0"/>
                <a:ea typeface="IBM Plex Sans" pitchFamily="34" charset="-122"/>
                <a:cs typeface="IBM Plex Sans" pitchFamily="34" charset="-120"/>
              </a:rPr>
              <a:t>EXISTING TABLES</a:t>
            </a:r>
            <a:endParaRPr lang="en-US" sz="1200" dirty="0"/>
          </a:p>
        </p:txBody>
      </p:sp>
      <p:sp>
        <p:nvSpPr>
          <p:cNvPr id="9" name="Shape 7"/>
          <p:cNvSpPr/>
          <p:nvPr/>
        </p:nvSpPr>
        <p:spPr>
          <a:xfrm>
            <a:off x="812800" y="1524000"/>
            <a:ext cx="1879600" cy="952500"/>
          </a:xfrm>
          <a:prstGeom prst="roundRect">
            <a:avLst>
              <a:gd name="adj" fmla="val 9333"/>
            </a:avLst>
          </a:prstGeom>
          <a:solidFill>
            <a:srgbClr val="1C6FA8"/>
          </a:solidFill>
          <a:ln/>
        </p:spPr>
      </p:sp>
      <p:sp>
        <p:nvSpPr>
          <p:cNvPr id="10" name="Text 8"/>
          <p:cNvSpPr/>
          <p:nvPr/>
        </p:nvSpPr>
        <p:spPr>
          <a:xfrm>
            <a:off x="939800" y="1772285"/>
            <a:ext cx="1676400"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5F3EE"/>
                </a:solidFill>
                <a:latin typeface="IBM Plex Sans" pitchFamily="34" charset="0"/>
                <a:ea typeface="IBM Plex Sans" pitchFamily="34" charset="-122"/>
                <a:cs typeface="IBM Plex Sans" pitchFamily="34" charset="-120"/>
              </a:rPr>
              <a:t>Snowflake CoWork</a:t>
            </a:r>
            <a:endParaRPr lang="en-US" sz="1400" dirty="0"/>
          </a:p>
        </p:txBody>
      </p:sp>
      <p:sp>
        <p:nvSpPr>
          <p:cNvPr id="11" name="Text 9"/>
          <p:cNvSpPr/>
          <p:nvPr/>
        </p:nvSpPr>
        <p:spPr>
          <a:xfrm>
            <a:off x="939800" y="2014855"/>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EF5"/>
                </a:solidFill>
                <a:latin typeface="IBM Plex Sans" pitchFamily="34" charset="0"/>
                <a:ea typeface="IBM Plex Sans" pitchFamily="34" charset="-122"/>
                <a:cs typeface="IBM Plex Sans" pitchFamily="34" charset="-120"/>
              </a:rPr>
              <a:t>Business asks here</a:t>
            </a:r>
            <a:endParaRPr lang="en-US" sz="1200" dirty="0"/>
          </a:p>
        </p:txBody>
      </p:sp>
      <p:pic>
        <p:nvPicPr>
          <p:cNvPr id="12" name="Image 0" descr="connector">    </p:cNvPr>
          <p:cNvPicPr>
            <a:picLocks noChangeAspect="1"/>
          </p:cNvPicPr>
          <p:nvPr/>
        </p:nvPicPr>
        <p:blipFill>
          <a:blip r:embed="rId1"/>
          <a:srcRect l="0" r="0" t="0" b="0"/>
          <a:stretch/>
        </p:blipFill>
        <p:spPr>
          <a:xfrm>
            <a:off x="1689100" y="2413000"/>
            <a:ext cx="127000" cy="571500"/>
          </a:xfrm>
          <a:prstGeom prst="rect">
            <a:avLst/>
          </a:prstGeom>
        </p:spPr>
      </p:pic>
      <p:sp>
        <p:nvSpPr>
          <p:cNvPr id="13" name="Text 10"/>
          <p:cNvSpPr/>
          <p:nvPr/>
        </p:nvSpPr>
        <p:spPr>
          <a:xfrm>
            <a:off x="1879600" y="2578100"/>
            <a:ext cx="863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6FA8"/>
                </a:solidFill>
                <a:latin typeface="JetBrains Mono" pitchFamily="34" charset="0"/>
                <a:ea typeface="JetBrains Mono" pitchFamily="34" charset="-122"/>
                <a:cs typeface="JetBrains Mono" pitchFamily="34" charset="-120"/>
              </a:rPr>
              <a:t>MCP</a:t>
            </a:r>
            <a:endParaRPr lang="en-US" sz="1200" dirty="0"/>
          </a:p>
        </p:txBody>
      </p:sp>
      <p:sp>
        <p:nvSpPr>
          <p:cNvPr id="14" name="Shape 11"/>
          <p:cNvSpPr/>
          <p:nvPr/>
        </p:nvSpPr>
        <p:spPr>
          <a:xfrm>
            <a:off x="812800" y="2921000"/>
            <a:ext cx="1879600" cy="1524000"/>
          </a:xfrm>
          <a:prstGeom prst="roundRect">
            <a:avLst>
              <a:gd name="adj" fmla="val 5833"/>
            </a:avLst>
          </a:prstGeom>
          <a:solidFill>
            <a:srgbClr val="13263A"/>
          </a:solidFill>
          <a:ln/>
        </p:spPr>
      </p:sp>
      <p:sp>
        <p:nvSpPr>
          <p:cNvPr id="15" name="Text 12"/>
          <p:cNvSpPr/>
          <p:nvPr/>
        </p:nvSpPr>
        <p:spPr>
          <a:xfrm>
            <a:off x="939800" y="3222625"/>
            <a:ext cx="167640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E9B949"/>
                </a:solidFill>
                <a:latin typeface="IBM Plex Sans" pitchFamily="34" charset="0"/>
                <a:ea typeface="IBM Plex Sans" pitchFamily="34" charset="-122"/>
                <a:cs typeface="IBM Plex Sans" pitchFamily="34" charset="-120"/>
              </a:rPr>
              <a:t>TEAM 4 · PLATFORM</a:t>
            </a:r>
            <a:endParaRPr lang="en-US" sz="1200" dirty="0"/>
          </a:p>
        </p:txBody>
      </p:sp>
      <p:sp>
        <p:nvSpPr>
          <p:cNvPr id="16" name="Text 13"/>
          <p:cNvSpPr/>
          <p:nvPr/>
        </p:nvSpPr>
        <p:spPr>
          <a:xfrm>
            <a:off x="939800" y="3474085"/>
            <a:ext cx="1676400"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5F3EE"/>
                </a:solidFill>
                <a:latin typeface="IBM Plex Sans" pitchFamily="34" charset="0"/>
                <a:ea typeface="IBM Plex Sans" pitchFamily="34" charset="-122"/>
                <a:cs typeface="IBM Plex Sans" pitchFamily="34" charset="-120"/>
              </a:rPr>
              <a:t>Orchestrator agent</a:t>
            </a:r>
            <a:endParaRPr lang="en-US" sz="1400" dirty="0"/>
          </a:p>
        </p:txBody>
      </p:sp>
      <p:sp>
        <p:nvSpPr>
          <p:cNvPr id="17" name="Text 14"/>
          <p:cNvSpPr/>
          <p:nvPr/>
        </p:nvSpPr>
        <p:spPr>
          <a:xfrm>
            <a:off x="939800" y="3716655"/>
            <a:ext cx="1676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Routes each question, merges the answers</a:t>
            </a:r>
            <a:endParaRPr lang="en-US" sz="1200" dirty="0"/>
          </a:p>
        </p:txBody>
      </p:sp>
      <p:pic>
        <p:nvPicPr>
          <p:cNvPr id="18" name="Image 1" descr="connector">    </p:cNvPr>
          <p:cNvPicPr>
            <a:picLocks noChangeAspect="1"/>
          </p:cNvPicPr>
          <p:nvPr/>
        </p:nvPicPr>
        <p:blipFill>
          <a:blip r:embed="rId2"/>
          <a:srcRect l="0" r="0" t="0" b="0"/>
          <a:stretch/>
        </p:blipFill>
        <p:spPr>
          <a:xfrm>
            <a:off x="2857500" y="2222500"/>
            <a:ext cx="127000" cy="3187700"/>
          </a:xfrm>
          <a:prstGeom prst="rect">
            <a:avLst/>
          </a:prstGeom>
        </p:spPr>
      </p:pic>
      <p:pic>
        <p:nvPicPr>
          <p:cNvPr id="19" name="Image 2" descr="connector">    </p:cNvPr>
          <p:cNvPicPr>
            <a:picLocks noChangeAspect="1"/>
          </p:cNvPicPr>
          <p:nvPr/>
        </p:nvPicPr>
        <p:blipFill>
          <a:blip r:embed="rId3"/>
          <a:srcRect l="0" r="0" t="0" b="0"/>
          <a:stretch/>
        </p:blipFill>
        <p:spPr>
          <a:xfrm>
            <a:off x="2857500" y="2222500"/>
            <a:ext cx="330200" cy="127000"/>
          </a:xfrm>
          <a:prstGeom prst="rect">
            <a:avLst/>
          </a:prstGeom>
        </p:spPr>
      </p:pic>
      <p:pic>
        <p:nvPicPr>
          <p:cNvPr id="20" name="Image 3" descr="connector">    </p:cNvPr>
          <p:cNvPicPr>
            <a:picLocks noChangeAspect="1"/>
          </p:cNvPicPr>
          <p:nvPr/>
        </p:nvPicPr>
        <p:blipFill>
          <a:blip r:embed="rId4"/>
          <a:srcRect l="0" r="0" t="0" b="0"/>
          <a:stretch/>
        </p:blipFill>
        <p:spPr>
          <a:xfrm>
            <a:off x="2857500" y="3302000"/>
            <a:ext cx="330200" cy="127000"/>
          </a:xfrm>
          <a:prstGeom prst="rect">
            <a:avLst/>
          </a:prstGeom>
        </p:spPr>
      </p:pic>
      <p:pic>
        <p:nvPicPr>
          <p:cNvPr id="21" name="Image 4" descr="connector">    </p:cNvPr>
          <p:cNvPicPr>
            <a:picLocks noChangeAspect="1"/>
          </p:cNvPicPr>
          <p:nvPr/>
        </p:nvPicPr>
        <p:blipFill>
          <a:blip r:embed="rId5"/>
          <a:srcRect l="0" r="0" t="0" b="0"/>
          <a:stretch/>
        </p:blipFill>
        <p:spPr>
          <a:xfrm>
            <a:off x="2857500" y="4381500"/>
            <a:ext cx="330200" cy="127000"/>
          </a:xfrm>
          <a:prstGeom prst="rect">
            <a:avLst/>
          </a:prstGeom>
        </p:spPr>
      </p:pic>
      <p:pic>
        <p:nvPicPr>
          <p:cNvPr id="22" name="Image 5" descr="connector">    </p:cNvPr>
          <p:cNvPicPr>
            <a:picLocks noChangeAspect="1"/>
          </p:cNvPicPr>
          <p:nvPr/>
        </p:nvPicPr>
        <p:blipFill>
          <a:blip r:embed="rId6"/>
          <a:srcRect l="0" r="0" t="0" b="0"/>
          <a:stretch/>
        </p:blipFill>
        <p:spPr>
          <a:xfrm>
            <a:off x="1689100" y="4381500"/>
            <a:ext cx="127000" cy="1028700"/>
          </a:xfrm>
          <a:prstGeom prst="rect">
            <a:avLst/>
          </a:prstGeom>
        </p:spPr>
      </p:pic>
      <p:pic>
        <p:nvPicPr>
          <p:cNvPr id="23" name="Image 6" descr="connector">    </p:cNvPr>
          <p:cNvPicPr>
            <a:picLocks noChangeAspect="1"/>
          </p:cNvPicPr>
          <p:nvPr/>
        </p:nvPicPr>
        <p:blipFill>
          <a:blip r:embed="rId7"/>
          <a:srcRect l="0" r="0" t="0" b="0"/>
          <a:stretch/>
        </p:blipFill>
        <p:spPr>
          <a:xfrm>
            <a:off x="1689100" y="5283200"/>
            <a:ext cx="1295400" cy="127000"/>
          </a:xfrm>
          <a:prstGeom prst="rect">
            <a:avLst/>
          </a:prstGeom>
        </p:spPr>
      </p:pic>
      <p:pic>
        <p:nvPicPr>
          <p:cNvPr id="24" name="Image 7" descr="connector">    </p:cNvPr>
          <p:cNvPicPr>
            <a:picLocks noChangeAspect="1"/>
          </p:cNvPicPr>
          <p:nvPr/>
        </p:nvPicPr>
        <p:blipFill>
          <a:blip r:embed="rId8"/>
          <a:srcRect l="0" r="0" t="0" b="0"/>
          <a:stretch/>
        </p:blipFill>
        <p:spPr>
          <a:xfrm>
            <a:off x="2857500" y="5283200"/>
            <a:ext cx="330200" cy="127000"/>
          </a:xfrm>
          <a:prstGeom prst="rect">
            <a:avLst/>
          </a:prstGeom>
        </p:spPr>
      </p:pic>
      <p:pic>
        <p:nvPicPr>
          <p:cNvPr id="25" name="Image 8" descr="connector">    </p:cNvPr>
          <p:cNvPicPr>
            <a:picLocks noChangeAspect="1"/>
          </p:cNvPicPr>
          <p:nvPr/>
        </p:nvPicPr>
        <p:blipFill>
          <a:blip r:embed="rId9"/>
          <a:srcRect l="0" r="0" t="0" b="0"/>
          <a:stretch/>
        </p:blipFill>
        <p:spPr>
          <a:xfrm>
            <a:off x="2628900" y="3619500"/>
            <a:ext cx="228600" cy="127000"/>
          </a:xfrm>
          <a:prstGeom prst="rect">
            <a:avLst/>
          </a:prstGeom>
        </p:spPr>
      </p:pic>
      <p:pic>
        <p:nvPicPr>
          <p:cNvPr id="26" name="Image 9" descr="connector">    </p:cNvPr>
          <p:cNvPicPr>
            <a:picLocks noChangeAspect="1"/>
          </p:cNvPicPr>
          <p:nvPr/>
        </p:nvPicPr>
        <p:blipFill>
          <a:blip r:embed="rId10"/>
          <a:srcRect l="0" r="0" t="0" b="0"/>
          <a:stretch/>
        </p:blipFill>
        <p:spPr>
          <a:xfrm>
            <a:off x="2730500" y="1917700"/>
            <a:ext cx="127000" cy="2286000"/>
          </a:xfrm>
          <a:prstGeom prst="rect">
            <a:avLst/>
          </a:prstGeom>
        </p:spPr>
      </p:pic>
      <p:pic>
        <p:nvPicPr>
          <p:cNvPr id="27" name="Image 10" descr="connector">    </p:cNvPr>
          <p:cNvPicPr>
            <a:picLocks noChangeAspect="1"/>
          </p:cNvPicPr>
          <p:nvPr/>
        </p:nvPicPr>
        <p:blipFill>
          <a:blip r:embed="rId11"/>
          <a:srcRect l="0" r="0" t="0" b="0"/>
          <a:stretch/>
        </p:blipFill>
        <p:spPr>
          <a:xfrm>
            <a:off x="2730500" y="1917700"/>
            <a:ext cx="457200" cy="127000"/>
          </a:xfrm>
          <a:prstGeom prst="rect">
            <a:avLst/>
          </a:prstGeom>
        </p:spPr>
      </p:pic>
      <p:pic>
        <p:nvPicPr>
          <p:cNvPr id="28" name="Image 11" descr="connector">    </p:cNvPr>
          <p:cNvPicPr>
            <a:picLocks noChangeAspect="1"/>
          </p:cNvPicPr>
          <p:nvPr/>
        </p:nvPicPr>
        <p:blipFill>
          <a:blip r:embed="rId12"/>
          <a:srcRect l="0" r="0" t="0" b="0"/>
          <a:stretch/>
        </p:blipFill>
        <p:spPr>
          <a:xfrm>
            <a:off x="2730500" y="2997200"/>
            <a:ext cx="457200" cy="127000"/>
          </a:xfrm>
          <a:prstGeom prst="rect">
            <a:avLst/>
          </a:prstGeom>
        </p:spPr>
      </p:pic>
      <p:pic>
        <p:nvPicPr>
          <p:cNvPr id="29" name="Image 12" descr="connector">    </p:cNvPr>
          <p:cNvPicPr>
            <a:picLocks noChangeAspect="1"/>
          </p:cNvPicPr>
          <p:nvPr/>
        </p:nvPicPr>
        <p:blipFill>
          <a:blip r:embed="rId13"/>
          <a:srcRect l="0" r="0" t="0" b="0"/>
          <a:stretch/>
        </p:blipFill>
        <p:spPr>
          <a:xfrm>
            <a:off x="2730500" y="4076700"/>
            <a:ext cx="457200" cy="127000"/>
          </a:xfrm>
          <a:prstGeom prst="rect">
            <a:avLst/>
          </a:prstGeom>
        </p:spPr>
      </p:pic>
      <p:sp>
        <p:nvSpPr>
          <p:cNvPr id="30" name="Text 15"/>
          <p:cNvSpPr/>
          <p:nvPr/>
        </p:nvSpPr>
        <p:spPr>
          <a:xfrm>
            <a:off x="3175000" y="1536700"/>
            <a:ext cx="235458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C6FA8"/>
                </a:solidFill>
                <a:latin typeface="IBM Plex Sans" pitchFamily="34" charset="0"/>
                <a:ea typeface="IBM Plex Sans" pitchFamily="34" charset="-122"/>
                <a:cs typeface="IBM Plex Sans" pitchFamily="34" charset="-120"/>
              </a:rPr>
              <a:t>TEAM 1</a:t>
            </a:r>
            <a:endParaRPr lang="en-US" sz="1200" dirty="0"/>
          </a:p>
        </p:txBody>
      </p:sp>
      <p:sp>
        <p:nvSpPr>
          <p:cNvPr id="31" name="Text 16"/>
          <p:cNvSpPr/>
          <p:nvPr/>
        </p:nvSpPr>
        <p:spPr>
          <a:xfrm>
            <a:off x="3175000" y="2616200"/>
            <a:ext cx="235458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C6FA8"/>
                </a:solidFill>
                <a:latin typeface="IBM Plex Sans" pitchFamily="34" charset="0"/>
                <a:ea typeface="IBM Plex Sans" pitchFamily="34" charset="-122"/>
                <a:cs typeface="IBM Plex Sans" pitchFamily="34" charset="-120"/>
              </a:rPr>
              <a:t>TEAM 2</a:t>
            </a:r>
            <a:endParaRPr lang="en-US" sz="1200" dirty="0"/>
          </a:p>
        </p:txBody>
      </p:sp>
      <p:sp>
        <p:nvSpPr>
          <p:cNvPr id="32" name="Text 17"/>
          <p:cNvSpPr/>
          <p:nvPr/>
        </p:nvSpPr>
        <p:spPr>
          <a:xfrm>
            <a:off x="3175000" y="3695700"/>
            <a:ext cx="235458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C6FA8"/>
                </a:solidFill>
                <a:latin typeface="IBM Plex Sans" pitchFamily="34" charset="0"/>
                <a:ea typeface="IBM Plex Sans" pitchFamily="34" charset="-122"/>
                <a:cs typeface="IBM Plex Sans" pitchFamily="34" charset="-120"/>
              </a:rPr>
              <a:t>TEAM 3</a:t>
            </a:r>
            <a:endParaRPr lang="en-US" sz="1200" dirty="0"/>
          </a:p>
        </p:txBody>
      </p:sp>
      <p:sp>
        <p:nvSpPr>
          <p:cNvPr id="33" name="Text 18"/>
          <p:cNvSpPr/>
          <p:nvPr/>
        </p:nvSpPr>
        <p:spPr>
          <a:xfrm>
            <a:off x="3175000" y="4775200"/>
            <a:ext cx="235458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C6FA8"/>
                </a:solidFill>
                <a:latin typeface="IBM Plex Sans" pitchFamily="34" charset="0"/>
                <a:ea typeface="IBM Plex Sans" pitchFamily="34" charset="-122"/>
                <a:cs typeface="IBM Plex Sans" pitchFamily="34" charset="-120"/>
              </a:rPr>
              <a:t>TEAM 4 · PLATFORM</a:t>
            </a:r>
            <a:endParaRPr lang="en-US" sz="1200" dirty="0"/>
          </a:p>
        </p:txBody>
      </p:sp>
      <p:sp>
        <p:nvSpPr>
          <p:cNvPr id="34" name="Shape 19"/>
          <p:cNvSpPr/>
          <p:nvPr/>
        </p:nvSpPr>
        <p:spPr>
          <a:xfrm>
            <a:off x="3124200" y="1790700"/>
            <a:ext cx="2362200" cy="635000"/>
          </a:xfrm>
          <a:prstGeom prst="roundRect">
            <a:avLst>
              <a:gd name="adj" fmla="val 12000"/>
            </a:avLst>
          </a:prstGeom>
          <a:solidFill>
            <a:srgbClr val="13263A"/>
          </a:solidFill>
          <a:ln/>
        </p:spPr>
      </p:sp>
      <p:sp>
        <p:nvSpPr>
          <p:cNvPr id="35" name="Text 20"/>
          <p:cNvSpPr/>
          <p:nvPr/>
        </p:nvSpPr>
        <p:spPr>
          <a:xfrm>
            <a:off x="3225800" y="1892935"/>
            <a:ext cx="222377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E9B949"/>
                </a:solidFill>
                <a:latin typeface="IBM Plex Sans" pitchFamily="34" charset="0"/>
                <a:ea typeface="IBM Plex Sans" pitchFamily="34" charset="-122"/>
                <a:cs typeface="IBM Plex Sans" pitchFamily="34" charset="-120"/>
              </a:rPr>
              <a:t>CORTEX AGENT</a:t>
            </a:r>
            <a:endParaRPr lang="en-US" sz="1200" dirty="0"/>
          </a:p>
        </p:txBody>
      </p:sp>
      <p:sp>
        <p:nvSpPr>
          <p:cNvPr id="36" name="Text 21"/>
          <p:cNvSpPr/>
          <p:nvPr/>
        </p:nvSpPr>
        <p:spPr>
          <a:xfrm>
            <a:off x="3225800" y="2118995"/>
            <a:ext cx="2223770"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5F3EE"/>
                </a:solidFill>
                <a:latin typeface="IBM Plex Sans" pitchFamily="34" charset="0"/>
                <a:ea typeface="IBM Plex Sans" pitchFamily="34" charset="-122"/>
                <a:cs typeface="IBM Plex Sans" pitchFamily="34" charset="-120"/>
              </a:rPr>
              <a:t>Owner LTV</a:t>
            </a:r>
            <a:endParaRPr lang="en-US" sz="1400" dirty="0"/>
          </a:p>
        </p:txBody>
      </p:sp>
      <p:sp>
        <p:nvSpPr>
          <p:cNvPr id="37" name="Shape 22"/>
          <p:cNvSpPr/>
          <p:nvPr/>
        </p:nvSpPr>
        <p:spPr>
          <a:xfrm>
            <a:off x="3124200" y="2870200"/>
            <a:ext cx="2362200" cy="635000"/>
          </a:xfrm>
          <a:prstGeom prst="roundRect">
            <a:avLst>
              <a:gd name="adj" fmla="val 12000"/>
            </a:avLst>
          </a:prstGeom>
          <a:solidFill>
            <a:srgbClr val="13263A"/>
          </a:solidFill>
          <a:ln/>
        </p:spPr>
      </p:sp>
      <p:sp>
        <p:nvSpPr>
          <p:cNvPr id="38" name="Text 23"/>
          <p:cNvSpPr/>
          <p:nvPr/>
        </p:nvSpPr>
        <p:spPr>
          <a:xfrm>
            <a:off x="3225800" y="2972435"/>
            <a:ext cx="222377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E9B949"/>
                </a:solidFill>
                <a:latin typeface="IBM Plex Sans" pitchFamily="34" charset="0"/>
                <a:ea typeface="IBM Plex Sans" pitchFamily="34" charset="-122"/>
                <a:cs typeface="IBM Plex Sans" pitchFamily="34" charset="-120"/>
              </a:rPr>
              <a:t>CORTEX AGENT</a:t>
            </a:r>
            <a:endParaRPr lang="en-US" sz="1200" dirty="0"/>
          </a:p>
        </p:txBody>
      </p:sp>
      <p:sp>
        <p:nvSpPr>
          <p:cNvPr id="39" name="Text 24"/>
          <p:cNvSpPr/>
          <p:nvPr/>
        </p:nvSpPr>
        <p:spPr>
          <a:xfrm>
            <a:off x="3225800" y="3198495"/>
            <a:ext cx="2223770"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5F3EE"/>
                </a:solidFill>
                <a:latin typeface="IBM Plex Sans" pitchFamily="34" charset="0"/>
                <a:ea typeface="IBM Plex Sans" pitchFamily="34" charset="-122"/>
                <a:cs typeface="IBM Plex Sans" pitchFamily="34" charset="-120"/>
              </a:rPr>
              <a:t>Top of Funnel</a:t>
            </a:r>
            <a:endParaRPr lang="en-US" sz="1400" dirty="0"/>
          </a:p>
        </p:txBody>
      </p:sp>
      <p:sp>
        <p:nvSpPr>
          <p:cNvPr id="40" name="Shape 25"/>
          <p:cNvSpPr/>
          <p:nvPr/>
        </p:nvSpPr>
        <p:spPr>
          <a:xfrm>
            <a:off x="3124200" y="3949700"/>
            <a:ext cx="2362200" cy="635000"/>
          </a:xfrm>
          <a:prstGeom prst="roundRect">
            <a:avLst>
              <a:gd name="adj" fmla="val 12000"/>
            </a:avLst>
          </a:prstGeom>
          <a:solidFill>
            <a:srgbClr val="13263A"/>
          </a:solidFill>
          <a:ln/>
        </p:spPr>
      </p:sp>
      <p:sp>
        <p:nvSpPr>
          <p:cNvPr id="41" name="Text 26"/>
          <p:cNvSpPr/>
          <p:nvPr/>
        </p:nvSpPr>
        <p:spPr>
          <a:xfrm>
            <a:off x="3225800" y="4051935"/>
            <a:ext cx="222377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E9B949"/>
                </a:solidFill>
                <a:latin typeface="IBM Plex Sans" pitchFamily="34" charset="0"/>
                <a:ea typeface="IBM Plex Sans" pitchFamily="34" charset="-122"/>
                <a:cs typeface="IBM Plex Sans" pitchFamily="34" charset="-120"/>
              </a:rPr>
              <a:t>CORTEX AGENT</a:t>
            </a:r>
            <a:endParaRPr lang="en-US" sz="1200" dirty="0"/>
          </a:p>
        </p:txBody>
      </p:sp>
      <p:sp>
        <p:nvSpPr>
          <p:cNvPr id="42" name="Text 27"/>
          <p:cNvSpPr/>
          <p:nvPr/>
        </p:nvSpPr>
        <p:spPr>
          <a:xfrm>
            <a:off x="3225800" y="4277995"/>
            <a:ext cx="2223770" cy="229870"/>
          </a:xfrm>
          <a:prstGeom prst="rect">
            <a:avLst/>
          </a:prstGeom>
          <a:noFill/>
          <a:ln/>
        </p:spPr>
        <p:txBody>
          <a:bodyPr wrap="none" lIns="0" tIns="0" rIns="0" bIns="0" rtlCol="0" anchor="t">
            <a:normAutofit/>
          </a:bodyPr>
          <a:lstStyle/>
          <a:p>
            <a:pPr algn="l" indent="0" marL="0">
              <a:lnSpc>
                <a:spcPts val="1610"/>
              </a:lnSpc>
              <a:buNone/>
            </a:pPr>
            <a:r>
              <a:rPr lang="en-US" sz="1400" b="1" dirty="0">
                <a:solidFill>
                  <a:srgbClr val="F5F3EE"/>
                </a:solidFill>
                <a:latin typeface="IBM Plex Sans" pitchFamily="34" charset="0"/>
                <a:ea typeface="IBM Plex Sans" pitchFamily="34" charset="-122"/>
                <a:cs typeface="IBM Plex Sans" pitchFamily="34" charset="-120"/>
              </a:rPr>
              <a:t>Performance Marketing</a:t>
            </a:r>
            <a:endParaRPr lang="en-US" sz="1400" dirty="0"/>
          </a:p>
        </p:txBody>
      </p:sp>
      <p:sp>
        <p:nvSpPr>
          <p:cNvPr id="43" name="Shape 28"/>
          <p:cNvSpPr/>
          <p:nvPr/>
        </p:nvSpPr>
        <p:spPr>
          <a:xfrm>
            <a:off x="3124200" y="5029200"/>
            <a:ext cx="2362200" cy="635000"/>
          </a:xfrm>
          <a:prstGeom prst="roundRect">
            <a:avLst>
              <a:gd name="adj" fmla="val 12000"/>
            </a:avLst>
          </a:prstGeom>
          <a:solidFill>
            <a:srgbClr val="13263A"/>
          </a:solidFill>
          <a:ln/>
        </p:spPr>
      </p:sp>
      <p:sp>
        <p:nvSpPr>
          <p:cNvPr id="44" name="Text 29"/>
          <p:cNvSpPr/>
          <p:nvPr/>
        </p:nvSpPr>
        <p:spPr>
          <a:xfrm>
            <a:off x="3225800" y="5131435"/>
            <a:ext cx="222377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E9B949"/>
                </a:solidFill>
                <a:latin typeface="IBM Plex Sans" pitchFamily="34" charset="0"/>
                <a:ea typeface="IBM Plex Sans" pitchFamily="34" charset="-122"/>
                <a:cs typeface="IBM Plex Sans" pitchFamily="34" charset="-120"/>
              </a:rPr>
              <a:t>CORTEX AGENT</a:t>
            </a:r>
            <a:endParaRPr lang="en-US" sz="1200" dirty="0"/>
          </a:p>
        </p:txBody>
      </p:sp>
      <p:sp>
        <p:nvSpPr>
          <p:cNvPr id="45" name="Text 30"/>
          <p:cNvSpPr/>
          <p:nvPr/>
        </p:nvSpPr>
        <p:spPr>
          <a:xfrm>
            <a:off x="3225800" y="5357495"/>
            <a:ext cx="2223770"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5F3EE"/>
                </a:solidFill>
                <a:latin typeface="IBM Plex Sans" pitchFamily="34" charset="0"/>
                <a:ea typeface="IBM Plex Sans" pitchFamily="34" charset="-122"/>
                <a:cs typeface="IBM Plex Sans" pitchFamily="34" charset="-120"/>
              </a:rPr>
              <a:t>Knowledge</a:t>
            </a:r>
            <a:endParaRPr lang="en-US" sz="1400" dirty="0"/>
          </a:p>
        </p:txBody>
      </p:sp>
      <p:pic>
        <p:nvPicPr>
          <p:cNvPr id="46" name="Image 13" descr="connector">    </p:cNvPr>
          <p:cNvPicPr>
            <a:picLocks noChangeAspect="1"/>
          </p:cNvPicPr>
          <p:nvPr/>
        </p:nvPicPr>
        <p:blipFill>
          <a:blip r:embed="rId14"/>
          <a:srcRect l="0" r="0" t="0" b="0"/>
          <a:stretch/>
        </p:blipFill>
        <p:spPr>
          <a:xfrm>
            <a:off x="5422900" y="2044700"/>
            <a:ext cx="355600" cy="127000"/>
          </a:xfrm>
          <a:prstGeom prst="rect">
            <a:avLst/>
          </a:prstGeom>
        </p:spPr>
      </p:pic>
      <p:pic>
        <p:nvPicPr>
          <p:cNvPr id="47" name="Image 14" descr="connector">    </p:cNvPr>
          <p:cNvPicPr>
            <a:picLocks noChangeAspect="1"/>
          </p:cNvPicPr>
          <p:nvPr/>
        </p:nvPicPr>
        <p:blipFill>
          <a:blip r:embed="rId15"/>
          <a:srcRect l="0" r="0" t="0" b="0"/>
          <a:stretch/>
        </p:blipFill>
        <p:spPr>
          <a:xfrm>
            <a:off x="5422900" y="3124200"/>
            <a:ext cx="355600" cy="127000"/>
          </a:xfrm>
          <a:prstGeom prst="rect">
            <a:avLst/>
          </a:prstGeom>
        </p:spPr>
      </p:pic>
      <p:pic>
        <p:nvPicPr>
          <p:cNvPr id="48" name="Image 15" descr="connector">    </p:cNvPr>
          <p:cNvPicPr>
            <a:picLocks noChangeAspect="1"/>
          </p:cNvPicPr>
          <p:nvPr/>
        </p:nvPicPr>
        <p:blipFill>
          <a:blip r:embed="rId16"/>
          <a:srcRect l="0" r="0" t="0" b="0"/>
          <a:stretch/>
        </p:blipFill>
        <p:spPr>
          <a:xfrm>
            <a:off x="5422900" y="4203700"/>
            <a:ext cx="355600" cy="127000"/>
          </a:xfrm>
          <a:prstGeom prst="rect">
            <a:avLst/>
          </a:prstGeom>
        </p:spPr>
      </p:pic>
      <p:pic>
        <p:nvPicPr>
          <p:cNvPr id="49" name="Image 16" descr="connector">    </p:cNvPr>
          <p:cNvPicPr>
            <a:picLocks noChangeAspect="1"/>
          </p:cNvPicPr>
          <p:nvPr/>
        </p:nvPicPr>
        <p:blipFill>
          <a:blip r:embed="rId17"/>
          <a:srcRect l="0" r="0" t="0" b="0"/>
          <a:stretch/>
        </p:blipFill>
        <p:spPr>
          <a:xfrm>
            <a:off x="5422900" y="5283200"/>
            <a:ext cx="355600" cy="127000"/>
          </a:xfrm>
          <a:prstGeom prst="rect">
            <a:avLst/>
          </a:prstGeom>
        </p:spPr>
      </p:pic>
      <p:sp>
        <p:nvSpPr>
          <p:cNvPr id="50" name="Shape 31"/>
          <p:cNvSpPr/>
          <p:nvPr/>
        </p:nvSpPr>
        <p:spPr>
          <a:xfrm>
            <a:off x="5721350" y="1797050"/>
            <a:ext cx="1816100" cy="622300"/>
          </a:xfrm>
          <a:prstGeom prst="roundRect">
            <a:avLst>
              <a:gd name="adj" fmla="val 11224"/>
            </a:avLst>
          </a:prstGeom>
          <a:solidFill>
            <a:srgbClr val="FCFBF8"/>
          </a:solidFill>
          <a:ln w="12700">
            <a:solidFill>
              <a:srgbClr val="9DB8CF"/>
            </a:solidFill>
            <a:prstDash val="solid"/>
          </a:ln>
        </p:spPr>
      </p:sp>
      <p:sp>
        <p:nvSpPr>
          <p:cNvPr id="51" name="Text 32"/>
          <p:cNvSpPr/>
          <p:nvPr/>
        </p:nvSpPr>
        <p:spPr>
          <a:xfrm>
            <a:off x="5816600" y="1896110"/>
            <a:ext cx="167640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A7686"/>
                </a:solidFill>
                <a:latin typeface="IBM Plex Sans" pitchFamily="34" charset="0"/>
                <a:ea typeface="IBM Plex Sans" pitchFamily="34" charset="-122"/>
                <a:cs typeface="IBM Plex Sans" pitchFamily="34" charset="-120"/>
              </a:rPr>
              <a:t>SEMANTIC VIEW</a:t>
            </a:r>
            <a:endParaRPr lang="en-US" sz="1200" dirty="0"/>
          </a:p>
        </p:txBody>
      </p:sp>
      <p:sp>
        <p:nvSpPr>
          <p:cNvPr id="52" name="Text 33"/>
          <p:cNvSpPr/>
          <p:nvPr/>
        </p:nvSpPr>
        <p:spPr>
          <a:xfrm>
            <a:off x="5816600" y="2122170"/>
            <a:ext cx="1676400" cy="223520"/>
          </a:xfrm>
          <a:prstGeom prst="rect">
            <a:avLst/>
          </a:prstGeom>
          <a:noFill/>
          <a:ln/>
        </p:spPr>
        <p:txBody>
          <a:bodyPr wrap="none" lIns="0" tIns="0" rIns="0" bIns="0" rtlCol="0" anchor="t">
            <a:normAutofit/>
          </a:bodyPr>
          <a:lstStyle/>
          <a:p>
            <a:pPr algn="l" indent="0" marL="0">
              <a:lnSpc>
                <a:spcPts val="1560"/>
              </a:lnSpc>
              <a:buNone/>
            </a:pPr>
            <a:r>
              <a:rPr lang="en-US" sz="1200" b="1" dirty="0">
                <a:solidFill>
                  <a:srgbClr val="1C6FA8"/>
                </a:solidFill>
                <a:latin typeface="JetBrains Mono" pitchFamily="34" charset="0"/>
                <a:ea typeface="JetBrains Mono" pitchFamily="34" charset="-122"/>
                <a:cs typeface="JetBrains Mono" pitchFamily="34" charset="-120"/>
              </a:rPr>
              <a:t>OWNER_LTV_SV</a:t>
            </a:r>
            <a:endParaRPr lang="en-US" sz="1200" dirty="0"/>
          </a:p>
        </p:txBody>
      </p:sp>
      <p:sp>
        <p:nvSpPr>
          <p:cNvPr id="53" name="Shape 34"/>
          <p:cNvSpPr/>
          <p:nvPr/>
        </p:nvSpPr>
        <p:spPr>
          <a:xfrm>
            <a:off x="5721350" y="2876550"/>
            <a:ext cx="1816100" cy="622300"/>
          </a:xfrm>
          <a:prstGeom prst="roundRect">
            <a:avLst>
              <a:gd name="adj" fmla="val 11224"/>
            </a:avLst>
          </a:prstGeom>
          <a:solidFill>
            <a:srgbClr val="FCFBF8"/>
          </a:solidFill>
          <a:ln w="12700">
            <a:solidFill>
              <a:srgbClr val="9DB8CF"/>
            </a:solidFill>
            <a:prstDash val="solid"/>
          </a:ln>
        </p:spPr>
      </p:sp>
      <p:sp>
        <p:nvSpPr>
          <p:cNvPr id="54" name="Text 35"/>
          <p:cNvSpPr/>
          <p:nvPr/>
        </p:nvSpPr>
        <p:spPr>
          <a:xfrm>
            <a:off x="5816600" y="2975610"/>
            <a:ext cx="167640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A7686"/>
                </a:solidFill>
                <a:latin typeface="IBM Plex Sans" pitchFamily="34" charset="0"/>
                <a:ea typeface="IBM Plex Sans" pitchFamily="34" charset="-122"/>
                <a:cs typeface="IBM Plex Sans" pitchFamily="34" charset="-120"/>
              </a:rPr>
              <a:t>SEMANTIC VIEW</a:t>
            </a:r>
            <a:endParaRPr lang="en-US" sz="1200" dirty="0"/>
          </a:p>
        </p:txBody>
      </p:sp>
      <p:sp>
        <p:nvSpPr>
          <p:cNvPr id="55" name="Text 36"/>
          <p:cNvSpPr/>
          <p:nvPr/>
        </p:nvSpPr>
        <p:spPr>
          <a:xfrm>
            <a:off x="5816600" y="3201670"/>
            <a:ext cx="1676400" cy="223520"/>
          </a:xfrm>
          <a:prstGeom prst="rect">
            <a:avLst/>
          </a:prstGeom>
          <a:noFill/>
          <a:ln/>
        </p:spPr>
        <p:txBody>
          <a:bodyPr wrap="none" lIns="0" tIns="0" rIns="0" bIns="0" rtlCol="0" anchor="t">
            <a:normAutofit/>
          </a:bodyPr>
          <a:lstStyle/>
          <a:p>
            <a:pPr algn="l" indent="0" marL="0">
              <a:lnSpc>
                <a:spcPts val="1560"/>
              </a:lnSpc>
              <a:buNone/>
            </a:pPr>
            <a:r>
              <a:rPr lang="en-US" sz="1200" b="1" dirty="0">
                <a:solidFill>
                  <a:srgbClr val="1C6FA8"/>
                </a:solidFill>
                <a:latin typeface="JetBrains Mono" pitchFamily="34" charset="0"/>
                <a:ea typeface="JetBrains Mono" pitchFamily="34" charset="-122"/>
                <a:cs typeface="JetBrains Mono" pitchFamily="34" charset="-120"/>
              </a:rPr>
              <a:t>TOP_OF_FUNNEL_SV</a:t>
            </a:r>
            <a:endParaRPr lang="en-US" sz="1200" dirty="0"/>
          </a:p>
        </p:txBody>
      </p:sp>
      <p:sp>
        <p:nvSpPr>
          <p:cNvPr id="56" name="Shape 37"/>
          <p:cNvSpPr/>
          <p:nvPr/>
        </p:nvSpPr>
        <p:spPr>
          <a:xfrm>
            <a:off x="5721350" y="3956050"/>
            <a:ext cx="1816100" cy="622300"/>
          </a:xfrm>
          <a:prstGeom prst="roundRect">
            <a:avLst>
              <a:gd name="adj" fmla="val 11224"/>
            </a:avLst>
          </a:prstGeom>
          <a:solidFill>
            <a:srgbClr val="FCFBF8"/>
          </a:solidFill>
          <a:ln w="12700">
            <a:solidFill>
              <a:srgbClr val="9DB8CF"/>
            </a:solidFill>
            <a:prstDash val="solid"/>
          </a:ln>
        </p:spPr>
      </p:sp>
      <p:sp>
        <p:nvSpPr>
          <p:cNvPr id="57" name="Text 38"/>
          <p:cNvSpPr/>
          <p:nvPr/>
        </p:nvSpPr>
        <p:spPr>
          <a:xfrm>
            <a:off x="5816600" y="4055110"/>
            <a:ext cx="167640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A7686"/>
                </a:solidFill>
                <a:latin typeface="IBM Plex Sans" pitchFamily="34" charset="0"/>
                <a:ea typeface="IBM Plex Sans" pitchFamily="34" charset="-122"/>
                <a:cs typeface="IBM Plex Sans" pitchFamily="34" charset="-120"/>
              </a:rPr>
              <a:t>SEMANTIC VIEW</a:t>
            </a:r>
            <a:endParaRPr lang="en-US" sz="1200" dirty="0"/>
          </a:p>
        </p:txBody>
      </p:sp>
      <p:sp>
        <p:nvSpPr>
          <p:cNvPr id="58" name="Text 39"/>
          <p:cNvSpPr/>
          <p:nvPr/>
        </p:nvSpPr>
        <p:spPr>
          <a:xfrm>
            <a:off x="5816600" y="4281170"/>
            <a:ext cx="1676400" cy="223520"/>
          </a:xfrm>
          <a:prstGeom prst="rect">
            <a:avLst/>
          </a:prstGeom>
          <a:noFill/>
          <a:ln/>
        </p:spPr>
        <p:txBody>
          <a:bodyPr wrap="none" lIns="0" tIns="0" rIns="0" bIns="0" rtlCol="0" anchor="t">
            <a:normAutofit/>
          </a:bodyPr>
          <a:lstStyle/>
          <a:p>
            <a:pPr algn="l" indent="0" marL="0">
              <a:lnSpc>
                <a:spcPts val="1560"/>
              </a:lnSpc>
              <a:buNone/>
            </a:pPr>
            <a:r>
              <a:rPr lang="en-US" sz="1200" b="1" dirty="0">
                <a:solidFill>
                  <a:srgbClr val="1C6FA8"/>
                </a:solidFill>
                <a:latin typeface="JetBrains Mono" pitchFamily="34" charset="0"/>
                <a:ea typeface="JetBrains Mono" pitchFamily="34" charset="-122"/>
                <a:cs typeface="JetBrains Mono" pitchFamily="34" charset="-120"/>
              </a:rPr>
              <a:t>PERF_MARKETING_SV</a:t>
            </a:r>
            <a:endParaRPr lang="en-US" sz="1200" dirty="0"/>
          </a:p>
        </p:txBody>
      </p:sp>
      <p:sp>
        <p:nvSpPr>
          <p:cNvPr id="59" name="Shape 40"/>
          <p:cNvSpPr/>
          <p:nvPr/>
        </p:nvSpPr>
        <p:spPr>
          <a:xfrm>
            <a:off x="5721350" y="5035550"/>
            <a:ext cx="1816100" cy="622300"/>
          </a:xfrm>
          <a:prstGeom prst="roundRect">
            <a:avLst>
              <a:gd name="adj" fmla="val 11224"/>
            </a:avLst>
          </a:prstGeom>
          <a:solidFill>
            <a:srgbClr val="FCFBF8"/>
          </a:solidFill>
          <a:ln w="12700">
            <a:solidFill>
              <a:srgbClr val="9DB8CF"/>
            </a:solidFill>
            <a:prstDash val="dash"/>
          </a:ln>
        </p:spPr>
      </p:sp>
      <p:sp>
        <p:nvSpPr>
          <p:cNvPr id="60" name="Text 41"/>
          <p:cNvSpPr/>
          <p:nvPr/>
        </p:nvSpPr>
        <p:spPr>
          <a:xfrm>
            <a:off x="5816600" y="5134610"/>
            <a:ext cx="167640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A7686"/>
                </a:solidFill>
                <a:latin typeface="IBM Plex Sans" pitchFamily="34" charset="0"/>
                <a:ea typeface="IBM Plex Sans" pitchFamily="34" charset="-122"/>
                <a:cs typeface="IBM Plex Sans" pitchFamily="34" charset="-120"/>
              </a:rPr>
              <a:t>MEMORY TABLE</a:t>
            </a:r>
            <a:endParaRPr lang="en-US" sz="1200" dirty="0"/>
          </a:p>
        </p:txBody>
      </p:sp>
      <p:sp>
        <p:nvSpPr>
          <p:cNvPr id="61" name="Text 42"/>
          <p:cNvSpPr/>
          <p:nvPr/>
        </p:nvSpPr>
        <p:spPr>
          <a:xfrm>
            <a:off x="5816600" y="5360670"/>
            <a:ext cx="1676400" cy="223520"/>
          </a:xfrm>
          <a:prstGeom prst="rect">
            <a:avLst/>
          </a:prstGeom>
          <a:noFill/>
          <a:ln/>
        </p:spPr>
        <p:txBody>
          <a:bodyPr wrap="none" lIns="0" tIns="0" rIns="0" bIns="0" rtlCol="0" anchor="t">
            <a:normAutofit/>
          </a:bodyPr>
          <a:lstStyle/>
          <a:p>
            <a:pPr algn="l" indent="0" marL="0">
              <a:lnSpc>
                <a:spcPts val="1560"/>
              </a:lnSpc>
              <a:buNone/>
            </a:pPr>
            <a:r>
              <a:rPr lang="en-US" sz="1200" b="1" dirty="0">
                <a:solidFill>
                  <a:srgbClr val="1C6FA8"/>
                </a:solidFill>
                <a:latin typeface="JetBrains Mono" pitchFamily="34" charset="0"/>
                <a:ea typeface="JetBrains Mono" pitchFamily="34" charset="-122"/>
                <a:cs typeface="JetBrains Mono" pitchFamily="34" charset="-120"/>
              </a:rPr>
              <a:t>AGENT_MEMORY</a:t>
            </a:r>
            <a:endParaRPr lang="en-US" sz="1200" dirty="0"/>
          </a:p>
        </p:txBody>
      </p:sp>
      <p:pic>
        <p:nvPicPr>
          <p:cNvPr id="62" name="Image 17" descr="connector">    </p:cNvPr>
          <p:cNvPicPr>
            <a:picLocks noChangeAspect="1"/>
          </p:cNvPicPr>
          <p:nvPr/>
        </p:nvPicPr>
        <p:blipFill>
          <a:blip r:embed="rId18"/>
          <a:srcRect l="0" r="0" t="0" b="0"/>
          <a:stretch/>
        </p:blipFill>
        <p:spPr>
          <a:xfrm>
            <a:off x="7480300" y="2044700"/>
            <a:ext cx="457200" cy="127000"/>
          </a:xfrm>
          <a:prstGeom prst="rect">
            <a:avLst/>
          </a:prstGeom>
        </p:spPr>
      </p:pic>
      <p:pic>
        <p:nvPicPr>
          <p:cNvPr id="63" name="Image 18" descr="connector">    </p:cNvPr>
          <p:cNvPicPr>
            <a:picLocks noChangeAspect="1"/>
          </p:cNvPicPr>
          <p:nvPr/>
        </p:nvPicPr>
        <p:blipFill>
          <a:blip r:embed="rId19"/>
          <a:srcRect l="0" r="0" t="0" b="0"/>
          <a:stretch/>
        </p:blipFill>
        <p:spPr>
          <a:xfrm>
            <a:off x="7480300" y="3124200"/>
            <a:ext cx="457200" cy="127000"/>
          </a:xfrm>
          <a:prstGeom prst="rect">
            <a:avLst/>
          </a:prstGeom>
        </p:spPr>
      </p:pic>
      <p:pic>
        <p:nvPicPr>
          <p:cNvPr id="64" name="Image 19" descr="connector">    </p:cNvPr>
          <p:cNvPicPr>
            <a:picLocks noChangeAspect="1"/>
          </p:cNvPicPr>
          <p:nvPr/>
        </p:nvPicPr>
        <p:blipFill>
          <a:blip r:embed="rId20"/>
          <a:srcRect l="0" r="0" t="0" b="0"/>
          <a:stretch/>
        </p:blipFill>
        <p:spPr>
          <a:xfrm>
            <a:off x="7480300" y="4203700"/>
            <a:ext cx="457200" cy="127000"/>
          </a:xfrm>
          <a:prstGeom prst="rect">
            <a:avLst/>
          </a:prstGeom>
        </p:spPr>
      </p:pic>
      <p:sp>
        <p:nvSpPr>
          <p:cNvPr id="65" name="Shape 43"/>
          <p:cNvSpPr/>
          <p:nvPr/>
        </p:nvSpPr>
        <p:spPr>
          <a:xfrm>
            <a:off x="7880350" y="1492250"/>
            <a:ext cx="3492500" cy="990600"/>
          </a:xfrm>
          <a:prstGeom prst="roundRect">
            <a:avLst>
              <a:gd name="adj" fmla="val 8333"/>
            </a:avLst>
          </a:prstGeom>
          <a:solidFill>
            <a:srgbClr val="EAE7E0"/>
          </a:solidFill>
          <a:ln w="12700">
            <a:solidFill>
              <a:srgbClr val="D5D1C7"/>
            </a:solidFill>
            <a:prstDash val="solid"/>
          </a:ln>
        </p:spPr>
      </p:sp>
      <p:sp>
        <p:nvSpPr>
          <p:cNvPr id="66" name="Text 44"/>
          <p:cNvSpPr/>
          <p:nvPr/>
        </p:nvSpPr>
        <p:spPr>
          <a:xfrm>
            <a:off x="7975600" y="1591310"/>
            <a:ext cx="3401060" cy="817880"/>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OWNER_RISK_SCORES</a:t>
            </a:r>
            <a:endParaRPr lang="en-US" sz="1200" dirty="0"/>
          </a:p>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OWNER_STATUS_TIME_SERIES_ANALYSIS</a:t>
            </a:r>
            <a:endParaRPr lang="en-US" sz="1200" dirty="0"/>
          </a:p>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FCT_ACCOUNT_HISTORY</a:t>
            </a:r>
            <a:endParaRPr lang="en-US" sz="1200" dirty="0"/>
          </a:p>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DIM_PARK</a:t>
            </a:r>
            <a:endParaRPr lang="en-US" sz="1200" dirty="0"/>
          </a:p>
        </p:txBody>
      </p:sp>
      <p:sp>
        <p:nvSpPr>
          <p:cNvPr id="67" name="Shape 45"/>
          <p:cNvSpPr/>
          <p:nvPr/>
        </p:nvSpPr>
        <p:spPr>
          <a:xfrm>
            <a:off x="7880350" y="2571750"/>
            <a:ext cx="3492500" cy="990600"/>
          </a:xfrm>
          <a:prstGeom prst="roundRect">
            <a:avLst>
              <a:gd name="adj" fmla="val 8333"/>
            </a:avLst>
          </a:prstGeom>
          <a:solidFill>
            <a:srgbClr val="EAE7E0"/>
          </a:solidFill>
          <a:ln w="12700">
            <a:solidFill>
              <a:srgbClr val="D5D1C7"/>
            </a:solidFill>
            <a:prstDash val="solid"/>
          </a:ln>
        </p:spPr>
      </p:sp>
      <p:sp>
        <p:nvSpPr>
          <p:cNvPr id="68" name="Text 46"/>
          <p:cNvSpPr/>
          <p:nvPr/>
        </p:nvSpPr>
        <p:spPr>
          <a:xfrm>
            <a:off x="7975600" y="2769870"/>
            <a:ext cx="3401060" cy="619760"/>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FCT_TOP_OF_THE_FUNNEL</a:t>
            </a:r>
            <a:endParaRPr lang="en-US" sz="1200" dirty="0"/>
          </a:p>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DIM_TOP_OF_THE_FUNNEL</a:t>
            </a:r>
            <a:endParaRPr lang="en-US" sz="1200" dirty="0"/>
          </a:p>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BRIDGE_*_TO_CS_TIERED_XID family</a:t>
            </a:r>
            <a:endParaRPr lang="en-US" sz="1200" dirty="0"/>
          </a:p>
        </p:txBody>
      </p:sp>
      <p:sp>
        <p:nvSpPr>
          <p:cNvPr id="69" name="Shape 47"/>
          <p:cNvSpPr/>
          <p:nvPr/>
        </p:nvSpPr>
        <p:spPr>
          <a:xfrm>
            <a:off x="7880350" y="3651250"/>
            <a:ext cx="3492500" cy="990600"/>
          </a:xfrm>
          <a:prstGeom prst="roundRect">
            <a:avLst>
              <a:gd name="adj" fmla="val 8333"/>
            </a:avLst>
          </a:prstGeom>
          <a:solidFill>
            <a:srgbClr val="EAE7E0"/>
          </a:solidFill>
          <a:ln w="12700">
            <a:solidFill>
              <a:srgbClr val="D5D1C7"/>
            </a:solidFill>
            <a:prstDash val="solid"/>
          </a:ln>
        </p:spPr>
      </p:sp>
      <p:sp>
        <p:nvSpPr>
          <p:cNvPr id="70" name="Text 48"/>
          <p:cNvSpPr/>
          <p:nvPr/>
        </p:nvSpPr>
        <p:spPr>
          <a:xfrm>
            <a:off x="7975600" y="3849370"/>
            <a:ext cx="3401060" cy="619760"/>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FCT_ATTRIBUTION_JOURNEY_SUMMARY</a:t>
            </a:r>
            <a:endParaRPr lang="en-US" sz="1200" dirty="0"/>
          </a:p>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FCT_ATTRIBUTION_CHANNEL_JOURNEY_ROLE</a:t>
            </a:r>
            <a:endParaRPr lang="en-US" sz="1200" dirty="0"/>
          </a:p>
          <a:p>
            <a:pPr algn="l" indent="0" marL="0">
              <a:lnSpc>
                <a:spcPts val="1560"/>
              </a:lnSpc>
              <a:buNone/>
            </a:pPr>
            <a:r>
              <a:rPr lang="en-US" sz="1200" dirty="0">
                <a:solidFill>
                  <a:srgbClr val="4A5566"/>
                </a:solidFill>
                <a:latin typeface="JetBrains Mono" pitchFamily="34" charset="0"/>
                <a:ea typeface="JetBrains Mono" pitchFamily="34" charset="-122"/>
                <a:cs typeface="JetBrains Mono" pitchFamily="34" charset="-120"/>
              </a:rPr>
              <a:t>DIM_BLOOMREACH_CUSTOMER</a:t>
            </a:r>
            <a:endParaRPr lang="en-US" sz="1200" dirty="0"/>
          </a:p>
        </p:txBody>
      </p:sp>
      <p:pic>
        <p:nvPicPr>
          <p:cNvPr id="71" name="Image 20" descr="connector">    </p:cNvPr>
          <p:cNvPicPr>
            <a:picLocks noChangeAspect="1"/>
          </p:cNvPicPr>
          <p:nvPr/>
        </p:nvPicPr>
        <p:blipFill>
          <a:blip r:embed="rId21"/>
          <a:srcRect l="0" r="0" t="0" b="0"/>
          <a:stretch/>
        </p:blipFill>
        <p:spPr>
          <a:xfrm>
            <a:off x="7480300" y="5283200"/>
            <a:ext cx="457200" cy="127000"/>
          </a:xfrm>
          <a:prstGeom prst="rect">
            <a:avLst/>
          </a:prstGeom>
        </p:spPr>
      </p:pic>
      <p:sp>
        <p:nvSpPr>
          <p:cNvPr id="72" name="Text 49"/>
          <p:cNvSpPr/>
          <p:nvPr/>
        </p:nvSpPr>
        <p:spPr>
          <a:xfrm>
            <a:off x="7975600" y="5226050"/>
            <a:ext cx="3505708"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63A"/>
                </a:solidFill>
                <a:latin typeface="IBM Plex Sans" pitchFamily="34" charset="0"/>
                <a:ea typeface="IBM Plex Sans" pitchFamily="34" charset="-122"/>
                <a:cs typeface="IBM Plex Sans" pitchFamily="34" charset="-120"/>
              </a:rPr>
              <a:t>Shared Owner View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6FA8"/>
                </a:solidFill>
                <a:latin typeface="IBM Plex Sans" pitchFamily="34" charset="0"/>
                <a:ea typeface="IBM Plex Sans" pitchFamily="34" charset="-122"/>
                <a:cs typeface="IBM Plex Sans" pitchFamily="34" charset="-120"/>
              </a:rPr>
              <a:t>CONCEPTS</a:t>
            </a:r>
            <a:endParaRPr lang="en-US" sz="1200" dirty="0"/>
          </a:p>
        </p:txBody>
      </p:sp>
      <p:sp>
        <p:nvSpPr>
          <p:cNvPr id="3" name="Text 1"/>
          <p:cNvSpPr/>
          <p:nvPr/>
        </p:nvSpPr>
        <p:spPr>
          <a:xfrm>
            <a:off x="812800" y="848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3263A"/>
                </a:solidFill>
                <a:latin typeface="IBM Plex Sans" pitchFamily="34" charset="0"/>
                <a:ea typeface="IBM Plex Sans" pitchFamily="34" charset="-122"/>
                <a:cs typeface="IBM Plex Sans" pitchFamily="34" charset="-120"/>
              </a:rPr>
              <a:t>What's a semantic view?</a:t>
            </a:r>
            <a:endParaRPr lang="en-US" sz="3000" dirty="0"/>
          </a:p>
        </p:txBody>
      </p:sp>
      <p:sp>
        <p:nvSpPr>
          <p:cNvPr id="4" name="Shape 2"/>
          <p:cNvSpPr/>
          <p:nvPr/>
        </p:nvSpPr>
        <p:spPr>
          <a:xfrm>
            <a:off x="819150" y="1527811"/>
            <a:ext cx="5118100" cy="3599180"/>
          </a:xfrm>
          <a:prstGeom prst="roundRect">
            <a:avLst>
              <a:gd name="adj" fmla="val 2646"/>
            </a:avLst>
          </a:prstGeom>
          <a:solidFill>
            <a:srgbClr val="FCFBF8"/>
          </a:solidFill>
          <a:ln w="12700">
            <a:solidFill>
              <a:srgbClr val="DAD6CC"/>
            </a:solidFill>
            <a:prstDash val="solid"/>
          </a:ln>
        </p:spPr>
      </p:sp>
      <p:sp>
        <p:nvSpPr>
          <p:cNvPr id="5" name="Text 3"/>
          <p:cNvSpPr/>
          <p:nvPr/>
        </p:nvSpPr>
        <p:spPr>
          <a:xfrm>
            <a:off x="1028700" y="1711961"/>
            <a:ext cx="483997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A7686"/>
                </a:solidFill>
                <a:latin typeface="IBM Plex Sans" pitchFamily="34" charset="0"/>
                <a:ea typeface="IBM Plex Sans" pitchFamily="34" charset="-122"/>
                <a:cs typeface="IBM Plex Sans" pitchFamily="34" charset="-120"/>
              </a:rPr>
              <a:t>LIKE A CLASSIC CUBE</a:t>
            </a:r>
            <a:endParaRPr lang="en-US" sz="1200" dirty="0"/>
          </a:p>
        </p:txBody>
      </p:sp>
      <p:sp>
        <p:nvSpPr>
          <p:cNvPr id="6" name="Text 4"/>
          <p:cNvSpPr/>
          <p:nvPr/>
        </p:nvSpPr>
        <p:spPr>
          <a:xfrm>
            <a:off x="1028700" y="2014220"/>
            <a:ext cx="483997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Tables</a:t>
            </a:r>
            <a:endParaRPr lang="en-US" sz="1400" dirty="0"/>
          </a:p>
        </p:txBody>
      </p:sp>
      <p:sp>
        <p:nvSpPr>
          <p:cNvPr id="7" name="Text 5"/>
          <p:cNvSpPr/>
          <p:nvPr/>
        </p:nvSpPr>
        <p:spPr>
          <a:xfrm>
            <a:off x="1028700" y="224028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Business names over physical tables, with keys</a:t>
            </a:r>
            <a:endParaRPr lang="en-US" sz="1200" dirty="0"/>
          </a:p>
        </p:txBody>
      </p:sp>
      <p:sp>
        <p:nvSpPr>
          <p:cNvPr id="8" name="Text 6"/>
          <p:cNvSpPr/>
          <p:nvPr/>
        </p:nvSpPr>
        <p:spPr>
          <a:xfrm>
            <a:off x="1028700" y="2466341"/>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6FA8"/>
                </a:solidFill>
                <a:latin typeface="JetBrains Mono" pitchFamily="34" charset="0"/>
                <a:ea typeface="JetBrains Mono" pitchFamily="34" charset="-122"/>
                <a:cs typeface="JetBrains Mono" pitchFamily="34" charset="-120"/>
              </a:rPr>
              <a:t>guests · park_days · parks</a:t>
            </a:r>
            <a:endParaRPr lang="en-US" sz="1200" dirty="0"/>
          </a:p>
        </p:txBody>
      </p:sp>
      <p:sp>
        <p:nvSpPr>
          <p:cNvPr id="9" name="Text 7"/>
          <p:cNvSpPr/>
          <p:nvPr/>
        </p:nvSpPr>
        <p:spPr>
          <a:xfrm>
            <a:off x="1028700" y="2768600"/>
            <a:ext cx="483997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Relationships</a:t>
            </a:r>
            <a:endParaRPr lang="en-US" sz="1400" dirty="0"/>
          </a:p>
        </p:txBody>
      </p:sp>
      <p:sp>
        <p:nvSpPr>
          <p:cNvPr id="10" name="Text 8"/>
          <p:cNvSpPr/>
          <p:nvPr/>
        </p:nvSpPr>
        <p:spPr>
          <a:xfrm>
            <a:off x="1028700" y="2994661"/>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How the tables join, defined once</a:t>
            </a:r>
            <a:endParaRPr lang="en-US" sz="1200" dirty="0"/>
          </a:p>
        </p:txBody>
      </p:sp>
      <p:sp>
        <p:nvSpPr>
          <p:cNvPr id="11" name="Text 9"/>
          <p:cNvSpPr/>
          <p:nvPr/>
        </p:nvSpPr>
        <p:spPr>
          <a:xfrm>
            <a:off x="1028700" y="322072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6FA8"/>
                </a:solidFill>
                <a:latin typeface="JetBrains Mono" pitchFamily="34" charset="0"/>
                <a:ea typeface="JetBrains Mono" pitchFamily="34" charset="-122"/>
                <a:cs typeface="JetBrains Mono" pitchFamily="34" charset="-120"/>
              </a:rPr>
              <a:t>guests → park_days → parks</a:t>
            </a:r>
            <a:endParaRPr lang="en-US" sz="1200" dirty="0"/>
          </a:p>
        </p:txBody>
      </p:sp>
      <p:sp>
        <p:nvSpPr>
          <p:cNvPr id="12" name="Text 10"/>
          <p:cNvSpPr/>
          <p:nvPr/>
        </p:nvSpPr>
        <p:spPr>
          <a:xfrm>
            <a:off x="1028700" y="3522980"/>
            <a:ext cx="483997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Dimensions &amp; facts</a:t>
            </a:r>
            <a:endParaRPr lang="en-US" sz="1400" dirty="0"/>
          </a:p>
        </p:txBody>
      </p:sp>
      <p:sp>
        <p:nvSpPr>
          <p:cNvPr id="13" name="Text 11"/>
          <p:cNvSpPr/>
          <p:nvPr/>
        </p:nvSpPr>
        <p:spPr>
          <a:xfrm>
            <a:off x="1028700" y="3749041"/>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What you group and filter by; row-level values</a:t>
            </a:r>
            <a:endParaRPr lang="en-US" sz="1200" dirty="0"/>
          </a:p>
        </p:txBody>
      </p:sp>
      <p:sp>
        <p:nvSpPr>
          <p:cNvPr id="14" name="Text 12"/>
          <p:cNvSpPr/>
          <p:nvPr/>
        </p:nvSpPr>
        <p:spPr>
          <a:xfrm>
            <a:off x="1028700" y="397510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6FA8"/>
                </a:solidFill>
                <a:latin typeface="JetBrains Mono" pitchFamily="34" charset="0"/>
                <a:ea typeface="JetBrains Mono" pitchFamily="34" charset="-122"/>
                <a:cs typeface="JetBrains Mono" pitchFamily="34" charset="-120"/>
              </a:rPr>
              <a:t>park_name · stay_type · on_park_date</a:t>
            </a:r>
            <a:endParaRPr lang="en-US" sz="1200" dirty="0"/>
          </a:p>
        </p:txBody>
      </p:sp>
      <p:sp>
        <p:nvSpPr>
          <p:cNvPr id="15" name="Text 13"/>
          <p:cNvSpPr/>
          <p:nvPr/>
        </p:nvSpPr>
        <p:spPr>
          <a:xfrm>
            <a:off x="1028700" y="4277361"/>
            <a:ext cx="483997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Metrics</a:t>
            </a:r>
            <a:endParaRPr lang="en-US" sz="1400" dirty="0"/>
          </a:p>
        </p:txBody>
      </p:sp>
      <p:sp>
        <p:nvSpPr>
          <p:cNvPr id="16" name="Text 14"/>
          <p:cNvSpPr/>
          <p:nvPr/>
        </p:nvSpPr>
        <p:spPr>
          <a:xfrm>
            <a:off x="1028700" y="450342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Named aggregations everyone shares</a:t>
            </a:r>
            <a:endParaRPr lang="en-US" sz="1200" dirty="0"/>
          </a:p>
        </p:txBody>
      </p:sp>
      <p:sp>
        <p:nvSpPr>
          <p:cNvPr id="17" name="Text 15"/>
          <p:cNvSpPr/>
          <p:nvPr/>
        </p:nvSpPr>
        <p:spPr>
          <a:xfrm>
            <a:off x="1028700" y="472948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6FA8"/>
                </a:solidFill>
                <a:latin typeface="JetBrains Mono" pitchFamily="34" charset="0"/>
                <a:ea typeface="JetBrains Mono" pitchFamily="34" charset="-122"/>
                <a:cs typeface="JetBrains Mono" pitchFamily="34" charset="-120"/>
              </a:rPr>
              <a:t>guest_nights = SUM(guest_night)</a:t>
            </a:r>
            <a:endParaRPr lang="en-US" sz="1200" dirty="0"/>
          </a:p>
        </p:txBody>
      </p:sp>
      <p:sp>
        <p:nvSpPr>
          <p:cNvPr id="18" name="Shape 16"/>
          <p:cNvSpPr/>
          <p:nvPr/>
        </p:nvSpPr>
        <p:spPr>
          <a:xfrm>
            <a:off x="6248400" y="1521461"/>
            <a:ext cx="5130800" cy="3611880"/>
          </a:xfrm>
          <a:prstGeom prst="roundRect">
            <a:avLst>
              <a:gd name="adj" fmla="val 2813"/>
            </a:avLst>
          </a:prstGeom>
          <a:solidFill>
            <a:srgbClr val="13263A"/>
          </a:solidFill>
          <a:ln/>
        </p:spPr>
      </p:sp>
      <p:sp>
        <p:nvSpPr>
          <p:cNvPr id="19" name="Text 17"/>
          <p:cNvSpPr/>
          <p:nvPr/>
        </p:nvSpPr>
        <p:spPr>
          <a:xfrm>
            <a:off x="6451600" y="1699261"/>
            <a:ext cx="486613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E9B949"/>
                </a:solidFill>
                <a:latin typeface="IBM Plex Sans" pitchFamily="34" charset="0"/>
                <a:ea typeface="IBM Plex Sans" pitchFamily="34" charset="-122"/>
                <a:cs typeface="IBM Plex Sans" pitchFamily="34" charset="-120"/>
              </a:rPr>
              <a:t>PLUS: CONTEXT FOR AI</a:t>
            </a:r>
            <a:endParaRPr lang="en-US" sz="1200" dirty="0"/>
          </a:p>
        </p:txBody>
      </p:sp>
      <p:sp>
        <p:nvSpPr>
          <p:cNvPr id="20" name="Text 18"/>
          <p:cNvSpPr/>
          <p:nvPr/>
        </p:nvSpPr>
        <p:spPr>
          <a:xfrm>
            <a:off x="6451600" y="2001520"/>
            <a:ext cx="486613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Synonyms</a:t>
            </a:r>
            <a:endParaRPr lang="en-US" sz="1400" dirty="0"/>
          </a:p>
        </p:txBody>
      </p:sp>
      <p:sp>
        <p:nvSpPr>
          <p:cNvPr id="21" name="Text 19"/>
          <p:cNvSpPr/>
          <p:nvPr/>
        </p:nvSpPr>
        <p:spPr>
          <a:xfrm>
            <a:off x="6451600" y="2227580"/>
            <a:ext cx="4866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The words people actually use</a:t>
            </a:r>
            <a:endParaRPr lang="en-US" sz="1200" dirty="0"/>
          </a:p>
        </p:txBody>
      </p:sp>
      <p:sp>
        <p:nvSpPr>
          <p:cNvPr id="22" name="Text 20"/>
          <p:cNvSpPr/>
          <p:nvPr/>
        </p:nvSpPr>
        <p:spPr>
          <a:xfrm>
            <a:off x="6451600" y="2453641"/>
            <a:ext cx="4866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C4F0"/>
                </a:solidFill>
                <a:latin typeface="JetBrains Mono" pitchFamily="34" charset="0"/>
                <a:ea typeface="JetBrains Mono" pitchFamily="34" charset="-122"/>
                <a:cs typeface="JetBrains Mono" pitchFamily="34" charset="-120"/>
              </a:rPr>
              <a:t>guest_nights ≈ 'footfall', 'headcount'</a:t>
            </a:r>
            <a:endParaRPr lang="en-US" sz="1200" dirty="0"/>
          </a:p>
        </p:txBody>
      </p:sp>
      <p:sp>
        <p:nvSpPr>
          <p:cNvPr id="23" name="Text 21"/>
          <p:cNvSpPr/>
          <p:nvPr/>
        </p:nvSpPr>
        <p:spPr>
          <a:xfrm>
            <a:off x="6451600" y="2755900"/>
            <a:ext cx="486613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Descriptions</a:t>
            </a:r>
            <a:endParaRPr lang="en-US" sz="1400" dirty="0"/>
          </a:p>
        </p:txBody>
      </p:sp>
      <p:sp>
        <p:nvSpPr>
          <p:cNvPr id="24" name="Text 22"/>
          <p:cNvSpPr/>
          <p:nvPr/>
        </p:nvSpPr>
        <p:spPr>
          <a:xfrm>
            <a:off x="6451600" y="2981961"/>
            <a:ext cx="4866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Business meaning on every table, column and metric</a:t>
            </a:r>
            <a:endParaRPr lang="en-US" sz="1200" dirty="0"/>
          </a:p>
        </p:txBody>
      </p:sp>
      <p:sp>
        <p:nvSpPr>
          <p:cNvPr id="25" name="Text 23"/>
          <p:cNvSpPr/>
          <p:nvPr/>
        </p:nvSpPr>
        <p:spPr>
          <a:xfrm>
            <a:off x="6451600" y="3208020"/>
            <a:ext cx="4866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C4F0"/>
                </a:solidFill>
                <a:latin typeface="JetBrains Mono" pitchFamily="34" charset="0"/>
                <a:ea typeface="JetBrains Mono" pitchFamily="34" charset="-122"/>
                <a:cs typeface="JetBrains Mono" pitchFamily="34" charset="-120"/>
              </a:rPr>
              <a:t>'Owners are not included.'</a:t>
            </a:r>
            <a:endParaRPr lang="en-US" sz="1200" dirty="0"/>
          </a:p>
        </p:txBody>
      </p:sp>
      <p:sp>
        <p:nvSpPr>
          <p:cNvPr id="26" name="Text 24"/>
          <p:cNvSpPr/>
          <p:nvPr/>
        </p:nvSpPr>
        <p:spPr>
          <a:xfrm>
            <a:off x="6451600" y="3510280"/>
            <a:ext cx="486613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AI instructions</a:t>
            </a:r>
            <a:endParaRPr lang="en-US" sz="1400" dirty="0"/>
          </a:p>
        </p:txBody>
      </p:sp>
      <p:sp>
        <p:nvSpPr>
          <p:cNvPr id="27" name="Text 25"/>
          <p:cNvSpPr/>
          <p:nvPr/>
        </p:nvSpPr>
        <p:spPr>
          <a:xfrm>
            <a:off x="6451600" y="3736341"/>
            <a:ext cx="4866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Rules and known pitfalls for SQL generation</a:t>
            </a:r>
            <a:endParaRPr lang="en-US" sz="1200" dirty="0"/>
          </a:p>
        </p:txBody>
      </p:sp>
      <p:sp>
        <p:nvSpPr>
          <p:cNvPr id="28" name="Text 26"/>
          <p:cNvSpPr/>
          <p:nvPr/>
        </p:nvSpPr>
        <p:spPr>
          <a:xfrm>
            <a:off x="6451600" y="3962400"/>
            <a:ext cx="4866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C4F0"/>
                </a:solidFill>
                <a:latin typeface="JetBrains Mono" pitchFamily="34" charset="0"/>
                <a:ea typeface="JetBrains Mono" pitchFamily="34" charset="-122"/>
                <a:cs typeface="JetBrains Mono" pitchFamily="34" charset="-120"/>
              </a:rPr>
              <a:t>'Round averages to whole people.'</a:t>
            </a:r>
            <a:endParaRPr lang="en-US" sz="1200" dirty="0"/>
          </a:p>
        </p:txBody>
      </p:sp>
      <p:sp>
        <p:nvSpPr>
          <p:cNvPr id="29" name="Text 27"/>
          <p:cNvSpPr/>
          <p:nvPr/>
        </p:nvSpPr>
        <p:spPr>
          <a:xfrm>
            <a:off x="6451600" y="4264661"/>
            <a:ext cx="486613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Verified queries</a:t>
            </a:r>
            <a:endParaRPr lang="en-US" sz="1400" dirty="0"/>
          </a:p>
        </p:txBody>
      </p:sp>
      <p:sp>
        <p:nvSpPr>
          <p:cNvPr id="30" name="Text 28"/>
          <p:cNvSpPr/>
          <p:nvPr/>
        </p:nvSpPr>
        <p:spPr>
          <a:xfrm>
            <a:off x="6451600" y="4490720"/>
            <a:ext cx="4866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Trusted question and SQL pairs, used as examples</a:t>
            </a:r>
            <a:endParaRPr lang="en-US" sz="1200" dirty="0"/>
          </a:p>
        </p:txBody>
      </p:sp>
      <p:sp>
        <p:nvSpPr>
          <p:cNvPr id="31" name="Text 29"/>
          <p:cNvSpPr/>
          <p:nvPr/>
        </p:nvSpPr>
        <p:spPr>
          <a:xfrm>
            <a:off x="6451600" y="4716780"/>
            <a:ext cx="4866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C4F0"/>
                </a:solidFill>
                <a:latin typeface="JetBrains Mono" pitchFamily="34" charset="0"/>
                <a:ea typeface="JetBrains Mono" pitchFamily="34" charset="-122"/>
                <a:cs typeface="JetBrains Mono" pitchFamily="34" charset="-120"/>
              </a:rPr>
              <a:t>'Guests on each park, last 7 days?'</a:t>
            </a:r>
            <a:endParaRPr lang="en-US" sz="1200" dirty="0"/>
          </a:p>
        </p:txBody>
      </p:sp>
      <p:sp>
        <p:nvSpPr>
          <p:cNvPr id="32" name="Text 30"/>
          <p:cNvSpPr/>
          <p:nvPr/>
        </p:nvSpPr>
        <p:spPr>
          <a:xfrm>
            <a:off x="812800" y="5387341"/>
            <a:ext cx="1088339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63A"/>
                </a:solidFill>
                <a:latin typeface="IBM Plex Sans" pitchFamily="34" charset="0"/>
                <a:ea typeface="IBM Plex Sans" pitchFamily="34" charset="-122"/>
                <a:cs typeface="IBM Plex Sans" pitchFamily="34" charset="-120"/>
              </a:rPr>
              <a:t>One database object.</a:t>
            </a:r>
            <a:r>
              <a:rPr lang="en-US" sz="1400" dirty="0">
                <a:solidFill>
                  <a:srgbClr val="13263A"/>
                </a:solidFill>
                <a:latin typeface="IBM Plex Sans" pitchFamily="34" charset="0"/>
                <a:ea typeface="IBM Plex Sans" pitchFamily="34" charset="-122"/>
                <a:cs typeface="IBM Plex Sans" pitchFamily="34" charset="-120"/>
              </a:rPr>
              <a:t> SQL users, BI tools, Cortex Analyst and our agents all read the same definitions.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6FA8"/>
                </a:solidFill>
                <a:latin typeface="IBM Plex Sans" pitchFamily="34" charset="0"/>
                <a:ea typeface="IBM Plex Sans" pitchFamily="34" charset="-122"/>
                <a:cs typeface="IBM Plex Sans" pitchFamily="34" charset="-120"/>
              </a:rPr>
              <a:t>BUILDING</a:t>
            </a:r>
            <a:endParaRPr lang="en-US" sz="1200" dirty="0"/>
          </a:p>
        </p:txBody>
      </p:sp>
      <p:sp>
        <p:nvSpPr>
          <p:cNvPr id="3" name="Text 1"/>
          <p:cNvSpPr/>
          <p:nvPr/>
        </p:nvSpPr>
        <p:spPr>
          <a:xfrm>
            <a:off x="812800" y="848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3263A"/>
                </a:solidFill>
                <a:latin typeface="IBM Plex Sans" pitchFamily="34" charset="0"/>
                <a:ea typeface="IBM Plex Sans" pitchFamily="34" charset="-122"/>
                <a:cs typeface="IBM Plex Sans" pitchFamily="34" charset="-120"/>
              </a:rPr>
              <a:t>How to create a semantic view</a:t>
            </a:r>
            <a:endParaRPr lang="en-US" sz="3000" dirty="0"/>
          </a:p>
        </p:txBody>
      </p:sp>
      <p:sp>
        <p:nvSpPr>
          <p:cNvPr id="4" name="Text 2"/>
          <p:cNvSpPr/>
          <p:nvPr/>
        </p:nvSpPr>
        <p:spPr>
          <a:xfrm>
            <a:off x="812800" y="1496061"/>
            <a:ext cx="528472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SQL: CREATE SEMANTIC VIEW</a:t>
            </a:r>
            <a:endParaRPr lang="en-US" sz="1400" dirty="0"/>
          </a:p>
        </p:txBody>
      </p:sp>
      <p:sp>
        <p:nvSpPr>
          <p:cNvPr id="5" name="Text 3"/>
          <p:cNvSpPr/>
          <p:nvPr/>
        </p:nvSpPr>
        <p:spPr>
          <a:xfrm>
            <a:off x="812800" y="1722120"/>
            <a:ext cx="52847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Native DDL; reads like a cube definition</a:t>
            </a:r>
            <a:endParaRPr lang="en-US" sz="1200" dirty="0"/>
          </a:p>
        </p:txBody>
      </p:sp>
      <p:sp>
        <p:nvSpPr>
          <p:cNvPr id="6" name="Shape 4"/>
          <p:cNvSpPr/>
          <p:nvPr/>
        </p:nvSpPr>
        <p:spPr>
          <a:xfrm>
            <a:off x="812800" y="2011680"/>
            <a:ext cx="5130800" cy="2133600"/>
          </a:xfrm>
          <a:prstGeom prst="roundRect">
            <a:avLst>
              <a:gd name="adj" fmla="val 4762"/>
            </a:avLst>
          </a:prstGeom>
          <a:solidFill>
            <a:srgbClr val="13263A"/>
          </a:solidFill>
          <a:ln/>
        </p:spPr>
      </p:sp>
      <p:sp>
        <p:nvSpPr>
          <p:cNvPr id="7" name="Text 5"/>
          <p:cNvSpPr/>
          <p:nvPr/>
        </p:nvSpPr>
        <p:spPr>
          <a:xfrm>
            <a:off x="1016000" y="2164080"/>
            <a:ext cx="4866132" cy="18542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CREATE SEMANTIC VIEW</a:t>
            </a:r>
            <a:r>
              <a:rPr lang="en-US" sz="1200" dirty="0">
                <a:solidFill>
                  <a:srgbClr val="E6EDF3"/>
                </a:solidFill>
                <a:latin typeface="JetBrains Mono" pitchFamily="34" charset="0"/>
                <a:ea typeface="JetBrains Mono" pitchFamily="34" charset="-122"/>
                <a:cs typeface="JetBrains Mono" pitchFamily="34" charset="-120"/>
              </a:rPr>
              <a:t> FOOTFALL_SV</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TABLES</a:t>
            </a:r>
            <a:r>
              <a:rPr lang="en-US" sz="1200" dirty="0">
                <a:solidFill>
                  <a:srgbClr val="E6EDF3"/>
                </a:solidFill>
                <a:latin typeface="JetBrains Mono" pitchFamily="34" charset="0"/>
                <a:ea typeface="JetBrains Mono" pitchFamily="34" charset="-122"/>
                <a:cs typeface="JetBrains Mono" pitchFamily="34" charset="-120"/>
              </a:rPr>
              <a:t> (parks </a:t>
            </a:r>
            <a:r>
              <a:rPr lang="en-US" sz="1200" dirty="0">
                <a:solidFill>
                  <a:srgbClr val="7CC4F0"/>
                </a:solidFill>
                <a:latin typeface="JetBrains Mono" pitchFamily="34" charset="0"/>
                <a:ea typeface="JetBrains Mono" pitchFamily="34" charset="-122"/>
                <a:cs typeface="JetBrains Mono" pitchFamily="34" charset="-120"/>
              </a:rPr>
              <a:t>AS</a:t>
            </a:r>
            <a:r>
              <a:rPr lang="en-US" sz="1200" dirty="0">
                <a:solidFill>
                  <a:srgbClr val="E6EDF3"/>
                </a:solidFill>
                <a:latin typeface="JetBrains Mono" pitchFamily="34" charset="0"/>
                <a:ea typeface="JetBrains Mono" pitchFamily="34" charset="-122"/>
                <a:cs typeface="JetBrains Mono" pitchFamily="34" charset="-120"/>
              </a:rPr>
              <a:t> DIM_PARK</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PRIMARY KEY</a:t>
            </a:r>
            <a:r>
              <a:rPr lang="en-US" sz="1200" dirty="0">
                <a:solidFill>
                  <a:srgbClr val="E6EDF3"/>
                </a:solidFill>
                <a:latin typeface="JetBrains Mono" pitchFamily="34" charset="0"/>
                <a:ea typeface="JetBrains Mono" pitchFamily="34" charset="-122"/>
                <a:cs typeface="JetBrains Mono" pitchFamily="34" charset="-120"/>
              </a:rPr>
              <a:t> (park_code), …)</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RELATIONSHIPS</a:t>
            </a:r>
            <a:r>
              <a:rPr lang="en-US" sz="1200" dirty="0">
                <a:solidFill>
                  <a:srgbClr val="E6EDF3"/>
                </a:solidFill>
                <a:latin typeface="JetBrains Mono" pitchFamily="34" charset="0"/>
                <a:ea typeface="JetBrains Mono" pitchFamily="34" charset="-122"/>
                <a:cs typeface="JetBrains Mono" pitchFamily="34" charset="-120"/>
              </a:rPr>
              <a:t> (guests_to_parks …)</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DIMENSIONS</a:t>
            </a:r>
            <a:r>
              <a:rPr lang="en-US" sz="1200" dirty="0">
                <a:solidFill>
                  <a:srgbClr val="E6EDF3"/>
                </a:solidFill>
                <a:latin typeface="JetBrains Mono" pitchFamily="34" charset="0"/>
                <a:ea typeface="JetBrains Mono" pitchFamily="34" charset="-122"/>
                <a:cs typeface="JetBrains Mono" pitchFamily="34" charset="-120"/>
              </a:rPr>
              <a:t> (parks.park_name </a:t>
            </a:r>
            <a:r>
              <a:rPr lang="en-US" sz="1200" dirty="0">
                <a:solidFill>
                  <a:srgbClr val="7CC4F0"/>
                </a:solidFill>
                <a:latin typeface="JetBrains Mono" pitchFamily="34" charset="0"/>
                <a:ea typeface="JetBrains Mono" pitchFamily="34" charset="-122"/>
                <a:cs typeface="JetBrains Mono" pitchFamily="34" charset="-120"/>
              </a:rPr>
              <a:t>AS</a:t>
            </a:r>
            <a:r>
              <a:rPr lang="en-US" sz="1200" dirty="0">
                <a:solidFill>
                  <a:srgbClr val="E6EDF3"/>
                </a:solidFill>
                <a:latin typeface="JetBrains Mono" pitchFamily="34" charset="0"/>
                <a:ea typeface="JetBrains Mono" pitchFamily="34" charset="-122"/>
                <a:cs typeface="JetBrains Mono" pitchFamily="34" charset="-120"/>
              </a:rPr>
              <a:t> …)</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METRICS</a:t>
            </a:r>
            <a:r>
              <a:rPr lang="en-US" sz="1200" dirty="0">
                <a:solidFill>
                  <a:srgbClr val="E6EDF3"/>
                </a:solidFill>
                <a:latin typeface="JetBrains Mono" pitchFamily="34" charset="0"/>
                <a:ea typeface="JetBrains Mono" pitchFamily="34" charset="-122"/>
                <a:cs typeface="JetBrains Mono" pitchFamily="34" charset="-120"/>
              </a:rPr>
              <a:t> (guests.guest_nights</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AS SUM</a:t>
            </a:r>
            <a:r>
              <a:rPr lang="en-US" sz="1200" dirty="0">
                <a:solidFill>
                  <a:srgbClr val="E6EDF3"/>
                </a:solidFill>
                <a:latin typeface="JetBrains Mono" pitchFamily="34" charset="0"/>
                <a:ea typeface="JetBrains Mono" pitchFamily="34" charset="-122"/>
                <a:cs typeface="JetBrains Mono" pitchFamily="34" charset="-120"/>
              </a:rPr>
              <a:t>(guests.guest_night))</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COMMENT</a:t>
            </a:r>
            <a:r>
              <a:rPr lang="en-US" sz="1200" dirty="0">
                <a:solidFill>
                  <a:srgbClr val="E6EDF3"/>
                </a:solidFill>
                <a:latin typeface="JetBrains Mono" pitchFamily="34" charset="0"/>
                <a:ea typeface="JetBrains Mono" pitchFamily="34" charset="-122"/>
                <a:cs typeface="JetBrains Mono" pitchFamily="34" charset="-120"/>
              </a:rPr>
              <a:t> = </a:t>
            </a:r>
            <a:r>
              <a:rPr lang="en-US" sz="1200" dirty="0">
                <a:solidFill>
                  <a:srgbClr val="F0C674"/>
                </a:solidFill>
                <a:latin typeface="JetBrains Mono" pitchFamily="34" charset="0"/>
                <a:ea typeface="JetBrains Mono" pitchFamily="34" charset="-122"/>
                <a:cs typeface="JetBrains Mono" pitchFamily="34" charset="-120"/>
              </a:rPr>
              <a:t>'Booked guests per night'</a:t>
            </a: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p:txBody>
      </p:sp>
      <p:sp>
        <p:nvSpPr>
          <p:cNvPr id="8" name="Text 6"/>
          <p:cNvSpPr/>
          <p:nvPr/>
        </p:nvSpPr>
        <p:spPr>
          <a:xfrm>
            <a:off x="6248400" y="1496061"/>
            <a:ext cx="528472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YAML: the semantic model spec</a:t>
            </a:r>
            <a:endParaRPr lang="en-US" sz="1400" dirty="0"/>
          </a:p>
        </p:txBody>
      </p:sp>
      <p:sp>
        <p:nvSpPr>
          <p:cNvPr id="9" name="Text 7"/>
          <p:cNvSpPr/>
          <p:nvPr/>
        </p:nvSpPr>
        <p:spPr>
          <a:xfrm>
            <a:off x="6248400" y="1722120"/>
            <a:ext cx="52847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Loaded with SYSTEM$CREATE_SEMANTIC_VIEW_FROM_YAML</a:t>
            </a:r>
            <a:endParaRPr lang="en-US" sz="1200" dirty="0"/>
          </a:p>
        </p:txBody>
      </p:sp>
      <p:sp>
        <p:nvSpPr>
          <p:cNvPr id="10" name="Shape 8"/>
          <p:cNvSpPr/>
          <p:nvPr/>
        </p:nvSpPr>
        <p:spPr>
          <a:xfrm>
            <a:off x="6248400" y="2011680"/>
            <a:ext cx="5130800" cy="2133600"/>
          </a:xfrm>
          <a:prstGeom prst="roundRect">
            <a:avLst>
              <a:gd name="adj" fmla="val 4762"/>
            </a:avLst>
          </a:prstGeom>
          <a:solidFill>
            <a:srgbClr val="13263A"/>
          </a:solidFill>
          <a:ln/>
        </p:spPr>
      </p:sp>
      <p:sp>
        <p:nvSpPr>
          <p:cNvPr id="11" name="Text 9"/>
          <p:cNvSpPr/>
          <p:nvPr/>
        </p:nvSpPr>
        <p:spPr>
          <a:xfrm>
            <a:off x="6451600" y="2164080"/>
            <a:ext cx="4866132" cy="18542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9B949"/>
                </a:solidFill>
                <a:latin typeface="JetBrains Mono" pitchFamily="34" charset="0"/>
                <a:ea typeface="JetBrains Mono" pitchFamily="34" charset="-122"/>
                <a:cs typeface="JetBrains Mono" pitchFamily="34" charset="-120"/>
              </a:rPr>
              <a:t>name:</a:t>
            </a:r>
            <a:r>
              <a:rPr lang="en-US" sz="1200" dirty="0">
                <a:solidFill>
                  <a:srgbClr val="E6EDF3"/>
                </a:solidFill>
                <a:latin typeface="JetBrains Mono" pitchFamily="34" charset="0"/>
                <a:ea typeface="JetBrains Mono" pitchFamily="34" charset="-122"/>
                <a:cs typeface="JetBrains Mono" pitchFamily="34" charset="-120"/>
              </a:rPr>
              <a:t> footfall_sv</a:t>
            </a:r>
            <a:endParaRPr lang="en-US" sz="1200" dirty="0"/>
          </a:p>
          <a:p>
            <a:pPr algn="l" indent="0" marL="0">
              <a:lnSpc>
                <a:spcPts val="1800"/>
              </a:lnSpc>
              <a:buNone/>
            </a:pPr>
            <a:r>
              <a:rPr lang="en-US" sz="1200" dirty="0">
                <a:solidFill>
                  <a:srgbClr val="E9B949"/>
                </a:solidFill>
                <a:latin typeface="JetBrains Mono" pitchFamily="34" charset="0"/>
                <a:ea typeface="JetBrains Mono" pitchFamily="34" charset="-122"/>
                <a:cs typeface="JetBrains Mono" pitchFamily="34" charset="-120"/>
              </a:rPr>
              <a:t>tables:</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 </a:t>
            </a:r>
            <a:r>
              <a:rPr lang="en-US" sz="1200" dirty="0">
                <a:solidFill>
                  <a:srgbClr val="E9B949"/>
                </a:solidFill>
                <a:latin typeface="JetBrains Mono" pitchFamily="34" charset="0"/>
                <a:ea typeface="JetBrains Mono" pitchFamily="34" charset="-122"/>
                <a:cs typeface="JetBrains Mono" pitchFamily="34" charset="-120"/>
              </a:rPr>
              <a:t>name:</a:t>
            </a:r>
            <a:r>
              <a:rPr lang="en-US" sz="1200" dirty="0">
                <a:solidFill>
                  <a:srgbClr val="E6EDF3"/>
                </a:solidFill>
                <a:latin typeface="JetBrains Mono" pitchFamily="34" charset="0"/>
                <a:ea typeface="JetBrains Mono" pitchFamily="34" charset="-122"/>
                <a:cs typeface="JetBrains Mono" pitchFamily="34" charset="-120"/>
              </a:rPr>
              <a:t> parks</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base_table:</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table:</a:t>
            </a:r>
            <a:r>
              <a:rPr lang="en-US" sz="1200" dirty="0">
                <a:solidFill>
                  <a:srgbClr val="E6EDF3"/>
                </a:solidFill>
                <a:latin typeface="JetBrains Mono" pitchFamily="34" charset="0"/>
                <a:ea typeface="JetBrains Mono" pitchFamily="34" charset="-122"/>
                <a:cs typeface="JetBrains Mono" pitchFamily="34" charset="-120"/>
              </a:rPr>
              <a:t> DIM_PARK, …}</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primary_key:</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columns:</a:t>
            </a:r>
            <a:r>
              <a:rPr lang="en-US" sz="1200" dirty="0">
                <a:solidFill>
                  <a:srgbClr val="E6EDF3"/>
                </a:solidFill>
                <a:latin typeface="JetBrains Mono" pitchFamily="34" charset="0"/>
                <a:ea typeface="JetBrains Mono" pitchFamily="34" charset="-122"/>
                <a:cs typeface="JetBrains Mono" pitchFamily="34" charset="-120"/>
              </a:rPr>
              <a:t> [park_code]}</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dimensions:</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 </a:t>
            </a:r>
            <a:r>
              <a:rPr lang="en-US" sz="1200" dirty="0">
                <a:solidFill>
                  <a:srgbClr val="E9B949"/>
                </a:solidFill>
                <a:latin typeface="JetBrains Mono" pitchFamily="34" charset="0"/>
                <a:ea typeface="JetBrains Mono" pitchFamily="34" charset="-122"/>
                <a:cs typeface="JetBrains Mono" pitchFamily="34" charset="-120"/>
              </a:rPr>
              <a:t>name:</a:t>
            </a:r>
            <a:r>
              <a:rPr lang="en-US" sz="1200" dirty="0">
                <a:solidFill>
                  <a:srgbClr val="E6EDF3"/>
                </a:solidFill>
                <a:latin typeface="JetBrains Mono" pitchFamily="34" charset="0"/>
                <a:ea typeface="JetBrains Mono" pitchFamily="34" charset="-122"/>
                <a:cs typeface="JetBrains Mono" pitchFamily="34" charset="-120"/>
              </a:rPr>
              <a:t> park_name</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synonyms:</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F0C674"/>
                </a:solidFill>
                <a:latin typeface="JetBrains Mono" pitchFamily="34" charset="0"/>
                <a:ea typeface="JetBrains Mono" pitchFamily="34" charset="-122"/>
                <a:cs typeface="JetBrains Mono" pitchFamily="34" charset="-120"/>
              </a:rPr>
              <a:t>'site name'</a:t>
            </a: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p:txBody>
      </p:sp>
      <p:sp>
        <p:nvSpPr>
          <p:cNvPr id="12" name="Text 10"/>
          <p:cNvSpPr/>
          <p:nvPr/>
        </p:nvSpPr>
        <p:spPr>
          <a:xfrm>
            <a:off x="812800" y="4373880"/>
            <a:ext cx="1088339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63A"/>
                </a:solidFill>
                <a:latin typeface="IBM Plex Sans" pitchFamily="34" charset="0"/>
                <a:ea typeface="IBM Plex Sans" pitchFamily="34" charset="-122"/>
                <a:cs typeface="IBM Plex Sans" pitchFamily="34" charset="-120"/>
              </a:rPr>
              <a:t>Almost the same capabilities, so pick either.</a:t>
            </a:r>
            <a:r>
              <a:rPr lang="en-US" sz="1400" dirty="0">
                <a:solidFill>
                  <a:srgbClr val="13263A"/>
                </a:solidFill>
                <a:latin typeface="IBM Plex Sans" pitchFamily="34" charset="0"/>
                <a:ea typeface="IBM Plex Sans" pitchFamily="34" charset="-122"/>
                <a:cs typeface="IBM Plex Sans" pitchFamily="34" charset="-120"/>
              </a:rPr>
              <a:t> </a:t>
            </a:r>
            <a:r>
              <a:rPr lang="en-US" sz="1400" dirty="0">
                <a:solidFill>
                  <a:srgbClr val="4A5566"/>
                </a:solidFill>
                <a:latin typeface="IBM Plex Sans" pitchFamily="34" charset="0"/>
                <a:ea typeface="IBM Plex Sans" pitchFamily="34" charset="-122"/>
                <a:cs typeface="IBM Plex Sans" pitchFamily="34" charset="-120"/>
              </a:rPr>
              <a:t>In production this would live in dbt and CI/CD. Today, Claude Code does the plumbing:</a:t>
            </a:r>
            <a:endParaRPr lang="en-US" sz="1400" dirty="0"/>
          </a:p>
        </p:txBody>
      </p:sp>
      <p:sp>
        <p:nvSpPr>
          <p:cNvPr id="13" name="Shape 11"/>
          <p:cNvSpPr/>
          <p:nvPr/>
        </p:nvSpPr>
        <p:spPr>
          <a:xfrm>
            <a:off x="819150" y="4839970"/>
            <a:ext cx="3407807" cy="1023620"/>
          </a:xfrm>
          <a:prstGeom prst="roundRect">
            <a:avLst>
              <a:gd name="adj" fmla="val 9305"/>
            </a:avLst>
          </a:prstGeom>
          <a:solidFill>
            <a:srgbClr val="FCFBF8"/>
          </a:solidFill>
          <a:ln w="12700">
            <a:solidFill>
              <a:srgbClr val="DAD6CC"/>
            </a:solidFill>
            <a:prstDash val="solid"/>
          </a:ln>
        </p:spPr>
      </p:sp>
      <p:pic>
        <p:nvPicPr>
          <p:cNvPr id="14" name="Image 0" descr="Code">    </p:cNvPr>
          <p:cNvPicPr>
            <a:picLocks noChangeAspect="1"/>
          </p:cNvPicPr>
          <p:nvPr/>
        </p:nvPicPr>
        <p:blipFill>
          <a:blip r:embed="rId1"/>
          <a:srcRect l="0" r="0" t="0" b="0"/>
          <a:stretch/>
        </p:blipFill>
        <p:spPr>
          <a:xfrm>
            <a:off x="1003300" y="4998720"/>
            <a:ext cx="228600" cy="228600"/>
          </a:xfrm>
          <a:prstGeom prst="rect">
            <a:avLst/>
          </a:prstGeom>
        </p:spPr>
      </p:pic>
      <p:sp>
        <p:nvSpPr>
          <p:cNvPr id="15" name="Text 12"/>
          <p:cNvSpPr/>
          <p:nvPr/>
        </p:nvSpPr>
        <p:spPr>
          <a:xfrm>
            <a:off x="1308100" y="5006341"/>
            <a:ext cx="76628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1 · Write</a:t>
            </a:r>
            <a:endParaRPr lang="en-US" sz="1400" dirty="0"/>
          </a:p>
        </p:txBody>
      </p:sp>
      <p:sp>
        <p:nvSpPr>
          <p:cNvPr id="16" name="Text 13"/>
          <p:cNvSpPr/>
          <p:nvPr/>
        </p:nvSpPr>
        <p:spPr>
          <a:xfrm>
            <a:off x="1003300" y="5278120"/>
            <a:ext cx="31306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Point it at your tables and business rules; it drafts the provisioning script</a:t>
            </a:r>
            <a:endParaRPr lang="en-US" sz="1200" dirty="0"/>
          </a:p>
        </p:txBody>
      </p:sp>
      <p:sp>
        <p:nvSpPr>
          <p:cNvPr id="17" name="Shape 14"/>
          <p:cNvSpPr/>
          <p:nvPr/>
        </p:nvSpPr>
        <p:spPr>
          <a:xfrm>
            <a:off x="4392057" y="4839970"/>
            <a:ext cx="3407847" cy="1023620"/>
          </a:xfrm>
          <a:prstGeom prst="roundRect">
            <a:avLst>
              <a:gd name="adj" fmla="val 9305"/>
            </a:avLst>
          </a:prstGeom>
          <a:solidFill>
            <a:srgbClr val="FCFBF8"/>
          </a:solidFill>
          <a:ln w="12700">
            <a:solidFill>
              <a:srgbClr val="DAD6CC"/>
            </a:solidFill>
            <a:prstDash val="solid"/>
          </a:ln>
        </p:spPr>
      </p:sp>
      <p:pic>
        <p:nvPicPr>
          <p:cNvPr id="18" name="Image 1" descr="PaperPlane">    </p:cNvPr>
          <p:cNvPicPr>
            <a:picLocks noChangeAspect="1"/>
          </p:cNvPicPr>
          <p:nvPr/>
        </p:nvPicPr>
        <p:blipFill>
          <a:blip r:embed="rId2"/>
          <a:srcRect l="0" r="0" t="0" b="0"/>
          <a:stretch/>
        </p:blipFill>
        <p:spPr>
          <a:xfrm>
            <a:off x="4576207" y="4998720"/>
            <a:ext cx="228600" cy="228600"/>
          </a:xfrm>
          <a:prstGeom prst="rect">
            <a:avLst/>
          </a:prstGeom>
        </p:spPr>
      </p:pic>
      <p:sp>
        <p:nvSpPr>
          <p:cNvPr id="19" name="Text 15"/>
          <p:cNvSpPr/>
          <p:nvPr/>
        </p:nvSpPr>
        <p:spPr>
          <a:xfrm>
            <a:off x="4881007" y="5006341"/>
            <a:ext cx="88435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2 · Deploy</a:t>
            </a:r>
            <a:endParaRPr lang="en-US" sz="1400" dirty="0"/>
          </a:p>
        </p:txBody>
      </p:sp>
      <p:sp>
        <p:nvSpPr>
          <p:cNvPr id="20" name="Text 16"/>
          <p:cNvSpPr/>
          <p:nvPr/>
        </p:nvSpPr>
        <p:spPr>
          <a:xfrm>
            <a:off x="4576207" y="5278120"/>
            <a:ext cx="31307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It runs the script in your dev schema and fixes whatever Snowflake rejects</a:t>
            </a:r>
            <a:endParaRPr lang="en-US" sz="1200" dirty="0"/>
          </a:p>
        </p:txBody>
      </p:sp>
      <p:sp>
        <p:nvSpPr>
          <p:cNvPr id="21" name="Shape 17"/>
          <p:cNvSpPr/>
          <p:nvPr/>
        </p:nvSpPr>
        <p:spPr>
          <a:xfrm>
            <a:off x="7965004" y="4839970"/>
            <a:ext cx="3407847" cy="1023620"/>
          </a:xfrm>
          <a:prstGeom prst="roundRect">
            <a:avLst>
              <a:gd name="adj" fmla="val 9305"/>
            </a:avLst>
          </a:prstGeom>
          <a:solidFill>
            <a:srgbClr val="FCFBF8"/>
          </a:solidFill>
          <a:ln w="12700">
            <a:solidFill>
              <a:srgbClr val="DAD6CC"/>
            </a:solidFill>
            <a:prstDash val="solid"/>
          </a:ln>
        </p:spPr>
      </p:sp>
      <p:pic>
        <p:nvPicPr>
          <p:cNvPr id="22" name="Image 2" descr="CheckCircle">    </p:cNvPr>
          <p:cNvPicPr>
            <a:picLocks noChangeAspect="1"/>
          </p:cNvPicPr>
          <p:nvPr/>
        </p:nvPicPr>
        <p:blipFill>
          <a:blip r:embed="rId3"/>
          <a:srcRect l="0" r="0" t="0" b="0"/>
          <a:stretch/>
        </p:blipFill>
        <p:spPr>
          <a:xfrm>
            <a:off x="8149154" y="4998720"/>
            <a:ext cx="228600" cy="228600"/>
          </a:xfrm>
          <a:prstGeom prst="rect">
            <a:avLst/>
          </a:prstGeom>
        </p:spPr>
      </p:pic>
      <p:sp>
        <p:nvSpPr>
          <p:cNvPr id="23" name="Text 18"/>
          <p:cNvSpPr/>
          <p:nvPr/>
        </p:nvSpPr>
        <p:spPr>
          <a:xfrm>
            <a:off x="8453954" y="5006341"/>
            <a:ext cx="65357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3 · Test</a:t>
            </a:r>
            <a:endParaRPr lang="en-US" sz="1400" dirty="0"/>
          </a:p>
        </p:txBody>
      </p:sp>
      <p:sp>
        <p:nvSpPr>
          <p:cNvPr id="24" name="Text 19"/>
          <p:cNvSpPr/>
          <p:nvPr/>
        </p:nvSpPr>
        <p:spPr>
          <a:xfrm>
            <a:off x="8149154" y="5278120"/>
            <a:ext cx="31307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It queries the view and checks the numbers against plain SQL on the tables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9E1"/>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6FA8"/>
                </a:solidFill>
                <a:latin typeface="IBM Plex Sans" pitchFamily="34" charset="0"/>
                <a:ea typeface="IBM Plex Sans" pitchFamily="34" charset="-122"/>
                <a:cs typeface="IBM Plex Sans" pitchFamily="34" charset="-120"/>
              </a:rPr>
              <a:t>QUERYING</a:t>
            </a:r>
            <a:endParaRPr lang="en-US" sz="1200" dirty="0"/>
          </a:p>
        </p:txBody>
      </p:sp>
      <p:sp>
        <p:nvSpPr>
          <p:cNvPr id="3" name="Text 1"/>
          <p:cNvSpPr/>
          <p:nvPr/>
        </p:nvSpPr>
        <p:spPr>
          <a:xfrm>
            <a:off x="812800" y="848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3263A"/>
                </a:solidFill>
                <a:latin typeface="IBM Plex Sans" pitchFamily="34" charset="0"/>
                <a:ea typeface="IBM Plex Sans" pitchFamily="34" charset="-122"/>
                <a:cs typeface="IBM Plex Sans" pitchFamily="34" charset="-120"/>
              </a:rPr>
              <a:t>How to query a semantic view</a:t>
            </a:r>
            <a:endParaRPr lang="en-US" sz="3000" dirty="0"/>
          </a:p>
        </p:txBody>
      </p:sp>
      <p:sp>
        <p:nvSpPr>
          <p:cNvPr id="4" name="Text 2"/>
          <p:cNvSpPr/>
          <p:nvPr/>
        </p:nvSpPr>
        <p:spPr>
          <a:xfrm>
            <a:off x="812800" y="1521461"/>
            <a:ext cx="10883392"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A5566"/>
                </a:solidFill>
                <a:latin typeface="IBM Plex Sans" pitchFamily="34" charset="0"/>
                <a:ea typeface="IBM Plex Sans" pitchFamily="34" charset="-122"/>
                <a:cs typeface="IBM Plex Sans" pitchFamily="34" charset="-120"/>
              </a:rPr>
              <a:t>Top 5 parks by guest nights, week of 4 Aug 2025, with name and region. Two ways to write it:</a:t>
            </a:r>
            <a:endParaRPr lang="en-US" sz="1400" dirty="0"/>
          </a:p>
        </p:txBody>
      </p:sp>
      <p:sp>
        <p:nvSpPr>
          <p:cNvPr id="5" name="Text 3"/>
          <p:cNvSpPr/>
          <p:nvPr/>
        </p:nvSpPr>
        <p:spPr>
          <a:xfrm>
            <a:off x="812800" y="2006600"/>
            <a:ext cx="528472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A · New syntax: SEMANTIC_VIEW()</a:t>
            </a:r>
            <a:endParaRPr lang="en-US" sz="1400" dirty="0"/>
          </a:p>
        </p:txBody>
      </p:sp>
      <p:sp>
        <p:nvSpPr>
          <p:cNvPr id="6" name="Text 4"/>
          <p:cNvSpPr/>
          <p:nvPr/>
        </p:nvSpPr>
        <p:spPr>
          <a:xfrm>
            <a:off x="812800" y="2232661"/>
            <a:ext cx="52847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List dimensions and metrics; the view writes the joins and GROUP BY</a:t>
            </a:r>
            <a:endParaRPr lang="en-US" sz="1200" dirty="0"/>
          </a:p>
        </p:txBody>
      </p:sp>
      <p:sp>
        <p:nvSpPr>
          <p:cNvPr id="7" name="Shape 5"/>
          <p:cNvSpPr/>
          <p:nvPr/>
        </p:nvSpPr>
        <p:spPr>
          <a:xfrm>
            <a:off x="812800" y="2547621"/>
            <a:ext cx="5130800" cy="2413000"/>
          </a:xfrm>
          <a:prstGeom prst="roundRect">
            <a:avLst>
              <a:gd name="adj" fmla="val 4211"/>
            </a:avLst>
          </a:prstGeom>
          <a:solidFill>
            <a:srgbClr val="13263A"/>
          </a:solidFill>
          <a:ln/>
        </p:spPr>
      </p:sp>
      <p:sp>
        <p:nvSpPr>
          <p:cNvPr id="8" name="Text 6"/>
          <p:cNvSpPr/>
          <p:nvPr/>
        </p:nvSpPr>
        <p:spPr>
          <a:xfrm>
            <a:off x="1016000" y="2725421"/>
            <a:ext cx="4866132" cy="20828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SELECT</a:t>
            </a:r>
            <a:r>
              <a:rPr lang="en-US" sz="1200" dirty="0">
                <a:solidFill>
                  <a:srgbClr val="E6EDF3"/>
                </a:solidFill>
                <a:latin typeface="JetBrains Mono" pitchFamily="34" charset="0"/>
                <a:ea typeface="JetBrains Mono" pitchFamily="34" charset="-122"/>
                <a:cs typeface="JetBrains Mono" pitchFamily="34" charset="-120"/>
              </a:rPr>
              <a:t> *</a:t>
            </a:r>
            <a:endParaRPr lang="en-US" sz="1200" dirty="0"/>
          </a:p>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FROM</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SEMANTIC_VIEW</a:t>
            </a: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FOOTFALL_ARRIVALS_SV_V1</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DIMENSIONS</a:t>
            </a:r>
            <a:r>
              <a:rPr lang="en-US" sz="1200" dirty="0">
                <a:solidFill>
                  <a:srgbClr val="E6EDF3"/>
                </a:solidFill>
                <a:latin typeface="JetBrains Mono" pitchFamily="34" charset="0"/>
                <a:ea typeface="JetBrains Mono" pitchFamily="34" charset="-122"/>
                <a:cs typeface="JetBrains Mono" pitchFamily="34" charset="-120"/>
              </a:rPr>
              <a:t> parks.park_name, parks.region</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METRICS</a:t>
            </a:r>
            <a:r>
              <a:rPr lang="en-US" sz="1200" dirty="0">
                <a:solidFill>
                  <a:srgbClr val="E6EDF3"/>
                </a:solidFill>
                <a:latin typeface="JetBrains Mono" pitchFamily="34" charset="0"/>
                <a:ea typeface="JetBrains Mono" pitchFamily="34" charset="-122"/>
                <a:cs typeface="JetBrains Mono" pitchFamily="34" charset="-120"/>
              </a:rPr>
              <a:t>    guests.guest_nights</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WHERE</a:t>
            </a:r>
            <a:r>
              <a:rPr lang="en-US" sz="1200" dirty="0">
                <a:solidFill>
                  <a:srgbClr val="E6EDF3"/>
                </a:solidFill>
                <a:latin typeface="JetBrains Mono" pitchFamily="34" charset="0"/>
                <a:ea typeface="JetBrains Mono" pitchFamily="34" charset="-122"/>
                <a:cs typeface="JetBrains Mono" pitchFamily="34" charset="-120"/>
              </a:rPr>
              <a:t>      park_days.stay_week = </a:t>
            </a:r>
            <a:r>
              <a:rPr lang="en-US" sz="1200" dirty="0">
                <a:solidFill>
                  <a:srgbClr val="F0C674"/>
                </a:solidFill>
                <a:latin typeface="JetBrains Mono" pitchFamily="34" charset="0"/>
                <a:ea typeface="JetBrains Mono" pitchFamily="34" charset="-122"/>
                <a:cs typeface="JetBrains Mono" pitchFamily="34" charset="-120"/>
              </a:rPr>
              <a:t>'2025-08-04'</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ORDER BY</a:t>
            </a:r>
            <a:r>
              <a:rPr lang="en-US" sz="1200" dirty="0">
                <a:solidFill>
                  <a:srgbClr val="E6EDF3"/>
                </a:solidFill>
                <a:latin typeface="JetBrains Mono" pitchFamily="34" charset="0"/>
                <a:ea typeface="JetBrains Mono" pitchFamily="34" charset="-122"/>
                <a:cs typeface="JetBrains Mono" pitchFamily="34" charset="-120"/>
              </a:rPr>
              <a:t> guest_nights </a:t>
            </a:r>
            <a:r>
              <a:rPr lang="en-US" sz="1200" dirty="0">
                <a:solidFill>
                  <a:srgbClr val="7CC4F0"/>
                </a:solidFill>
                <a:latin typeface="JetBrains Mono" pitchFamily="34" charset="0"/>
                <a:ea typeface="JetBrains Mono" pitchFamily="34" charset="-122"/>
                <a:cs typeface="JetBrains Mono" pitchFamily="34" charset="-120"/>
              </a:rPr>
              <a:t>DESC</a:t>
            </a:r>
            <a:endParaRPr lang="en-US" sz="1200" dirty="0"/>
          </a:p>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LIMIT</a:t>
            </a:r>
            <a:r>
              <a:rPr lang="en-US" sz="1200" dirty="0">
                <a:solidFill>
                  <a:srgbClr val="E6EDF3"/>
                </a:solidFill>
                <a:latin typeface="JetBrains Mono" pitchFamily="34" charset="0"/>
                <a:ea typeface="JetBrains Mono" pitchFamily="34" charset="-122"/>
                <a:cs typeface="JetBrains Mono" pitchFamily="34" charset="-120"/>
              </a:rPr>
              <a:t> 5;</a:t>
            </a:r>
            <a:endParaRPr lang="en-US" sz="1200" dirty="0"/>
          </a:p>
        </p:txBody>
      </p:sp>
      <p:sp>
        <p:nvSpPr>
          <p:cNvPr id="9" name="Text 7"/>
          <p:cNvSpPr/>
          <p:nvPr/>
        </p:nvSpPr>
        <p:spPr>
          <a:xfrm>
            <a:off x="6248400" y="2006600"/>
            <a:ext cx="528472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B · Classic SQL, view in FROM</a:t>
            </a:r>
            <a:endParaRPr lang="en-US" sz="1400" dirty="0"/>
          </a:p>
        </p:txBody>
      </p:sp>
      <p:sp>
        <p:nvSpPr>
          <p:cNvPr id="10" name="Text 8"/>
          <p:cNvSpPr/>
          <p:nvPr/>
        </p:nvSpPr>
        <p:spPr>
          <a:xfrm>
            <a:off x="6248400" y="2232661"/>
            <a:ext cx="52847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Plain SELECT … GROUP BY; just wrap metrics in AGG()</a:t>
            </a:r>
            <a:endParaRPr lang="en-US" sz="1200" dirty="0"/>
          </a:p>
        </p:txBody>
      </p:sp>
      <p:sp>
        <p:nvSpPr>
          <p:cNvPr id="11" name="Shape 9"/>
          <p:cNvSpPr/>
          <p:nvPr/>
        </p:nvSpPr>
        <p:spPr>
          <a:xfrm>
            <a:off x="6248400" y="2547621"/>
            <a:ext cx="5130800" cy="1955800"/>
          </a:xfrm>
          <a:prstGeom prst="roundRect">
            <a:avLst>
              <a:gd name="adj" fmla="val 5195"/>
            </a:avLst>
          </a:prstGeom>
          <a:solidFill>
            <a:srgbClr val="13263A"/>
          </a:solidFill>
          <a:ln/>
        </p:spPr>
      </p:sp>
      <p:sp>
        <p:nvSpPr>
          <p:cNvPr id="12" name="Text 10"/>
          <p:cNvSpPr/>
          <p:nvPr/>
        </p:nvSpPr>
        <p:spPr>
          <a:xfrm>
            <a:off x="6451600" y="2725421"/>
            <a:ext cx="4866132" cy="16256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SELECT</a:t>
            </a:r>
            <a:r>
              <a:rPr lang="en-US" sz="1200" dirty="0">
                <a:solidFill>
                  <a:srgbClr val="E6EDF3"/>
                </a:solidFill>
                <a:latin typeface="JetBrains Mono" pitchFamily="34" charset="0"/>
                <a:ea typeface="JetBrains Mono" pitchFamily="34" charset="-122"/>
                <a:cs typeface="JetBrains Mono" pitchFamily="34" charset="-120"/>
              </a:rPr>
              <a:t> park_name, region,</a:t>
            </a:r>
            <a:endParaRPr lang="en-US" sz="1200" dirty="0"/>
          </a:p>
          <a:p>
            <a:pPr algn="l" indent="0" marL="0">
              <a:lnSpc>
                <a:spcPts val="180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E9B949"/>
                </a:solidFill>
                <a:latin typeface="JetBrains Mono" pitchFamily="34" charset="0"/>
                <a:ea typeface="JetBrains Mono" pitchFamily="34" charset="-122"/>
                <a:cs typeface="JetBrains Mono" pitchFamily="34" charset="-120"/>
              </a:rPr>
              <a:t>AGG</a:t>
            </a:r>
            <a:r>
              <a:rPr lang="en-US" sz="1200" dirty="0">
                <a:solidFill>
                  <a:srgbClr val="E6EDF3"/>
                </a:solidFill>
                <a:latin typeface="JetBrains Mono" pitchFamily="34" charset="0"/>
                <a:ea typeface="JetBrains Mono" pitchFamily="34" charset="-122"/>
                <a:cs typeface="JetBrains Mono" pitchFamily="34" charset="-120"/>
              </a:rPr>
              <a:t>(guest_nights) </a:t>
            </a:r>
            <a:r>
              <a:rPr lang="en-US" sz="1200" dirty="0">
                <a:solidFill>
                  <a:srgbClr val="7CC4F0"/>
                </a:solidFill>
                <a:latin typeface="JetBrains Mono" pitchFamily="34" charset="0"/>
                <a:ea typeface="JetBrains Mono" pitchFamily="34" charset="-122"/>
                <a:cs typeface="JetBrains Mono" pitchFamily="34" charset="-120"/>
              </a:rPr>
              <a:t>AS</a:t>
            </a:r>
            <a:r>
              <a:rPr lang="en-US" sz="1200" dirty="0">
                <a:solidFill>
                  <a:srgbClr val="E6EDF3"/>
                </a:solidFill>
                <a:latin typeface="JetBrains Mono" pitchFamily="34" charset="0"/>
                <a:ea typeface="JetBrains Mono" pitchFamily="34" charset="-122"/>
                <a:cs typeface="JetBrains Mono" pitchFamily="34" charset="-120"/>
              </a:rPr>
              <a:t> guest_nights</a:t>
            </a:r>
            <a:endParaRPr lang="en-US" sz="1200" dirty="0"/>
          </a:p>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FROM</a:t>
            </a:r>
            <a:r>
              <a:rPr lang="en-US" sz="1200" dirty="0">
                <a:solidFill>
                  <a:srgbClr val="E6EDF3"/>
                </a:solidFill>
                <a:latin typeface="JetBrains Mono" pitchFamily="34" charset="0"/>
                <a:ea typeface="JetBrains Mono" pitchFamily="34" charset="-122"/>
                <a:cs typeface="JetBrains Mono" pitchFamily="34" charset="-120"/>
              </a:rPr>
              <a:t>   FOOTFALL_ARRIVALS_SV_V1</a:t>
            </a:r>
            <a:endParaRPr lang="en-US" sz="1200" dirty="0"/>
          </a:p>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WHERE</a:t>
            </a:r>
            <a:r>
              <a:rPr lang="en-US" sz="1200" dirty="0">
                <a:solidFill>
                  <a:srgbClr val="E6EDF3"/>
                </a:solidFill>
                <a:latin typeface="JetBrains Mono" pitchFamily="34" charset="0"/>
                <a:ea typeface="JetBrains Mono" pitchFamily="34" charset="-122"/>
                <a:cs typeface="JetBrains Mono" pitchFamily="34" charset="-120"/>
              </a:rPr>
              <a:t>  stay_week = </a:t>
            </a:r>
            <a:r>
              <a:rPr lang="en-US" sz="1200" dirty="0">
                <a:solidFill>
                  <a:srgbClr val="F0C674"/>
                </a:solidFill>
                <a:latin typeface="JetBrains Mono" pitchFamily="34" charset="0"/>
                <a:ea typeface="JetBrains Mono" pitchFamily="34" charset="-122"/>
                <a:cs typeface="JetBrains Mono" pitchFamily="34" charset="-120"/>
              </a:rPr>
              <a:t>'2025-08-04'</a:t>
            </a:r>
            <a:endParaRPr lang="en-US" sz="1200" dirty="0"/>
          </a:p>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GROUP BY</a:t>
            </a:r>
            <a:r>
              <a:rPr lang="en-US" sz="1200" dirty="0">
                <a:solidFill>
                  <a:srgbClr val="E6EDF3"/>
                </a:solidFill>
                <a:latin typeface="JetBrains Mono" pitchFamily="34" charset="0"/>
                <a:ea typeface="JetBrains Mono" pitchFamily="34" charset="-122"/>
                <a:cs typeface="JetBrains Mono" pitchFamily="34" charset="-120"/>
              </a:rPr>
              <a:t> park_name, region</a:t>
            </a:r>
            <a:endParaRPr lang="en-US" sz="1200" dirty="0"/>
          </a:p>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ORDER BY</a:t>
            </a:r>
            <a:r>
              <a:rPr lang="en-US" sz="1200" dirty="0">
                <a:solidFill>
                  <a:srgbClr val="E6EDF3"/>
                </a:solidFill>
                <a:latin typeface="JetBrains Mono" pitchFamily="34" charset="0"/>
                <a:ea typeface="JetBrains Mono" pitchFamily="34" charset="-122"/>
                <a:cs typeface="JetBrains Mono" pitchFamily="34" charset="-120"/>
              </a:rPr>
              <a:t> guest_nights </a:t>
            </a:r>
            <a:r>
              <a:rPr lang="en-US" sz="1200" dirty="0">
                <a:solidFill>
                  <a:srgbClr val="7CC4F0"/>
                </a:solidFill>
                <a:latin typeface="JetBrains Mono" pitchFamily="34" charset="0"/>
                <a:ea typeface="JetBrains Mono" pitchFamily="34" charset="-122"/>
                <a:cs typeface="JetBrains Mono" pitchFamily="34" charset="-120"/>
              </a:rPr>
              <a:t>DESC</a:t>
            </a:r>
            <a:endParaRPr lang="en-US" sz="1200" dirty="0"/>
          </a:p>
          <a:p>
            <a:pPr algn="l" indent="0" marL="0">
              <a:lnSpc>
                <a:spcPts val="1800"/>
              </a:lnSpc>
              <a:buNone/>
            </a:pPr>
            <a:r>
              <a:rPr lang="en-US" sz="1200" dirty="0">
                <a:solidFill>
                  <a:srgbClr val="7CC4F0"/>
                </a:solidFill>
                <a:latin typeface="JetBrains Mono" pitchFamily="34" charset="0"/>
                <a:ea typeface="JetBrains Mono" pitchFamily="34" charset="-122"/>
                <a:cs typeface="JetBrains Mono" pitchFamily="34" charset="-120"/>
              </a:rPr>
              <a:t>LIMIT</a:t>
            </a:r>
            <a:r>
              <a:rPr lang="en-US" sz="1200" dirty="0">
                <a:solidFill>
                  <a:srgbClr val="E6EDF3"/>
                </a:solidFill>
                <a:latin typeface="JetBrains Mono" pitchFamily="34" charset="0"/>
                <a:ea typeface="JetBrains Mono" pitchFamily="34" charset="-122"/>
                <a:cs typeface="JetBrains Mono" pitchFamily="34" charset="-120"/>
              </a:rPr>
              <a:t>  5;</a:t>
            </a:r>
            <a:endParaRPr lang="en-US" sz="1200" dirty="0"/>
          </a:p>
        </p:txBody>
      </p:sp>
      <p:sp>
        <p:nvSpPr>
          <p:cNvPr id="13" name="Text 11"/>
          <p:cNvSpPr/>
          <p:nvPr/>
        </p:nvSpPr>
        <p:spPr>
          <a:xfrm>
            <a:off x="812800" y="5214621"/>
            <a:ext cx="1088339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63A"/>
                </a:solidFill>
                <a:latin typeface="IBM Plex Sans" pitchFamily="34" charset="0"/>
                <a:ea typeface="IBM Plex Sans" pitchFamily="34" charset="-122"/>
                <a:cs typeface="IBM Plex Sans" pitchFamily="34" charset="-120"/>
              </a:rPr>
              <a:t>Same 5 rows either way, and no JOIN written.</a:t>
            </a:r>
            <a:r>
              <a:rPr lang="en-US" sz="1400" dirty="0">
                <a:solidFill>
                  <a:srgbClr val="13263A"/>
                </a:solidFill>
                <a:latin typeface="IBM Plex Sans" pitchFamily="34" charset="0"/>
                <a:ea typeface="IBM Plex Sans" pitchFamily="34" charset="-122"/>
                <a:cs typeface="IBM Plex Sans" pitchFamily="34" charset="-120"/>
              </a:rPr>
              <a:t> The view already knows guests → park_days → parks.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63A"/>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B949"/>
                </a:solidFill>
                <a:latin typeface="IBM Plex Sans" pitchFamily="34" charset="0"/>
                <a:ea typeface="IBM Plex Sans" pitchFamily="34" charset="-122"/>
                <a:cs typeface="IBM Plex Sans" pitchFamily="34" charset="-120"/>
              </a:rPr>
              <a:t>USING</a:t>
            </a:r>
            <a:endParaRPr lang="en-US" sz="1200" dirty="0"/>
          </a:p>
        </p:txBody>
      </p:sp>
      <p:sp>
        <p:nvSpPr>
          <p:cNvPr id="3" name="Text 1"/>
          <p:cNvSpPr/>
          <p:nvPr/>
        </p:nvSpPr>
        <p:spPr>
          <a:xfrm>
            <a:off x="812800" y="848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F5F3EE"/>
                </a:solidFill>
                <a:latin typeface="IBM Plex Sans" pitchFamily="34" charset="0"/>
                <a:ea typeface="IBM Plex Sans" pitchFamily="34" charset="-122"/>
                <a:cs typeface="IBM Plex Sans" pitchFamily="34" charset="-120"/>
              </a:rPr>
              <a:t>How semantic views can be used</a:t>
            </a:r>
            <a:endParaRPr lang="en-US" sz="3000" dirty="0"/>
          </a:p>
        </p:txBody>
      </p:sp>
      <p:sp>
        <p:nvSpPr>
          <p:cNvPr id="4" name="Shape 2"/>
          <p:cNvSpPr/>
          <p:nvPr/>
        </p:nvSpPr>
        <p:spPr>
          <a:xfrm>
            <a:off x="812800" y="1549400"/>
            <a:ext cx="7696200" cy="2032000"/>
          </a:xfrm>
          <a:prstGeom prst="roundRect">
            <a:avLst>
              <a:gd name="adj" fmla="val 6250"/>
            </a:avLst>
          </a:prstGeom>
          <a:solidFill>
            <a:srgbClr val="1C3654"/>
          </a:solidFill>
          <a:ln/>
        </p:spPr>
      </p:sp>
      <p:sp>
        <p:nvSpPr>
          <p:cNvPr id="5" name="Shape 3"/>
          <p:cNvSpPr/>
          <p:nvPr/>
        </p:nvSpPr>
        <p:spPr>
          <a:xfrm>
            <a:off x="812800" y="3784600"/>
            <a:ext cx="7696200" cy="2260600"/>
          </a:xfrm>
          <a:prstGeom prst="roundRect">
            <a:avLst>
              <a:gd name="adj" fmla="val 5618"/>
            </a:avLst>
          </a:prstGeom>
          <a:solidFill>
            <a:srgbClr val="1C3654"/>
          </a:solidFill>
          <a:ln/>
        </p:spPr>
      </p:sp>
      <p:sp>
        <p:nvSpPr>
          <p:cNvPr id="6" name="Shape 4"/>
          <p:cNvSpPr/>
          <p:nvPr/>
        </p:nvSpPr>
        <p:spPr>
          <a:xfrm>
            <a:off x="2809875" y="2155825"/>
            <a:ext cx="1816100" cy="1352550"/>
          </a:xfrm>
          <a:prstGeom prst="roundRect">
            <a:avLst>
              <a:gd name="adj" fmla="val 7746"/>
            </a:avLst>
          </a:prstGeom>
          <a:noFill/>
          <a:ln w="19050">
            <a:solidFill>
              <a:srgbClr val="7CC4F0"/>
            </a:solidFill>
            <a:prstDash val="dash"/>
          </a:ln>
        </p:spPr>
      </p:sp>
      <p:sp>
        <p:nvSpPr>
          <p:cNvPr id="7" name="Text 5"/>
          <p:cNvSpPr/>
          <p:nvPr/>
        </p:nvSpPr>
        <p:spPr>
          <a:xfrm>
            <a:off x="2772823" y="2165350"/>
            <a:ext cx="1890204" cy="23114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7CC4F0"/>
                </a:solidFill>
                <a:latin typeface="IBM Plex Sans" pitchFamily="34" charset="0"/>
                <a:ea typeface="IBM Plex Sans" pitchFamily="34" charset="-122"/>
                <a:cs typeface="IBM Plex Sans" pitchFamily="34" charset="-120"/>
              </a:rPr>
              <a:t>Snowflake MCP server</a:t>
            </a:r>
            <a:endParaRPr lang="en-US" sz="1200" dirty="0"/>
          </a:p>
        </p:txBody>
      </p:sp>
      <p:sp>
        <p:nvSpPr>
          <p:cNvPr id="8" name="Text 6"/>
          <p:cNvSpPr/>
          <p:nvPr/>
        </p:nvSpPr>
        <p:spPr>
          <a:xfrm>
            <a:off x="1016000" y="1612900"/>
            <a:ext cx="3924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CC4F0"/>
                </a:solidFill>
                <a:latin typeface="IBM Plex Sans" pitchFamily="34" charset="0"/>
                <a:ea typeface="IBM Plex Sans" pitchFamily="34" charset="-122"/>
                <a:cs typeface="IBM Plex Sans" pitchFamily="34" charset="-120"/>
              </a:rPr>
              <a:t>PATH A</a:t>
            </a:r>
            <a:endParaRPr lang="en-US" sz="1200" dirty="0"/>
          </a:p>
        </p:txBody>
      </p:sp>
      <p:sp>
        <p:nvSpPr>
          <p:cNvPr id="9" name="Text 7"/>
          <p:cNvSpPr/>
          <p:nvPr/>
        </p:nvSpPr>
        <p:spPr>
          <a:xfrm>
            <a:off x="1016000" y="1816100"/>
            <a:ext cx="497078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Cortex Analyst: question in, SQL out</a:t>
            </a:r>
            <a:endParaRPr lang="en-US" sz="1400" dirty="0"/>
          </a:p>
        </p:txBody>
      </p:sp>
      <p:sp>
        <p:nvSpPr>
          <p:cNvPr id="10" name="Shape 8"/>
          <p:cNvSpPr/>
          <p:nvPr/>
        </p:nvSpPr>
        <p:spPr>
          <a:xfrm>
            <a:off x="6096000" y="1739900"/>
            <a:ext cx="2209800" cy="281940"/>
          </a:xfrm>
          <a:prstGeom prst="roundRect">
            <a:avLst>
              <a:gd name="adj" fmla="val 50000"/>
            </a:avLst>
          </a:prstGeom>
          <a:solidFill>
            <a:srgbClr val="24425F"/>
          </a:solidFill>
          <a:ln/>
        </p:spPr>
      </p:sp>
      <p:sp>
        <p:nvSpPr>
          <p:cNvPr id="11" name="Text 9"/>
          <p:cNvSpPr/>
          <p:nvPr/>
        </p:nvSpPr>
        <p:spPr>
          <a:xfrm>
            <a:off x="6193663" y="1778000"/>
            <a:ext cx="2014474" cy="231140"/>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BFCCD8"/>
                </a:solidFill>
                <a:latin typeface="IBM Plex Sans" pitchFamily="34" charset="0"/>
                <a:ea typeface="IBM Plex Sans" pitchFamily="34" charset="-122"/>
                <a:cs typeface="IBM Plex Sans" pitchFamily="34" charset="-120"/>
              </a:rPr>
              <a:t>One shot, managed</a:t>
            </a:r>
            <a:endParaRPr lang="en-US" sz="1200" dirty="0"/>
          </a:p>
        </p:txBody>
      </p:sp>
      <p:sp>
        <p:nvSpPr>
          <p:cNvPr id="12" name="Text 10"/>
          <p:cNvSpPr/>
          <p:nvPr/>
        </p:nvSpPr>
        <p:spPr>
          <a:xfrm>
            <a:off x="1016000" y="3911600"/>
            <a:ext cx="3924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B949"/>
                </a:solidFill>
                <a:latin typeface="IBM Plex Sans" pitchFamily="34" charset="0"/>
                <a:ea typeface="IBM Plex Sans" pitchFamily="34" charset="-122"/>
                <a:cs typeface="IBM Plex Sans" pitchFamily="34" charset="-120"/>
              </a:rPr>
              <a:t>PATH B</a:t>
            </a:r>
            <a:endParaRPr lang="en-US" sz="1200" dirty="0"/>
          </a:p>
        </p:txBody>
      </p:sp>
      <p:sp>
        <p:nvSpPr>
          <p:cNvPr id="13" name="Text 11"/>
          <p:cNvSpPr/>
          <p:nvPr/>
        </p:nvSpPr>
        <p:spPr>
          <a:xfrm>
            <a:off x="1016000" y="4127500"/>
            <a:ext cx="51015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Claude Code, or any agent with Snowflake access</a:t>
            </a:r>
            <a:endParaRPr lang="en-US" sz="1400" dirty="0"/>
          </a:p>
        </p:txBody>
      </p:sp>
      <p:sp>
        <p:nvSpPr>
          <p:cNvPr id="14" name="Shape 12"/>
          <p:cNvSpPr/>
          <p:nvPr/>
        </p:nvSpPr>
        <p:spPr>
          <a:xfrm>
            <a:off x="6096000" y="4038600"/>
            <a:ext cx="2209800" cy="281940"/>
          </a:xfrm>
          <a:prstGeom prst="roundRect">
            <a:avLst>
              <a:gd name="adj" fmla="val 50000"/>
            </a:avLst>
          </a:prstGeom>
          <a:solidFill>
            <a:srgbClr val="24425F"/>
          </a:solidFill>
          <a:ln/>
        </p:spPr>
      </p:sp>
      <p:sp>
        <p:nvSpPr>
          <p:cNvPr id="15" name="Text 13"/>
          <p:cNvSpPr/>
          <p:nvPr/>
        </p:nvSpPr>
        <p:spPr>
          <a:xfrm>
            <a:off x="6193663" y="4076700"/>
            <a:ext cx="2014474" cy="231140"/>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E9B949"/>
                </a:solidFill>
                <a:latin typeface="IBM Plex Sans" pitchFamily="34" charset="0"/>
                <a:ea typeface="IBM Plex Sans" pitchFamily="34" charset="-122"/>
                <a:cs typeface="IBM Plex Sans" pitchFamily="34" charset="-120"/>
              </a:rPr>
              <a:t>Reasons and iterates</a:t>
            </a:r>
            <a:endParaRPr lang="en-US" sz="1200" dirty="0"/>
          </a:p>
        </p:txBody>
      </p:sp>
      <p:sp>
        <p:nvSpPr>
          <p:cNvPr id="16" name="Shape 14"/>
          <p:cNvSpPr/>
          <p:nvPr/>
        </p:nvSpPr>
        <p:spPr>
          <a:xfrm>
            <a:off x="1016000" y="2413000"/>
            <a:ext cx="1631950" cy="1016000"/>
          </a:xfrm>
          <a:prstGeom prst="roundRect">
            <a:avLst>
              <a:gd name="adj" fmla="val 8750"/>
            </a:avLst>
          </a:prstGeom>
          <a:solidFill>
            <a:srgbClr val="24425F"/>
          </a:solidFill>
          <a:ln/>
        </p:spPr>
      </p:sp>
      <p:sp>
        <p:nvSpPr>
          <p:cNvPr id="17" name="Text 15"/>
          <p:cNvSpPr/>
          <p:nvPr/>
        </p:nvSpPr>
        <p:spPr>
          <a:xfrm>
            <a:off x="1117600" y="2540000"/>
            <a:ext cx="147955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Question</a:t>
            </a:r>
            <a:endParaRPr lang="en-US" sz="1400" dirty="0"/>
          </a:p>
        </p:txBody>
      </p:sp>
      <p:sp>
        <p:nvSpPr>
          <p:cNvPr id="18" name="Text 16"/>
          <p:cNvSpPr/>
          <p:nvPr/>
        </p:nvSpPr>
        <p:spPr>
          <a:xfrm>
            <a:off x="1117600" y="2791461"/>
            <a:ext cx="14795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“Top 5 parks last week?”</a:t>
            </a:r>
            <a:endParaRPr lang="en-US" sz="1200" dirty="0"/>
          </a:p>
        </p:txBody>
      </p:sp>
      <p:sp>
        <p:nvSpPr>
          <p:cNvPr id="19" name="Shape 17"/>
          <p:cNvSpPr/>
          <p:nvPr/>
        </p:nvSpPr>
        <p:spPr>
          <a:xfrm>
            <a:off x="2911475" y="2422525"/>
            <a:ext cx="1612900" cy="996950"/>
          </a:xfrm>
          <a:prstGeom prst="roundRect">
            <a:avLst>
              <a:gd name="adj" fmla="val 7962"/>
            </a:avLst>
          </a:prstGeom>
          <a:solidFill>
            <a:srgbClr val="24425F"/>
          </a:solidFill>
          <a:ln w="19050">
            <a:solidFill>
              <a:srgbClr val="7CC4F0"/>
            </a:solidFill>
            <a:prstDash val="solid"/>
          </a:ln>
        </p:spPr>
      </p:sp>
      <p:sp>
        <p:nvSpPr>
          <p:cNvPr id="20" name="Text 18"/>
          <p:cNvSpPr/>
          <p:nvPr/>
        </p:nvSpPr>
        <p:spPr>
          <a:xfrm>
            <a:off x="3021330" y="2557782"/>
            <a:ext cx="1443990" cy="238760"/>
          </a:xfrm>
          <a:prstGeom prst="rect">
            <a:avLst/>
          </a:prstGeom>
          <a:noFill/>
          <a:ln/>
        </p:spPr>
        <p:txBody>
          <a:bodyPr wrap="non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Cortex Analyst</a:t>
            </a:r>
            <a:endParaRPr lang="en-US" sz="1400" dirty="0"/>
          </a:p>
        </p:txBody>
      </p:sp>
      <p:sp>
        <p:nvSpPr>
          <p:cNvPr id="21" name="Text 19"/>
          <p:cNvSpPr/>
          <p:nvPr/>
        </p:nvSpPr>
        <p:spPr>
          <a:xfrm>
            <a:off x="3021330" y="2809239"/>
            <a:ext cx="14439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Text-to-SQL, exposed as a tool</a:t>
            </a:r>
            <a:endParaRPr lang="en-US" sz="1200" dirty="0"/>
          </a:p>
        </p:txBody>
      </p:sp>
      <p:sp>
        <p:nvSpPr>
          <p:cNvPr id="22" name="Shape 20"/>
          <p:cNvSpPr/>
          <p:nvPr/>
        </p:nvSpPr>
        <p:spPr>
          <a:xfrm>
            <a:off x="4787900" y="2413000"/>
            <a:ext cx="1631950" cy="1016000"/>
          </a:xfrm>
          <a:prstGeom prst="roundRect">
            <a:avLst>
              <a:gd name="adj" fmla="val 8750"/>
            </a:avLst>
          </a:prstGeom>
          <a:solidFill>
            <a:srgbClr val="24425F"/>
          </a:solidFill>
          <a:ln/>
        </p:spPr>
      </p:sp>
      <p:sp>
        <p:nvSpPr>
          <p:cNvPr id="23" name="Text 21"/>
          <p:cNvSpPr/>
          <p:nvPr/>
        </p:nvSpPr>
        <p:spPr>
          <a:xfrm>
            <a:off x="4889500" y="2540000"/>
            <a:ext cx="147955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SQL</a:t>
            </a:r>
            <a:endParaRPr lang="en-US" sz="1400" dirty="0"/>
          </a:p>
        </p:txBody>
      </p:sp>
      <p:sp>
        <p:nvSpPr>
          <p:cNvPr id="24" name="Text 22"/>
          <p:cNvSpPr/>
          <p:nvPr/>
        </p:nvSpPr>
        <p:spPr>
          <a:xfrm>
            <a:off x="4889500" y="2791461"/>
            <a:ext cx="14795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From the view's definitions</a:t>
            </a:r>
            <a:endParaRPr lang="en-US" sz="1200" dirty="0"/>
          </a:p>
        </p:txBody>
      </p:sp>
      <p:sp>
        <p:nvSpPr>
          <p:cNvPr id="25" name="Shape 23"/>
          <p:cNvSpPr/>
          <p:nvPr/>
        </p:nvSpPr>
        <p:spPr>
          <a:xfrm>
            <a:off x="6673850" y="2413000"/>
            <a:ext cx="1631950" cy="1016000"/>
          </a:xfrm>
          <a:prstGeom prst="roundRect">
            <a:avLst>
              <a:gd name="adj" fmla="val 8750"/>
            </a:avLst>
          </a:prstGeom>
          <a:solidFill>
            <a:srgbClr val="24425F"/>
          </a:solidFill>
          <a:ln/>
        </p:spPr>
      </p:sp>
      <p:sp>
        <p:nvSpPr>
          <p:cNvPr id="26" name="Text 24"/>
          <p:cNvSpPr/>
          <p:nvPr/>
        </p:nvSpPr>
        <p:spPr>
          <a:xfrm>
            <a:off x="6775450" y="2540000"/>
            <a:ext cx="147955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Rows</a:t>
            </a:r>
            <a:endParaRPr lang="en-US" sz="1400" dirty="0"/>
          </a:p>
        </p:txBody>
      </p:sp>
      <p:sp>
        <p:nvSpPr>
          <p:cNvPr id="27" name="Text 25"/>
          <p:cNvSpPr/>
          <p:nvPr/>
        </p:nvSpPr>
        <p:spPr>
          <a:xfrm>
            <a:off x="6775450" y="2791461"/>
            <a:ext cx="14795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Optional: it can run the SQL too</a:t>
            </a:r>
            <a:endParaRPr lang="en-US" sz="1200" dirty="0"/>
          </a:p>
        </p:txBody>
      </p:sp>
      <p:pic>
        <p:nvPicPr>
          <p:cNvPr id="28" name="Image 0" descr="connector">    </p:cNvPr>
          <p:cNvPicPr>
            <a:picLocks noChangeAspect="1"/>
          </p:cNvPicPr>
          <p:nvPr/>
        </p:nvPicPr>
        <p:blipFill>
          <a:blip r:embed="rId1"/>
          <a:srcRect l="0" r="0" t="0" b="0"/>
          <a:stretch/>
        </p:blipFill>
        <p:spPr>
          <a:xfrm>
            <a:off x="2584450" y="2857500"/>
            <a:ext cx="381000" cy="127000"/>
          </a:xfrm>
          <a:prstGeom prst="rect">
            <a:avLst/>
          </a:prstGeom>
        </p:spPr>
      </p:pic>
      <p:pic>
        <p:nvPicPr>
          <p:cNvPr id="29" name="Image 1" descr="connector">    </p:cNvPr>
          <p:cNvPicPr>
            <a:picLocks noChangeAspect="1"/>
          </p:cNvPicPr>
          <p:nvPr/>
        </p:nvPicPr>
        <p:blipFill>
          <a:blip r:embed="rId2"/>
          <a:srcRect l="0" r="0" t="0" b="0"/>
          <a:stretch/>
        </p:blipFill>
        <p:spPr>
          <a:xfrm>
            <a:off x="4470400" y="2857500"/>
            <a:ext cx="381000" cy="127000"/>
          </a:xfrm>
          <a:prstGeom prst="rect">
            <a:avLst/>
          </a:prstGeom>
        </p:spPr>
      </p:pic>
      <p:pic>
        <p:nvPicPr>
          <p:cNvPr id="30" name="Image 2" descr="connector">    </p:cNvPr>
          <p:cNvPicPr>
            <a:picLocks noChangeAspect="1"/>
          </p:cNvPicPr>
          <p:nvPr/>
        </p:nvPicPr>
        <p:blipFill>
          <a:blip r:embed="rId3"/>
          <a:srcRect l="0" r="0" t="0" b="0"/>
          <a:stretch/>
        </p:blipFill>
        <p:spPr>
          <a:xfrm>
            <a:off x="6356350" y="2857500"/>
            <a:ext cx="381000" cy="127000"/>
          </a:xfrm>
          <a:prstGeom prst="rect">
            <a:avLst/>
          </a:prstGeom>
        </p:spPr>
      </p:pic>
      <p:sp>
        <p:nvSpPr>
          <p:cNvPr id="31" name="Shape 26"/>
          <p:cNvSpPr/>
          <p:nvPr/>
        </p:nvSpPr>
        <p:spPr>
          <a:xfrm>
            <a:off x="1016000" y="4483100"/>
            <a:ext cx="1631950" cy="1016000"/>
          </a:xfrm>
          <a:prstGeom prst="roundRect">
            <a:avLst>
              <a:gd name="adj" fmla="val 8750"/>
            </a:avLst>
          </a:prstGeom>
          <a:solidFill>
            <a:srgbClr val="24425F"/>
          </a:solidFill>
          <a:ln/>
        </p:spPr>
      </p:sp>
      <p:sp>
        <p:nvSpPr>
          <p:cNvPr id="32" name="Text 27"/>
          <p:cNvSpPr/>
          <p:nvPr/>
        </p:nvSpPr>
        <p:spPr>
          <a:xfrm>
            <a:off x="1117600" y="4610100"/>
            <a:ext cx="1479550" cy="206375"/>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F5F3EE"/>
                </a:solidFill>
                <a:latin typeface="IBM Plex Sans" pitchFamily="34" charset="0"/>
                <a:ea typeface="IBM Plex Sans" pitchFamily="34" charset="-122"/>
                <a:cs typeface="IBM Plex Sans" pitchFamily="34" charset="-120"/>
              </a:rPr>
              <a:t>Read</a:t>
            </a:r>
            <a:endParaRPr lang="en-US" sz="1225" dirty="0"/>
          </a:p>
        </p:txBody>
      </p:sp>
      <p:sp>
        <p:nvSpPr>
          <p:cNvPr id="33" name="Text 28"/>
          <p:cNvSpPr/>
          <p:nvPr/>
        </p:nvSpPr>
        <p:spPr>
          <a:xfrm>
            <a:off x="1117600" y="4829175"/>
            <a:ext cx="1479550" cy="568325"/>
          </a:xfrm>
          <a:prstGeom prst="rect">
            <a:avLst/>
          </a:prstGeom>
          <a:noFill/>
          <a:ln/>
        </p:spPr>
        <p:txBody>
          <a:bodyPr wrap="square" lIns="0" tIns="0" rIns="0" bIns="0" rtlCol="0" anchor="t">
            <a:normAutofit/>
          </a:bodyPr>
          <a:lstStyle/>
          <a:p>
            <a:pPr algn="l" indent="0" marL="0">
              <a:lnSpc>
                <a:spcPts val="1648"/>
              </a:lnSpc>
              <a:buNone/>
            </a:pPr>
            <a:r>
              <a:rPr lang="en-US" sz="1177" dirty="0">
                <a:solidFill>
                  <a:srgbClr val="BFCCD8"/>
                </a:solidFill>
                <a:latin typeface="IBM Plex Sans" pitchFamily="34" charset="0"/>
                <a:ea typeface="IBM Plex Sans" pitchFamily="34" charset="-122"/>
                <a:cs typeface="IBM Plex Sans" pitchFamily="34" charset="-120"/>
              </a:rPr>
              <a:t>DESCRIBE or GET_DDL on the view</a:t>
            </a:r>
            <a:endParaRPr lang="en-US" sz="1177" dirty="0"/>
          </a:p>
        </p:txBody>
      </p:sp>
      <p:sp>
        <p:nvSpPr>
          <p:cNvPr id="34" name="Shape 29"/>
          <p:cNvSpPr/>
          <p:nvPr/>
        </p:nvSpPr>
        <p:spPr>
          <a:xfrm>
            <a:off x="2911475" y="4492625"/>
            <a:ext cx="1612900" cy="996950"/>
          </a:xfrm>
          <a:prstGeom prst="roundRect">
            <a:avLst>
              <a:gd name="adj" fmla="val 7962"/>
            </a:avLst>
          </a:prstGeom>
          <a:solidFill>
            <a:srgbClr val="24425F"/>
          </a:solidFill>
          <a:ln w="19050">
            <a:solidFill>
              <a:srgbClr val="E9B949"/>
            </a:solidFill>
            <a:prstDash val="solid"/>
          </a:ln>
        </p:spPr>
      </p:sp>
      <p:sp>
        <p:nvSpPr>
          <p:cNvPr id="35" name="Text 30"/>
          <p:cNvSpPr/>
          <p:nvPr/>
        </p:nvSpPr>
        <p:spPr>
          <a:xfrm>
            <a:off x="3021330" y="4627882"/>
            <a:ext cx="14439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Learn</a:t>
            </a:r>
            <a:endParaRPr lang="en-US" sz="1400" dirty="0"/>
          </a:p>
        </p:txBody>
      </p:sp>
      <p:sp>
        <p:nvSpPr>
          <p:cNvPr id="36" name="Text 31"/>
          <p:cNvSpPr/>
          <p:nvPr/>
        </p:nvSpPr>
        <p:spPr>
          <a:xfrm>
            <a:off x="3021330" y="4879339"/>
            <a:ext cx="14439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Comments, synonyms, AI rules</a:t>
            </a:r>
            <a:endParaRPr lang="en-US" sz="1200" dirty="0"/>
          </a:p>
        </p:txBody>
      </p:sp>
      <p:sp>
        <p:nvSpPr>
          <p:cNvPr id="37" name="Shape 32"/>
          <p:cNvSpPr/>
          <p:nvPr/>
        </p:nvSpPr>
        <p:spPr>
          <a:xfrm>
            <a:off x="4787900" y="4483100"/>
            <a:ext cx="1631950" cy="1016000"/>
          </a:xfrm>
          <a:prstGeom prst="roundRect">
            <a:avLst>
              <a:gd name="adj" fmla="val 8750"/>
            </a:avLst>
          </a:prstGeom>
          <a:solidFill>
            <a:srgbClr val="24425F"/>
          </a:solidFill>
          <a:ln/>
        </p:spPr>
      </p:sp>
      <p:sp>
        <p:nvSpPr>
          <p:cNvPr id="38" name="Text 33"/>
          <p:cNvSpPr/>
          <p:nvPr/>
        </p:nvSpPr>
        <p:spPr>
          <a:xfrm>
            <a:off x="4889500" y="4610100"/>
            <a:ext cx="147955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Write</a:t>
            </a:r>
            <a:endParaRPr lang="en-US" sz="1400" dirty="0"/>
          </a:p>
        </p:txBody>
      </p:sp>
      <p:sp>
        <p:nvSpPr>
          <p:cNvPr id="39" name="Text 34"/>
          <p:cNvSpPr/>
          <p:nvPr/>
        </p:nvSpPr>
        <p:spPr>
          <a:xfrm>
            <a:off x="4889500" y="4861561"/>
            <a:ext cx="14795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Either syntax, any query shape</a:t>
            </a:r>
            <a:endParaRPr lang="en-US" sz="1200" dirty="0"/>
          </a:p>
        </p:txBody>
      </p:sp>
      <p:sp>
        <p:nvSpPr>
          <p:cNvPr id="40" name="Shape 35"/>
          <p:cNvSpPr/>
          <p:nvPr/>
        </p:nvSpPr>
        <p:spPr>
          <a:xfrm>
            <a:off x="6673850" y="4483100"/>
            <a:ext cx="1631950" cy="1016000"/>
          </a:xfrm>
          <a:prstGeom prst="roundRect">
            <a:avLst>
              <a:gd name="adj" fmla="val 8750"/>
            </a:avLst>
          </a:prstGeom>
          <a:solidFill>
            <a:srgbClr val="24425F"/>
          </a:solidFill>
          <a:ln/>
        </p:spPr>
      </p:sp>
      <p:sp>
        <p:nvSpPr>
          <p:cNvPr id="41" name="Text 36"/>
          <p:cNvSpPr/>
          <p:nvPr/>
        </p:nvSpPr>
        <p:spPr>
          <a:xfrm>
            <a:off x="6775450" y="4610100"/>
            <a:ext cx="147955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Run &amp; check</a:t>
            </a:r>
            <a:endParaRPr lang="en-US" sz="1400" dirty="0"/>
          </a:p>
        </p:txBody>
      </p:sp>
      <p:sp>
        <p:nvSpPr>
          <p:cNvPr id="42" name="Text 37"/>
          <p:cNvSpPr/>
          <p:nvPr/>
        </p:nvSpPr>
        <p:spPr>
          <a:xfrm>
            <a:off x="6775450" y="4861561"/>
            <a:ext cx="14795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Sanity-check the numbers</a:t>
            </a:r>
            <a:endParaRPr lang="en-US" sz="1200" dirty="0"/>
          </a:p>
        </p:txBody>
      </p:sp>
      <p:pic>
        <p:nvPicPr>
          <p:cNvPr id="43" name="Image 3" descr="connector">    </p:cNvPr>
          <p:cNvPicPr>
            <a:picLocks noChangeAspect="1"/>
          </p:cNvPicPr>
          <p:nvPr/>
        </p:nvPicPr>
        <p:blipFill>
          <a:blip r:embed="rId4"/>
          <a:srcRect l="0" r="0" t="0" b="0"/>
          <a:stretch/>
        </p:blipFill>
        <p:spPr>
          <a:xfrm>
            <a:off x="2584450" y="4927600"/>
            <a:ext cx="381000" cy="127000"/>
          </a:xfrm>
          <a:prstGeom prst="rect">
            <a:avLst/>
          </a:prstGeom>
        </p:spPr>
      </p:pic>
      <p:pic>
        <p:nvPicPr>
          <p:cNvPr id="44" name="Image 4" descr="connector">    </p:cNvPr>
          <p:cNvPicPr>
            <a:picLocks noChangeAspect="1"/>
          </p:cNvPicPr>
          <p:nvPr/>
        </p:nvPicPr>
        <p:blipFill>
          <a:blip r:embed="rId5"/>
          <a:srcRect l="0" r="0" t="0" b="0"/>
          <a:stretch/>
        </p:blipFill>
        <p:spPr>
          <a:xfrm>
            <a:off x="4470400" y="4927600"/>
            <a:ext cx="381000" cy="127000"/>
          </a:xfrm>
          <a:prstGeom prst="rect">
            <a:avLst/>
          </a:prstGeom>
        </p:spPr>
      </p:pic>
      <p:pic>
        <p:nvPicPr>
          <p:cNvPr id="45" name="Image 5" descr="connector">    </p:cNvPr>
          <p:cNvPicPr>
            <a:picLocks noChangeAspect="1"/>
          </p:cNvPicPr>
          <p:nvPr/>
        </p:nvPicPr>
        <p:blipFill>
          <a:blip r:embed="rId6"/>
          <a:srcRect l="0" r="0" t="0" b="0"/>
          <a:stretch/>
        </p:blipFill>
        <p:spPr>
          <a:xfrm>
            <a:off x="6356350" y="4927600"/>
            <a:ext cx="381000" cy="127000"/>
          </a:xfrm>
          <a:prstGeom prst="rect">
            <a:avLst/>
          </a:prstGeom>
        </p:spPr>
      </p:pic>
      <p:pic>
        <p:nvPicPr>
          <p:cNvPr id="46" name="Image 6" descr="connector">    </p:cNvPr>
          <p:cNvPicPr>
            <a:picLocks noChangeAspect="1"/>
          </p:cNvPicPr>
          <p:nvPr/>
        </p:nvPicPr>
        <p:blipFill>
          <a:blip r:embed="rId7"/>
          <a:srcRect l="0" r="0" t="0" b="0"/>
          <a:stretch/>
        </p:blipFill>
        <p:spPr>
          <a:xfrm>
            <a:off x="7423150" y="5435600"/>
            <a:ext cx="127000" cy="368300"/>
          </a:xfrm>
          <a:prstGeom prst="rect">
            <a:avLst/>
          </a:prstGeom>
        </p:spPr>
      </p:pic>
      <p:pic>
        <p:nvPicPr>
          <p:cNvPr id="47" name="Image 7" descr="connector">    </p:cNvPr>
          <p:cNvPicPr>
            <a:picLocks noChangeAspect="1"/>
          </p:cNvPicPr>
          <p:nvPr/>
        </p:nvPicPr>
        <p:blipFill>
          <a:blip r:embed="rId8"/>
          <a:srcRect l="0" r="0" t="0" b="0"/>
          <a:stretch/>
        </p:blipFill>
        <p:spPr>
          <a:xfrm>
            <a:off x="5537200" y="5676900"/>
            <a:ext cx="2012950" cy="127000"/>
          </a:xfrm>
          <a:prstGeom prst="rect">
            <a:avLst/>
          </a:prstGeom>
        </p:spPr>
      </p:pic>
      <p:pic>
        <p:nvPicPr>
          <p:cNvPr id="48" name="Image 8" descr="connector">    </p:cNvPr>
          <p:cNvPicPr>
            <a:picLocks noChangeAspect="1"/>
          </p:cNvPicPr>
          <p:nvPr/>
        </p:nvPicPr>
        <p:blipFill>
          <a:blip r:embed="rId9"/>
          <a:srcRect l="0" r="0" t="0" b="0"/>
          <a:stretch/>
        </p:blipFill>
        <p:spPr>
          <a:xfrm>
            <a:off x="5537200" y="5435600"/>
            <a:ext cx="127000" cy="368300"/>
          </a:xfrm>
          <a:prstGeom prst="rect">
            <a:avLst/>
          </a:prstGeom>
        </p:spPr>
      </p:pic>
      <p:sp>
        <p:nvSpPr>
          <p:cNvPr id="49" name="Text 38"/>
          <p:cNvSpPr/>
          <p:nvPr/>
        </p:nvSpPr>
        <p:spPr>
          <a:xfrm>
            <a:off x="6045200" y="5753100"/>
            <a:ext cx="1066800" cy="223520"/>
          </a:xfrm>
          <a:prstGeom prst="rect">
            <a:avLst/>
          </a:prstGeom>
          <a:noFill/>
          <a:ln/>
        </p:spPr>
        <p:txBody>
          <a:bodyPr wrap="square" lIns="0" tIns="0" rIns="0" bIns="0" rtlCol="0" anchor="t">
            <a:normAutofit/>
          </a:bodyPr>
          <a:lstStyle/>
          <a:p>
            <a:pPr algn="ctr" indent="0" marL="0">
              <a:lnSpc>
                <a:spcPts val="1560"/>
              </a:lnSpc>
              <a:buNone/>
            </a:pPr>
            <a:r>
              <a:rPr lang="en-US" sz="1200" i="1" dirty="0">
                <a:solidFill>
                  <a:srgbClr val="E9B949"/>
                </a:solidFill>
                <a:latin typeface="IBM Plex Sans" pitchFamily="34" charset="0"/>
                <a:ea typeface="IBM Plex Sans" pitchFamily="34" charset="-122"/>
                <a:cs typeface="IBM Plex Sans" pitchFamily="34" charset="-120"/>
              </a:rPr>
              <a:t>iterate</a:t>
            </a:r>
            <a:endParaRPr lang="en-US" sz="1200" dirty="0"/>
          </a:p>
        </p:txBody>
      </p:sp>
      <p:pic>
        <p:nvPicPr>
          <p:cNvPr id="50" name="Image 9" descr="connector">    </p:cNvPr>
          <p:cNvPicPr>
            <a:picLocks noChangeAspect="1"/>
          </p:cNvPicPr>
          <p:nvPr/>
        </p:nvPicPr>
        <p:blipFill>
          <a:blip r:embed="rId10"/>
          <a:srcRect l="0" r="0" t="0" b="0"/>
          <a:stretch/>
        </p:blipFill>
        <p:spPr>
          <a:xfrm>
            <a:off x="8445500" y="2857500"/>
            <a:ext cx="508000" cy="127000"/>
          </a:xfrm>
          <a:prstGeom prst="rect">
            <a:avLst/>
          </a:prstGeom>
        </p:spPr>
      </p:pic>
      <p:pic>
        <p:nvPicPr>
          <p:cNvPr id="51" name="Image 10" descr="connector">    </p:cNvPr>
          <p:cNvPicPr>
            <a:picLocks noChangeAspect="1"/>
          </p:cNvPicPr>
          <p:nvPr/>
        </p:nvPicPr>
        <p:blipFill>
          <a:blip r:embed="rId11"/>
          <a:srcRect l="0" r="0" t="0" b="0"/>
          <a:stretch/>
        </p:blipFill>
        <p:spPr>
          <a:xfrm>
            <a:off x="8445500" y="4927600"/>
            <a:ext cx="508000" cy="127000"/>
          </a:xfrm>
          <a:prstGeom prst="rect">
            <a:avLst/>
          </a:prstGeom>
        </p:spPr>
      </p:pic>
      <p:sp>
        <p:nvSpPr>
          <p:cNvPr id="52" name="Shape 39"/>
          <p:cNvSpPr/>
          <p:nvPr/>
        </p:nvSpPr>
        <p:spPr>
          <a:xfrm>
            <a:off x="8890000" y="1549400"/>
            <a:ext cx="2489200" cy="4495800"/>
          </a:xfrm>
          <a:prstGeom prst="roundRect">
            <a:avLst>
              <a:gd name="adj" fmla="val 5102"/>
            </a:avLst>
          </a:prstGeom>
          <a:solidFill>
            <a:srgbClr val="E9B949"/>
          </a:solidFill>
          <a:ln/>
        </p:spPr>
      </p:sp>
      <p:sp>
        <p:nvSpPr>
          <p:cNvPr id="53" name="Text 40"/>
          <p:cNvSpPr/>
          <p:nvPr/>
        </p:nvSpPr>
        <p:spPr>
          <a:xfrm>
            <a:off x="9093200" y="1752600"/>
            <a:ext cx="21452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63A"/>
                </a:solidFill>
                <a:latin typeface="IBM Plex Sans" pitchFamily="34" charset="0"/>
                <a:ea typeface="IBM Plex Sans" pitchFamily="34" charset="-122"/>
                <a:cs typeface="IBM Plex Sans" pitchFamily="34" charset="-120"/>
              </a:rPr>
              <a:t>THE SEMANTIC VIEW</a:t>
            </a:r>
            <a:endParaRPr lang="en-US" sz="1200" dirty="0"/>
          </a:p>
        </p:txBody>
      </p:sp>
      <p:sp>
        <p:nvSpPr>
          <p:cNvPr id="54" name="Text 41"/>
          <p:cNvSpPr/>
          <p:nvPr/>
        </p:nvSpPr>
        <p:spPr>
          <a:xfrm>
            <a:off x="9093200" y="2067561"/>
            <a:ext cx="2145284"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Both paths read the same object</a:t>
            </a:r>
            <a:endParaRPr lang="en-US" sz="1400" dirty="0"/>
          </a:p>
        </p:txBody>
      </p:sp>
      <p:sp>
        <p:nvSpPr>
          <p:cNvPr id="55" name="Text 42"/>
          <p:cNvSpPr/>
          <p:nvPr/>
        </p:nvSpPr>
        <p:spPr>
          <a:xfrm>
            <a:off x="9093200" y="2595882"/>
            <a:ext cx="2145284" cy="1244600"/>
          </a:xfrm>
          <a:prstGeom prst="rect">
            <a:avLst/>
          </a:prstGeom>
          <a:noFill/>
          <a:ln/>
        </p:spPr>
        <p:txBody>
          <a:bodyPr wrap="square" lIns="0" tIns="0" rIns="0" bIns="0" rtlCol="0" anchor="t">
            <a:normAutofit/>
          </a:bodyPr>
          <a:lstStyle/>
          <a:p>
            <a:pPr algn="l" marL="182880" indent="-155194">
              <a:lnSpc>
                <a:spcPts val="1920"/>
              </a:lnSpc>
              <a:buSzPct val="100000"/>
              <a:buChar char="•"/>
            </a:pPr>
            <a:r>
              <a:rPr lang="en-US" sz="1200" dirty="0">
                <a:solidFill>
                  <a:srgbClr val="13263A"/>
                </a:solidFill>
                <a:latin typeface="IBM Plex Sans" pitchFamily="34" charset="0"/>
                <a:ea typeface="IBM Plex Sans" pitchFamily="34" charset="-122"/>
                <a:cs typeface="IBM Plex Sans" pitchFamily="34" charset="-120"/>
              </a:rPr>
              <a:t>Tables &amp; joins</a:t>
            </a:r>
            <a:endParaRPr lang="en-US" sz="1200" dirty="0"/>
          </a:p>
          <a:p>
            <a:pPr algn="l" marL="182880" indent="-155194">
              <a:lnSpc>
                <a:spcPts val="1920"/>
              </a:lnSpc>
              <a:buSzPct val="100000"/>
              <a:buChar char="•"/>
            </a:pPr>
            <a:r>
              <a:rPr lang="en-US" sz="1200" dirty="0">
                <a:solidFill>
                  <a:srgbClr val="13263A"/>
                </a:solidFill>
                <a:latin typeface="IBM Plex Sans" pitchFamily="34" charset="0"/>
                <a:ea typeface="IBM Plex Sans" pitchFamily="34" charset="-122"/>
                <a:cs typeface="IBM Plex Sans" pitchFamily="34" charset="-120"/>
              </a:rPr>
              <a:t>Dimensions &amp; metrics</a:t>
            </a:r>
            <a:endParaRPr lang="en-US" sz="1200" dirty="0"/>
          </a:p>
          <a:p>
            <a:pPr algn="l" marL="182880" indent="-155194">
              <a:lnSpc>
                <a:spcPts val="1920"/>
              </a:lnSpc>
              <a:buSzPct val="100000"/>
              <a:buChar char="•"/>
            </a:pPr>
            <a:r>
              <a:rPr lang="en-US" sz="1200" dirty="0">
                <a:solidFill>
                  <a:srgbClr val="13263A"/>
                </a:solidFill>
                <a:latin typeface="IBM Plex Sans" pitchFamily="34" charset="0"/>
                <a:ea typeface="IBM Plex Sans" pitchFamily="34" charset="-122"/>
                <a:cs typeface="IBM Plex Sans" pitchFamily="34" charset="-120"/>
              </a:rPr>
              <a:t>Synonyms &amp; descriptions</a:t>
            </a:r>
            <a:endParaRPr lang="en-US" sz="1200" dirty="0"/>
          </a:p>
          <a:p>
            <a:pPr algn="l" marL="182880" indent="-155194">
              <a:lnSpc>
                <a:spcPts val="1920"/>
              </a:lnSpc>
              <a:buSzPct val="100000"/>
              <a:buChar char="•"/>
            </a:pPr>
            <a:r>
              <a:rPr lang="en-US" sz="1200" dirty="0">
                <a:solidFill>
                  <a:srgbClr val="13263A"/>
                </a:solidFill>
                <a:latin typeface="IBM Plex Sans" pitchFamily="34" charset="0"/>
                <a:ea typeface="IBM Plex Sans" pitchFamily="34" charset="-122"/>
                <a:cs typeface="IBM Plex Sans" pitchFamily="34" charset="-120"/>
              </a:rPr>
              <a:t>AI SQL rules</a:t>
            </a:r>
            <a:endParaRPr lang="en-US" sz="1200" dirty="0"/>
          </a:p>
          <a:p>
            <a:pPr algn="l" marL="182880" indent="-155194">
              <a:lnSpc>
                <a:spcPts val="1920"/>
              </a:lnSpc>
              <a:buSzPct val="100000"/>
              <a:buChar char="•"/>
            </a:pPr>
            <a:r>
              <a:rPr lang="en-US" sz="1200" dirty="0">
                <a:solidFill>
                  <a:srgbClr val="13263A"/>
                </a:solidFill>
                <a:latin typeface="IBM Plex Sans" pitchFamily="34" charset="0"/>
                <a:ea typeface="IBM Plex Sans" pitchFamily="34" charset="-122"/>
                <a:cs typeface="IBM Plex Sans" pitchFamily="34" charset="-120"/>
              </a:rPr>
              <a:t>Verified queries</a:t>
            </a:r>
            <a:endParaRPr lang="en-US" sz="1200" dirty="0"/>
          </a:p>
        </p:txBody>
      </p:sp>
      <p:sp>
        <p:nvSpPr>
          <p:cNvPr id="56" name="Text 43"/>
          <p:cNvSpPr/>
          <p:nvPr/>
        </p:nvSpPr>
        <p:spPr>
          <a:xfrm>
            <a:off x="9093200" y="5201921"/>
            <a:ext cx="2145284"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Path B sees all of it at once</a:t>
            </a:r>
            <a:r>
              <a:rPr lang="en-US" sz="1200" dirty="0">
                <a:solidFill>
                  <a:srgbClr val="13263A"/>
                </a:solidFill>
                <a:latin typeface="IBM Plex Sans" pitchFamily="34" charset="0"/>
                <a:ea typeface="IBM Plex Sans" pitchFamily="34" charset="-122"/>
                <a:cs typeface="IBM Plex Sans" pitchFamily="34" charset="-120"/>
              </a:rPr>
              <a:t>, so it often writes sharper SQL than a one-shot translator.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6FA8"/>
                </a:solidFill>
                <a:latin typeface="IBM Plex Sans" pitchFamily="34" charset="0"/>
                <a:ea typeface="IBM Plex Sans" pitchFamily="34" charset="-122"/>
                <a:cs typeface="IBM Plex Sans" pitchFamily="34" charset="-120"/>
              </a:rPr>
              <a:t>A SHORT DETOUR</a:t>
            </a:r>
            <a:endParaRPr lang="en-US" sz="1200" dirty="0"/>
          </a:p>
        </p:txBody>
      </p:sp>
      <p:sp>
        <p:nvSpPr>
          <p:cNvPr id="3" name="Text 1"/>
          <p:cNvSpPr/>
          <p:nvPr/>
        </p:nvSpPr>
        <p:spPr>
          <a:xfrm>
            <a:off x="812800" y="848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3263A"/>
                </a:solidFill>
                <a:latin typeface="IBM Plex Sans" pitchFamily="34" charset="0"/>
                <a:ea typeface="IBM Plex Sans" pitchFamily="34" charset="-122"/>
                <a:cs typeface="IBM Plex Sans" pitchFamily="34" charset="-120"/>
              </a:rPr>
              <a:t>What are tools</a:t>
            </a:r>
            <a:endParaRPr lang="en-US" sz="3000" dirty="0"/>
          </a:p>
        </p:txBody>
      </p:sp>
      <p:sp>
        <p:nvSpPr>
          <p:cNvPr id="4" name="Text 2"/>
          <p:cNvSpPr/>
          <p:nvPr/>
        </p:nvSpPr>
        <p:spPr>
          <a:xfrm>
            <a:off x="812800" y="1419861"/>
            <a:ext cx="10883392"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A5566"/>
                </a:solidFill>
                <a:latin typeface="IBM Plex Sans" pitchFamily="34" charset="0"/>
                <a:ea typeface="IBM Plex Sans" pitchFamily="34" charset="-122"/>
                <a:cs typeface="IBM Plex Sans" pitchFamily="34" charset="-120"/>
              </a:rPr>
              <a:t>A tool is one capability an agent can call. Snowflake MCP servers publish them to whoever connects.</a:t>
            </a:r>
            <a:endParaRPr lang="en-US" sz="1400" dirty="0"/>
          </a:p>
        </p:txBody>
      </p:sp>
      <p:sp>
        <p:nvSpPr>
          <p:cNvPr id="5" name="Text 3"/>
          <p:cNvSpPr/>
          <p:nvPr/>
        </p:nvSpPr>
        <p:spPr>
          <a:xfrm>
            <a:off x="812800" y="17780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A7686"/>
                </a:solidFill>
                <a:latin typeface="IBM Plex Sans" pitchFamily="34" charset="0"/>
                <a:ea typeface="IBM Plex Sans" pitchFamily="34" charset="-122"/>
                <a:cs typeface="IBM Plex Sans" pitchFamily="34" charset="-120"/>
              </a:rPr>
              <a:t>FOUR KINDS OF TOOL</a:t>
            </a:r>
            <a:endParaRPr lang="en-US" sz="1200" dirty="0"/>
          </a:p>
        </p:txBody>
      </p:sp>
      <p:sp>
        <p:nvSpPr>
          <p:cNvPr id="6" name="Shape 4"/>
          <p:cNvSpPr/>
          <p:nvPr/>
        </p:nvSpPr>
        <p:spPr>
          <a:xfrm>
            <a:off x="819150" y="2012950"/>
            <a:ext cx="3543300" cy="876300"/>
          </a:xfrm>
          <a:prstGeom prst="roundRect">
            <a:avLst>
              <a:gd name="adj" fmla="val 9420"/>
            </a:avLst>
          </a:prstGeom>
          <a:solidFill>
            <a:srgbClr val="FCFBF8"/>
          </a:solidFill>
          <a:ln w="12700">
            <a:solidFill>
              <a:srgbClr val="DAD6CC"/>
            </a:solidFill>
            <a:prstDash val="solid"/>
          </a:ln>
        </p:spPr>
      </p:sp>
      <p:pic>
        <p:nvPicPr>
          <p:cNvPr id="7" name="Image 0" descr="Code">    </p:cNvPr>
          <p:cNvPicPr>
            <a:picLocks noChangeAspect="1"/>
          </p:cNvPicPr>
          <p:nvPr/>
        </p:nvPicPr>
        <p:blipFill>
          <a:blip r:embed="rId1"/>
          <a:srcRect l="0" r="0" t="0" b="0"/>
          <a:stretch/>
        </p:blipFill>
        <p:spPr>
          <a:xfrm>
            <a:off x="977900" y="2311400"/>
            <a:ext cx="279400" cy="279400"/>
          </a:xfrm>
          <a:prstGeom prst="rect">
            <a:avLst/>
          </a:prstGeom>
        </p:spPr>
      </p:pic>
      <p:sp>
        <p:nvSpPr>
          <p:cNvPr id="8" name="Text 5"/>
          <p:cNvSpPr/>
          <p:nvPr/>
        </p:nvSpPr>
        <p:spPr>
          <a:xfrm>
            <a:off x="1384300" y="2133600"/>
            <a:ext cx="202698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SQL or Python</a:t>
            </a:r>
            <a:endParaRPr lang="en-US" sz="1400" dirty="0"/>
          </a:p>
        </p:txBody>
      </p:sp>
      <p:sp>
        <p:nvSpPr>
          <p:cNvPr id="9" name="Text 6"/>
          <p:cNvSpPr/>
          <p:nvPr/>
        </p:nvSpPr>
        <p:spPr>
          <a:xfrm>
            <a:off x="1384300" y="2359661"/>
            <a:ext cx="202698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Stored procedure or function</a:t>
            </a:r>
            <a:endParaRPr lang="en-US" sz="1200" dirty="0"/>
          </a:p>
        </p:txBody>
      </p:sp>
      <p:sp>
        <p:nvSpPr>
          <p:cNvPr id="10" name="Text 7"/>
          <p:cNvSpPr/>
          <p:nvPr/>
        </p:nvSpPr>
        <p:spPr>
          <a:xfrm>
            <a:off x="1384300" y="2570482"/>
            <a:ext cx="202698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6FA8"/>
                </a:solidFill>
                <a:latin typeface="JetBrains Mono" pitchFamily="34" charset="0"/>
                <a:ea typeface="JetBrains Mono" pitchFamily="34" charset="-122"/>
                <a:cs typeface="JetBrains Mono" pitchFamily="34" charset="-120"/>
              </a:rPr>
              <a:t>type: GENERIC</a:t>
            </a:r>
            <a:endParaRPr lang="en-US" sz="1200" dirty="0"/>
          </a:p>
        </p:txBody>
      </p:sp>
      <p:sp>
        <p:nvSpPr>
          <p:cNvPr id="11" name="Shape 8"/>
          <p:cNvSpPr/>
          <p:nvPr/>
        </p:nvSpPr>
        <p:spPr>
          <a:xfrm>
            <a:off x="819150" y="3028950"/>
            <a:ext cx="3543300" cy="876300"/>
          </a:xfrm>
          <a:prstGeom prst="roundRect">
            <a:avLst>
              <a:gd name="adj" fmla="val 9420"/>
            </a:avLst>
          </a:prstGeom>
          <a:solidFill>
            <a:srgbClr val="FCFBF8"/>
          </a:solidFill>
          <a:ln w="12700">
            <a:solidFill>
              <a:srgbClr val="DAD6CC"/>
            </a:solidFill>
            <a:prstDash val="solid"/>
          </a:ln>
        </p:spPr>
      </p:sp>
      <p:pic>
        <p:nvPicPr>
          <p:cNvPr id="12" name="Image 1" descr="Play">    </p:cNvPr>
          <p:cNvPicPr>
            <a:picLocks noChangeAspect="1"/>
          </p:cNvPicPr>
          <p:nvPr/>
        </p:nvPicPr>
        <p:blipFill>
          <a:blip r:embed="rId2"/>
          <a:srcRect l="0" r="0" t="0" b="0"/>
          <a:stretch/>
        </p:blipFill>
        <p:spPr>
          <a:xfrm>
            <a:off x="977900" y="3327400"/>
            <a:ext cx="279400" cy="279400"/>
          </a:xfrm>
          <a:prstGeom prst="rect">
            <a:avLst/>
          </a:prstGeom>
        </p:spPr>
      </p:pic>
      <p:sp>
        <p:nvSpPr>
          <p:cNvPr id="13" name="Text 9"/>
          <p:cNvSpPr/>
          <p:nvPr/>
        </p:nvSpPr>
        <p:spPr>
          <a:xfrm>
            <a:off x="1384300" y="3149600"/>
            <a:ext cx="226039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Run SQL</a:t>
            </a:r>
            <a:endParaRPr lang="en-US" sz="1400" dirty="0"/>
          </a:p>
        </p:txBody>
      </p:sp>
      <p:sp>
        <p:nvSpPr>
          <p:cNvPr id="14" name="Text 10"/>
          <p:cNvSpPr/>
          <p:nvPr/>
        </p:nvSpPr>
        <p:spPr>
          <a:xfrm>
            <a:off x="1384300" y="3375661"/>
            <a:ext cx="226039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Executes SQL the caller writes</a:t>
            </a:r>
            <a:endParaRPr lang="en-US" sz="1200" dirty="0"/>
          </a:p>
        </p:txBody>
      </p:sp>
      <p:sp>
        <p:nvSpPr>
          <p:cNvPr id="15" name="Text 11"/>
          <p:cNvSpPr/>
          <p:nvPr/>
        </p:nvSpPr>
        <p:spPr>
          <a:xfrm>
            <a:off x="1384300" y="3586482"/>
            <a:ext cx="226039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6FA8"/>
                </a:solidFill>
                <a:latin typeface="JetBrains Mono" pitchFamily="34" charset="0"/>
                <a:ea typeface="JetBrains Mono" pitchFamily="34" charset="-122"/>
                <a:cs typeface="JetBrains Mono" pitchFamily="34" charset="-120"/>
              </a:rPr>
              <a:t>type: SYSTEM_EXECUTE_SQL</a:t>
            </a:r>
            <a:endParaRPr lang="en-US" sz="1200" dirty="0"/>
          </a:p>
        </p:txBody>
      </p:sp>
      <p:sp>
        <p:nvSpPr>
          <p:cNvPr id="16" name="Shape 12"/>
          <p:cNvSpPr/>
          <p:nvPr/>
        </p:nvSpPr>
        <p:spPr>
          <a:xfrm>
            <a:off x="819150" y="4044950"/>
            <a:ext cx="3543300" cy="876300"/>
          </a:xfrm>
          <a:prstGeom prst="roundRect">
            <a:avLst>
              <a:gd name="adj" fmla="val 9420"/>
            </a:avLst>
          </a:prstGeom>
          <a:solidFill>
            <a:srgbClr val="FCFBF8"/>
          </a:solidFill>
          <a:ln w="12700">
            <a:solidFill>
              <a:srgbClr val="DAD6CC"/>
            </a:solidFill>
            <a:prstDash val="solid"/>
          </a:ln>
        </p:spPr>
      </p:sp>
      <p:pic>
        <p:nvPicPr>
          <p:cNvPr id="17" name="Image 2" descr="Chat">    </p:cNvPr>
          <p:cNvPicPr>
            <a:picLocks noChangeAspect="1"/>
          </p:cNvPicPr>
          <p:nvPr/>
        </p:nvPicPr>
        <p:blipFill>
          <a:blip r:embed="rId3"/>
          <a:srcRect l="0" r="0" t="0" b="0"/>
          <a:stretch/>
        </p:blipFill>
        <p:spPr>
          <a:xfrm>
            <a:off x="977900" y="4343400"/>
            <a:ext cx="279400" cy="279400"/>
          </a:xfrm>
          <a:prstGeom prst="rect">
            <a:avLst/>
          </a:prstGeom>
        </p:spPr>
      </p:pic>
      <p:sp>
        <p:nvSpPr>
          <p:cNvPr id="18" name="Text 13"/>
          <p:cNvSpPr/>
          <p:nvPr/>
        </p:nvSpPr>
        <p:spPr>
          <a:xfrm>
            <a:off x="1384300" y="4165600"/>
            <a:ext cx="265205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Cortex Analyst</a:t>
            </a:r>
            <a:endParaRPr lang="en-US" sz="1400" dirty="0"/>
          </a:p>
        </p:txBody>
      </p:sp>
      <p:sp>
        <p:nvSpPr>
          <p:cNvPr id="19" name="Text 14"/>
          <p:cNvSpPr/>
          <p:nvPr/>
        </p:nvSpPr>
        <p:spPr>
          <a:xfrm>
            <a:off x="1384300" y="4391661"/>
            <a:ext cx="265205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Question → SQL over a semantic view</a:t>
            </a:r>
            <a:endParaRPr lang="en-US" sz="1200" dirty="0"/>
          </a:p>
        </p:txBody>
      </p:sp>
      <p:sp>
        <p:nvSpPr>
          <p:cNvPr id="20" name="Text 15"/>
          <p:cNvSpPr/>
          <p:nvPr/>
        </p:nvSpPr>
        <p:spPr>
          <a:xfrm>
            <a:off x="1384300" y="4602482"/>
            <a:ext cx="265205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6FA8"/>
                </a:solidFill>
                <a:latin typeface="JetBrains Mono" pitchFamily="34" charset="0"/>
                <a:ea typeface="JetBrains Mono" pitchFamily="34" charset="-122"/>
                <a:cs typeface="JetBrains Mono" pitchFamily="34" charset="-120"/>
              </a:rPr>
              <a:t>type: CORTEX_ANALYST_MESSAGE</a:t>
            </a:r>
            <a:endParaRPr lang="en-US" sz="1200" dirty="0"/>
          </a:p>
        </p:txBody>
      </p:sp>
      <p:sp>
        <p:nvSpPr>
          <p:cNvPr id="21" name="Shape 16"/>
          <p:cNvSpPr/>
          <p:nvPr/>
        </p:nvSpPr>
        <p:spPr>
          <a:xfrm>
            <a:off x="819150" y="5060950"/>
            <a:ext cx="3543300" cy="876300"/>
          </a:xfrm>
          <a:prstGeom prst="roundRect">
            <a:avLst>
              <a:gd name="adj" fmla="val 9420"/>
            </a:avLst>
          </a:prstGeom>
          <a:solidFill>
            <a:srgbClr val="FCFBF8"/>
          </a:solidFill>
          <a:ln w="12700">
            <a:solidFill>
              <a:srgbClr val="DAD6CC"/>
            </a:solidFill>
            <a:prstDash val="solid"/>
          </a:ln>
        </p:spPr>
      </p:sp>
      <p:pic>
        <p:nvPicPr>
          <p:cNvPr id="22" name="Image 3" descr="Lightbulb">    </p:cNvPr>
          <p:cNvPicPr>
            <a:picLocks noChangeAspect="1"/>
          </p:cNvPicPr>
          <p:nvPr/>
        </p:nvPicPr>
        <p:blipFill>
          <a:blip r:embed="rId4"/>
          <a:srcRect l="0" r="0" t="0" b="0"/>
          <a:stretch/>
        </p:blipFill>
        <p:spPr>
          <a:xfrm>
            <a:off x="977900" y="5359400"/>
            <a:ext cx="279400" cy="279400"/>
          </a:xfrm>
          <a:prstGeom prst="rect">
            <a:avLst/>
          </a:prstGeom>
        </p:spPr>
      </p:pic>
      <p:sp>
        <p:nvSpPr>
          <p:cNvPr id="23" name="Text 17"/>
          <p:cNvSpPr/>
          <p:nvPr/>
        </p:nvSpPr>
        <p:spPr>
          <a:xfrm>
            <a:off x="1384300" y="5181600"/>
            <a:ext cx="230941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Cortex Agent</a:t>
            </a:r>
            <a:endParaRPr lang="en-US" sz="1400" dirty="0"/>
          </a:p>
        </p:txBody>
      </p:sp>
      <p:sp>
        <p:nvSpPr>
          <p:cNvPr id="24" name="Text 18"/>
          <p:cNvSpPr/>
          <p:nvPr/>
        </p:nvSpPr>
        <p:spPr>
          <a:xfrm>
            <a:off x="1384300" y="5407661"/>
            <a:ext cx="230941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A whole agent, called as one tool</a:t>
            </a:r>
            <a:endParaRPr lang="en-US" sz="1200" dirty="0"/>
          </a:p>
        </p:txBody>
      </p:sp>
      <p:sp>
        <p:nvSpPr>
          <p:cNvPr id="25" name="Text 19"/>
          <p:cNvSpPr/>
          <p:nvPr/>
        </p:nvSpPr>
        <p:spPr>
          <a:xfrm>
            <a:off x="1384300" y="5618482"/>
            <a:ext cx="230941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6FA8"/>
                </a:solidFill>
                <a:latin typeface="JetBrains Mono" pitchFamily="34" charset="0"/>
                <a:ea typeface="JetBrains Mono" pitchFamily="34" charset="-122"/>
                <a:cs typeface="JetBrains Mono" pitchFamily="34" charset="-120"/>
              </a:rPr>
              <a:t>type: CORTEX_AGENT_RUN</a:t>
            </a:r>
            <a:endParaRPr lang="en-US" sz="1200" dirty="0"/>
          </a:p>
        </p:txBody>
      </p:sp>
      <p:pic>
        <p:nvPicPr>
          <p:cNvPr id="26" name="Image 4" descr="connector">    </p:cNvPr>
          <p:cNvPicPr>
            <a:picLocks noChangeAspect="1"/>
          </p:cNvPicPr>
          <p:nvPr/>
        </p:nvPicPr>
        <p:blipFill>
          <a:blip r:embed="rId5"/>
          <a:srcRect l="0" r="0" t="0" b="0"/>
          <a:stretch/>
        </p:blipFill>
        <p:spPr>
          <a:xfrm>
            <a:off x="4305300" y="2387600"/>
            <a:ext cx="482600" cy="127000"/>
          </a:xfrm>
          <a:prstGeom prst="rect">
            <a:avLst/>
          </a:prstGeom>
        </p:spPr>
      </p:pic>
      <p:pic>
        <p:nvPicPr>
          <p:cNvPr id="27" name="Image 5" descr="connector">    </p:cNvPr>
          <p:cNvPicPr>
            <a:picLocks noChangeAspect="1"/>
          </p:cNvPicPr>
          <p:nvPr/>
        </p:nvPicPr>
        <p:blipFill>
          <a:blip r:embed="rId6"/>
          <a:srcRect l="0" r="0" t="0" b="0"/>
          <a:stretch/>
        </p:blipFill>
        <p:spPr>
          <a:xfrm>
            <a:off x="4305300" y="3403600"/>
            <a:ext cx="482600" cy="127000"/>
          </a:xfrm>
          <a:prstGeom prst="rect">
            <a:avLst/>
          </a:prstGeom>
        </p:spPr>
      </p:pic>
      <p:pic>
        <p:nvPicPr>
          <p:cNvPr id="28" name="Image 6" descr="connector">    </p:cNvPr>
          <p:cNvPicPr>
            <a:picLocks noChangeAspect="1"/>
          </p:cNvPicPr>
          <p:nvPr/>
        </p:nvPicPr>
        <p:blipFill>
          <a:blip r:embed="rId7"/>
          <a:srcRect l="0" r="0" t="0" b="0"/>
          <a:stretch/>
        </p:blipFill>
        <p:spPr>
          <a:xfrm>
            <a:off x="4305300" y="4419600"/>
            <a:ext cx="482600" cy="127000"/>
          </a:xfrm>
          <a:prstGeom prst="rect">
            <a:avLst/>
          </a:prstGeom>
        </p:spPr>
      </p:pic>
      <p:pic>
        <p:nvPicPr>
          <p:cNvPr id="29" name="Image 7" descr="connector">    </p:cNvPr>
          <p:cNvPicPr>
            <a:picLocks noChangeAspect="1"/>
          </p:cNvPicPr>
          <p:nvPr/>
        </p:nvPicPr>
        <p:blipFill>
          <a:blip r:embed="rId8"/>
          <a:srcRect l="0" r="0" t="0" b="0"/>
          <a:stretch/>
        </p:blipFill>
        <p:spPr>
          <a:xfrm>
            <a:off x="4305300" y="5435600"/>
            <a:ext cx="482600" cy="127000"/>
          </a:xfrm>
          <a:prstGeom prst="rect">
            <a:avLst/>
          </a:prstGeom>
        </p:spPr>
      </p:pic>
      <p:pic>
        <p:nvPicPr>
          <p:cNvPr id="30" name="Image 8" descr="connector">    </p:cNvPr>
          <p:cNvPicPr>
            <a:picLocks noChangeAspect="1"/>
          </p:cNvPicPr>
          <p:nvPr/>
        </p:nvPicPr>
        <p:blipFill>
          <a:blip r:embed="rId9"/>
          <a:srcRect l="0" r="0" t="0" b="0"/>
          <a:stretch/>
        </p:blipFill>
        <p:spPr>
          <a:xfrm>
            <a:off x="4660900" y="2387600"/>
            <a:ext cx="127000" cy="3175000"/>
          </a:xfrm>
          <a:prstGeom prst="rect">
            <a:avLst/>
          </a:prstGeom>
        </p:spPr>
      </p:pic>
      <p:pic>
        <p:nvPicPr>
          <p:cNvPr id="31" name="Image 9" descr="connector">    </p:cNvPr>
          <p:cNvPicPr>
            <a:picLocks noChangeAspect="1"/>
          </p:cNvPicPr>
          <p:nvPr/>
        </p:nvPicPr>
        <p:blipFill>
          <a:blip r:embed="rId10"/>
          <a:srcRect l="0" r="0" t="0" b="0"/>
          <a:stretch/>
        </p:blipFill>
        <p:spPr>
          <a:xfrm>
            <a:off x="4660900" y="3911600"/>
            <a:ext cx="482600" cy="127000"/>
          </a:xfrm>
          <a:prstGeom prst="rect">
            <a:avLst/>
          </a:prstGeom>
        </p:spPr>
      </p:pic>
      <p:sp>
        <p:nvSpPr>
          <p:cNvPr id="32" name="Shape 20"/>
          <p:cNvSpPr/>
          <p:nvPr/>
        </p:nvSpPr>
        <p:spPr>
          <a:xfrm>
            <a:off x="5080000" y="2413000"/>
            <a:ext cx="2413000" cy="3124200"/>
          </a:xfrm>
          <a:prstGeom prst="roundRect">
            <a:avLst>
              <a:gd name="adj" fmla="val 5263"/>
            </a:avLst>
          </a:prstGeom>
          <a:solidFill>
            <a:srgbClr val="13263A"/>
          </a:solidFill>
          <a:ln/>
        </p:spPr>
      </p:sp>
      <p:pic>
        <p:nvPicPr>
          <p:cNvPr id="33" name="Image 10" descr="Globe">    </p:cNvPr>
          <p:cNvPicPr>
            <a:picLocks noChangeAspect="1"/>
          </p:cNvPicPr>
          <p:nvPr/>
        </p:nvPicPr>
        <p:blipFill>
          <a:blip r:embed="rId11"/>
          <a:srcRect l="0" r="0" t="0" b="0"/>
          <a:stretch/>
        </p:blipFill>
        <p:spPr>
          <a:xfrm>
            <a:off x="5257800" y="2800350"/>
            <a:ext cx="355600" cy="355600"/>
          </a:xfrm>
          <a:prstGeom prst="rect">
            <a:avLst/>
          </a:prstGeom>
        </p:spPr>
      </p:pic>
      <p:sp>
        <p:nvSpPr>
          <p:cNvPr id="34" name="Text 21"/>
          <p:cNvSpPr/>
          <p:nvPr/>
        </p:nvSpPr>
        <p:spPr>
          <a:xfrm>
            <a:off x="5257800" y="3257550"/>
            <a:ext cx="211912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E9B949"/>
                </a:solidFill>
                <a:latin typeface="IBM Plex Sans" pitchFamily="34" charset="0"/>
                <a:ea typeface="IBM Plex Sans" pitchFamily="34" charset="-122"/>
                <a:cs typeface="IBM Plex Sans" pitchFamily="34" charset="-120"/>
              </a:rPr>
              <a:t>SNOWFLAKE-MANAGED</a:t>
            </a:r>
            <a:endParaRPr lang="en-US" sz="1200" dirty="0"/>
          </a:p>
        </p:txBody>
      </p:sp>
      <p:sp>
        <p:nvSpPr>
          <p:cNvPr id="35" name="Text 22"/>
          <p:cNvSpPr/>
          <p:nvPr/>
        </p:nvSpPr>
        <p:spPr>
          <a:xfrm>
            <a:off x="5257800" y="3572511"/>
            <a:ext cx="2119122"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5F3EE"/>
                </a:solidFill>
                <a:latin typeface="IBM Plex Sans" pitchFamily="34" charset="0"/>
                <a:ea typeface="IBM Plex Sans" pitchFamily="34" charset="-122"/>
                <a:cs typeface="IBM Plex Sans" pitchFamily="34" charset="-120"/>
              </a:rPr>
              <a:t>MCP server</a:t>
            </a:r>
            <a:endParaRPr lang="en-US" sz="2200" dirty="0"/>
          </a:p>
        </p:txBody>
      </p:sp>
      <p:sp>
        <p:nvSpPr>
          <p:cNvPr id="36" name="Text 23"/>
          <p:cNvSpPr/>
          <p:nvPr/>
        </p:nvSpPr>
        <p:spPr>
          <a:xfrm>
            <a:off x="5257800" y="3981450"/>
            <a:ext cx="211912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Each tool gets a name, a description and an input schema</a:t>
            </a:r>
            <a:endParaRPr lang="en-US" sz="1200" dirty="0"/>
          </a:p>
        </p:txBody>
      </p:sp>
      <p:sp>
        <p:nvSpPr>
          <p:cNvPr id="37" name="Text 24"/>
          <p:cNvSpPr/>
          <p:nvPr/>
        </p:nvSpPr>
        <p:spPr>
          <a:xfrm>
            <a:off x="5257800" y="4723132"/>
            <a:ext cx="211912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C4F0"/>
                </a:solidFill>
                <a:latin typeface="JetBrains Mono" pitchFamily="34" charset="0"/>
                <a:ea typeface="JetBrains Mono" pitchFamily="34" charset="-122"/>
                <a:cs typeface="JetBrains Mono" pitchFamily="34" charset="-120"/>
              </a:rPr>
              <a:t>CREATE MCP SERVER … FROM SPECIFICATION</a:t>
            </a:r>
            <a:endParaRPr lang="en-US" sz="1200" dirty="0"/>
          </a:p>
        </p:txBody>
      </p:sp>
      <p:pic>
        <p:nvPicPr>
          <p:cNvPr id="38" name="Image 11" descr="connector">    </p:cNvPr>
          <p:cNvPicPr>
            <a:picLocks noChangeAspect="1"/>
          </p:cNvPicPr>
          <p:nvPr/>
        </p:nvPicPr>
        <p:blipFill>
          <a:blip r:embed="rId12"/>
          <a:srcRect l="0" r="0" t="0" b="0"/>
          <a:stretch/>
        </p:blipFill>
        <p:spPr>
          <a:xfrm>
            <a:off x="7429500" y="3911600"/>
            <a:ext cx="482600" cy="127000"/>
          </a:xfrm>
          <a:prstGeom prst="rect">
            <a:avLst/>
          </a:prstGeom>
        </p:spPr>
      </p:pic>
      <p:pic>
        <p:nvPicPr>
          <p:cNvPr id="39" name="Image 12" descr="connector">    </p:cNvPr>
          <p:cNvPicPr>
            <a:picLocks noChangeAspect="1"/>
          </p:cNvPicPr>
          <p:nvPr/>
        </p:nvPicPr>
        <p:blipFill>
          <a:blip r:embed="rId13"/>
          <a:srcRect l="0" r="0" t="0" b="0"/>
          <a:stretch/>
        </p:blipFill>
        <p:spPr>
          <a:xfrm>
            <a:off x="7785100" y="2921000"/>
            <a:ext cx="127000" cy="1778000"/>
          </a:xfrm>
          <a:prstGeom prst="rect">
            <a:avLst/>
          </a:prstGeom>
        </p:spPr>
      </p:pic>
      <p:pic>
        <p:nvPicPr>
          <p:cNvPr id="40" name="Image 13" descr="connector">    </p:cNvPr>
          <p:cNvPicPr>
            <a:picLocks noChangeAspect="1"/>
          </p:cNvPicPr>
          <p:nvPr/>
        </p:nvPicPr>
        <p:blipFill>
          <a:blip r:embed="rId14"/>
          <a:srcRect l="0" r="0" t="0" b="0"/>
          <a:stretch/>
        </p:blipFill>
        <p:spPr>
          <a:xfrm>
            <a:off x="7785100" y="2921000"/>
            <a:ext cx="482600" cy="127000"/>
          </a:xfrm>
          <a:prstGeom prst="rect">
            <a:avLst/>
          </a:prstGeom>
        </p:spPr>
      </p:pic>
      <p:pic>
        <p:nvPicPr>
          <p:cNvPr id="41" name="Image 14" descr="connector">    </p:cNvPr>
          <p:cNvPicPr>
            <a:picLocks noChangeAspect="1"/>
          </p:cNvPicPr>
          <p:nvPr/>
        </p:nvPicPr>
        <p:blipFill>
          <a:blip r:embed="rId15"/>
          <a:srcRect l="0" r="0" t="0" b="0"/>
          <a:stretch/>
        </p:blipFill>
        <p:spPr>
          <a:xfrm>
            <a:off x="7785100" y="4572000"/>
            <a:ext cx="482600" cy="127000"/>
          </a:xfrm>
          <a:prstGeom prst="rect">
            <a:avLst/>
          </a:prstGeom>
        </p:spPr>
      </p:pic>
      <p:sp>
        <p:nvSpPr>
          <p:cNvPr id="42" name="Text 25"/>
          <p:cNvSpPr/>
          <p:nvPr/>
        </p:nvSpPr>
        <p:spPr>
          <a:xfrm>
            <a:off x="8204200" y="1778000"/>
            <a:ext cx="327025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A7686"/>
                </a:solidFill>
                <a:latin typeface="IBM Plex Sans" pitchFamily="34" charset="0"/>
                <a:ea typeface="IBM Plex Sans" pitchFamily="34" charset="-122"/>
                <a:cs typeface="IBM Plex Sans" pitchFamily="34" charset="-120"/>
              </a:rPr>
              <a:t>CONSUMED BY</a:t>
            </a:r>
            <a:endParaRPr lang="en-US" sz="1200" dirty="0"/>
          </a:p>
        </p:txBody>
      </p:sp>
      <p:sp>
        <p:nvSpPr>
          <p:cNvPr id="43" name="Shape 26"/>
          <p:cNvSpPr/>
          <p:nvPr/>
        </p:nvSpPr>
        <p:spPr>
          <a:xfrm>
            <a:off x="8204200" y="2286000"/>
            <a:ext cx="3175000" cy="1397000"/>
          </a:xfrm>
          <a:prstGeom prst="roundRect">
            <a:avLst>
              <a:gd name="adj" fmla="val 7273"/>
            </a:avLst>
          </a:prstGeom>
          <a:solidFill>
            <a:srgbClr val="DDE8F1"/>
          </a:solidFill>
          <a:ln/>
        </p:spPr>
      </p:sp>
      <p:sp>
        <p:nvSpPr>
          <p:cNvPr id="44" name="Text 27"/>
          <p:cNvSpPr/>
          <p:nvPr/>
        </p:nvSpPr>
        <p:spPr>
          <a:xfrm>
            <a:off x="8382000" y="2519682"/>
            <a:ext cx="290398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Cortex Agents</a:t>
            </a:r>
            <a:endParaRPr lang="en-US" sz="1400" dirty="0"/>
          </a:p>
        </p:txBody>
      </p:sp>
      <p:sp>
        <p:nvSpPr>
          <p:cNvPr id="45" name="Text 28"/>
          <p:cNvSpPr/>
          <p:nvPr/>
        </p:nvSpPr>
        <p:spPr>
          <a:xfrm>
            <a:off x="8382000" y="2771139"/>
            <a:ext cx="290398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List the server in the agent spec; every tool on it appears</a:t>
            </a:r>
            <a:endParaRPr lang="en-US" sz="1200" dirty="0"/>
          </a:p>
        </p:txBody>
      </p:sp>
      <p:sp>
        <p:nvSpPr>
          <p:cNvPr id="46" name="Text 29"/>
          <p:cNvSpPr/>
          <p:nvPr/>
        </p:nvSpPr>
        <p:spPr>
          <a:xfrm>
            <a:off x="8382000" y="3235961"/>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6FA8"/>
                </a:solidFill>
                <a:latin typeface="JetBrains Mono" pitchFamily="34" charset="0"/>
                <a:ea typeface="JetBrains Mono" pitchFamily="34" charset="-122"/>
                <a:cs typeface="JetBrains Mono" pitchFamily="34" charset="-120"/>
              </a:rPr>
              <a:t>mcp_servers: …</a:t>
            </a:r>
            <a:endParaRPr lang="en-US" sz="1200" dirty="0"/>
          </a:p>
        </p:txBody>
      </p:sp>
      <p:sp>
        <p:nvSpPr>
          <p:cNvPr id="47" name="Shape 30"/>
          <p:cNvSpPr/>
          <p:nvPr/>
        </p:nvSpPr>
        <p:spPr>
          <a:xfrm>
            <a:off x="8204200" y="3937000"/>
            <a:ext cx="3175000" cy="1397000"/>
          </a:xfrm>
          <a:prstGeom prst="roundRect">
            <a:avLst>
              <a:gd name="adj" fmla="val 7273"/>
            </a:avLst>
          </a:prstGeom>
          <a:solidFill>
            <a:srgbClr val="DDE8F1"/>
          </a:solidFill>
          <a:ln/>
        </p:spPr>
      </p:sp>
      <p:sp>
        <p:nvSpPr>
          <p:cNvPr id="48" name="Text 31"/>
          <p:cNvSpPr/>
          <p:nvPr/>
        </p:nvSpPr>
        <p:spPr>
          <a:xfrm>
            <a:off x="8382000" y="4170682"/>
            <a:ext cx="290398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Claude Code</a:t>
            </a:r>
            <a:endParaRPr lang="en-US" sz="1400" dirty="0"/>
          </a:p>
        </p:txBody>
      </p:sp>
      <p:sp>
        <p:nvSpPr>
          <p:cNvPr id="49" name="Text 32"/>
          <p:cNvSpPr/>
          <p:nvPr/>
        </p:nvSpPr>
        <p:spPr>
          <a:xfrm>
            <a:off x="8382000" y="4422139"/>
            <a:ext cx="290398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Or any MCP client: CoWork, IDEs, other agent frameworks</a:t>
            </a:r>
            <a:endParaRPr lang="en-US" sz="1200" dirty="0"/>
          </a:p>
        </p:txBody>
      </p:sp>
      <p:sp>
        <p:nvSpPr>
          <p:cNvPr id="50" name="Text 33"/>
          <p:cNvSpPr/>
          <p:nvPr/>
        </p:nvSpPr>
        <p:spPr>
          <a:xfrm>
            <a:off x="8382000" y="4886961"/>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6FA8"/>
                </a:solidFill>
                <a:latin typeface="JetBrains Mono" pitchFamily="34" charset="0"/>
                <a:ea typeface="JetBrains Mono" pitchFamily="34" charset="-122"/>
                <a:cs typeface="JetBrains Mono" pitchFamily="34" charset="-120"/>
              </a:rPr>
              <a:t>mcp.json → server URL</a:t>
            </a:r>
            <a:endParaRPr lang="en-US" sz="1200" dirty="0"/>
          </a:p>
        </p:txBody>
      </p:sp>
      <p:sp>
        <p:nvSpPr>
          <p:cNvPr id="51" name="Text 34"/>
          <p:cNvSpPr/>
          <p:nvPr/>
        </p:nvSpPr>
        <p:spPr>
          <a:xfrm>
            <a:off x="8204200" y="5511800"/>
            <a:ext cx="327025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3263A"/>
                </a:solidFill>
                <a:latin typeface="IBM Plex Sans" pitchFamily="34" charset="0"/>
                <a:ea typeface="IBM Plex Sans" pitchFamily="34" charset="-122"/>
                <a:cs typeface="IBM Plex Sans" pitchFamily="34" charset="-120"/>
              </a:rPr>
              <a:t>An agent can be a tool, so agents can call agents.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9E1"/>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6FA8"/>
                </a:solidFill>
                <a:latin typeface="IBM Plex Sans" pitchFamily="34" charset="0"/>
                <a:ea typeface="IBM Plex Sans" pitchFamily="34" charset="-122"/>
                <a:cs typeface="IBM Plex Sans" pitchFamily="34" charset="-120"/>
              </a:rPr>
              <a:t>AGENTS</a:t>
            </a:r>
            <a:endParaRPr lang="en-US" sz="1200" dirty="0"/>
          </a:p>
        </p:txBody>
      </p:sp>
      <p:sp>
        <p:nvSpPr>
          <p:cNvPr id="3" name="Text 1"/>
          <p:cNvSpPr/>
          <p:nvPr/>
        </p:nvSpPr>
        <p:spPr>
          <a:xfrm>
            <a:off x="812800" y="848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3263A"/>
                </a:solidFill>
                <a:latin typeface="IBM Plex Sans" pitchFamily="34" charset="0"/>
                <a:ea typeface="IBM Plex Sans" pitchFamily="34" charset="-122"/>
                <a:cs typeface="IBM Plex Sans" pitchFamily="34" charset="-120"/>
              </a:rPr>
              <a:t>What's a Cortex Agent</a:t>
            </a:r>
            <a:endParaRPr lang="en-US" sz="3000" dirty="0"/>
          </a:p>
        </p:txBody>
      </p:sp>
      <p:sp>
        <p:nvSpPr>
          <p:cNvPr id="4" name="Text 2"/>
          <p:cNvSpPr/>
          <p:nvPr/>
        </p:nvSpPr>
        <p:spPr>
          <a:xfrm>
            <a:off x="812800" y="1371600"/>
            <a:ext cx="10883392"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A5566"/>
                </a:solidFill>
                <a:latin typeface="IBM Plex Sans" pitchFamily="34" charset="0"/>
                <a:ea typeface="IBM Plex Sans" pitchFamily="34" charset="-122"/>
                <a:cs typeface="IBM Plex Sans" pitchFamily="34" charset="-120"/>
              </a:rPr>
              <a:t>Nothing Cortex-specific about it: a standard agent pattern that Snowflake hosts for you.</a:t>
            </a:r>
            <a:endParaRPr lang="en-US" sz="1400" dirty="0"/>
          </a:p>
        </p:txBody>
      </p:sp>
      <p:sp>
        <p:nvSpPr>
          <p:cNvPr id="5" name="Shape 3"/>
          <p:cNvSpPr/>
          <p:nvPr/>
        </p:nvSpPr>
        <p:spPr>
          <a:xfrm>
            <a:off x="819150" y="1784350"/>
            <a:ext cx="2400300" cy="1485900"/>
          </a:xfrm>
          <a:prstGeom prst="roundRect">
            <a:avLst>
              <a:gd name="adj" fmla="val 6410"/>
            </a:avLst>
          </a:prstGeom>
          <a:solidFill>
            <a:srgbClr val="FCFBF8"/>
          </a:solidFill>
          <a:ln w="12700">
            <a:solidFill>
              <a:srgbClr val="DAD6CC"/>
            </a:solidFill>
            <a:prstDash val="solid"/>
          </a:ln>
        </p:spPr>
      </p:sp>
      <p:sp>
        <p:nvSpPr>
          <p:cNvPr id="6" name="Text 4"/>
          <p:cNvSpPr/>
          <p:nvPr/>
        </p:nvSpPr>
        <p:spPr>
          <a:xfrm>
            <a:off x="977900" y="1943100"/>
            <a:ext cx="214528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C6FA8"/>
                </a:solidFill>
                <a:latin typeface="IBM Plex Sans" pitchFamily="34" charset="0"/>
                <a:ea typeface="IBM Plex Sans" pitchFamily="34" charset="-122"/>
                <a:cs typeface="IBM Plex Sans" pitchFamily="34" charset="-120"/>
              </a:rPr>
              <a:t>PROMPTING</a:t>
            </a:r>
            <a:endParaRPr lang="en-US" sz="1200" dirty="0"/>
          </a:p>
        </p:txBody>
      </p:sp>
      <p:sp>
        <p:nvSpPr>
          <p:cNvPr id="7" name="Text 5"/>
          <p:cNvSpPr/>
          <p:nvPr/>
        </p:nvSpPr>
        <p:spPr>
          <a:xfrm>
            <a:off x="977900" y="2194561"/>
            <a:ext cx="214528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Instructions</a:t>
            </a:r>
            <a:endParaRPr lang="en-US" sz="1400" dirty="0"/>
          </a:p>
        </p:txBody>
      </p:sp>
      <p:sp>
        <p:nvSpPr>
          <p:cNvPr id="8" name="Text 6"/>
          <p:cNvSpPr/>
          <p:nvPr/>
        </p:nvSpPr>
        <p:spPr>
          <a:xfrm>
            <a:off x="977900" y="2446021"/>
            <a:ext cx="21452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Role, routing rules and answer style, in plain text</a:t>
            </a:r>
            <a:endParaRPr lang="en-US" sz="1200" dirty="0"/>
          </a:p>
        </p:txBody>
      </p:sp>
      <p:sp>
        <p:nvSpPr>
          <p:cNvPr id="9" name="Text 7"/>
          <p:cNvSpPr/>
          <p:nvPr/>
        </p:nvSpPr>
        <p:spPr>
          <a:xfrm>
            <a:off x="3200400" y="2298700"/>
            <a:ext cx="457200" cy="444500"/>
          </a:xfrm>
          <a:prstGeom prst="rect">
            <a:avLst/>
          </a:prstGeom>
          <a:noFill/>
          <a:ln/>
        </p:spPr>
        <p:txBody>
          <a:bodyPr wrap="square" lIns="0" tIns="0" rIns="0" bIns="0" rtlCol="0" anchor="t">
            <a:normAutofit/>
          </a:bodyPr>
          <a:lstStyle/>
          <a:p>
            <a:pPr algn="ctr" indent="0" marL="0">
              <a:lnSpc>
                <a:spcPts val="3300"/>
              </a:lnSpc>
              <a:buNone/>
            </a:pPr>
            <a:r>
              <a:rPr lang="en-US" sz="3000" b="1" dirty="0">
                <a:solidFill>
                  <a:srgbClr val="1C6FA8"/>
                </a:solidFill>
                <a:latin typeface="IBM Plex Sans" pitchFamily="34" charset="0"/>
                <a:ea typeface="IBM Plex Sans" pitchFamily="34" charset="-122"/>
                <a:cs typeface="IBM Plex Sans" pitchFamily="34" charset="-120"/>
              </a:rPr>
              <a:t>+</a:t>
            </a:r>
            <a:endParaRPr lang="en-US" sz="3000" dirty="0"/>
          </a:p>
        </p:txBody>
      </p:sp>
      <p:sp>
        <p:nvSpPr>
          <p:cNvPr id="10" name="Shape 8"/>
          <p:cNvSpPr/>
          <p:nvPr/>
        </p:nvSpPr>
        <p:spPr>
          <a:xfrm>
            <a:off x="3638550" y="1784350"/>
            <a:ext cx="2400300" cy="1485900"/>
          </a:xfrm>
          <a:prstGeom prst="roundRect">
            <a:avLst>
              <a:gd name="adj" fmla="val 6410"/>
            </a:avLst>
          </a:prstGeom>
          <a:solidFill>
            <a:srgbClr val="FCFBF8"/>
          </a:solidFill>
          <a:ln w="12700">
            <a:solidFill>
              <a:srgbClr val="DAD6CC"/>
            </a:solidFill>
            <a:prstDash val="solid"/>
          </a:ln>
        </p:spPr>
      </p:sp>
      <p:sp>
        <p:nvSpPr>
          <p:cNvPr id="11" name="Text 9"/>
          <p:cNvSpPr/>
          <p:nvPr/>
        </p:nvSpPr>
        <p:spPr>
          <a:xfrm>
            <a:off x="3797300" y="1943100"/>
            <a:ext cx="214528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C6FA8"/>
                </a:solidFill>
                <a:latin typeface="IBM Plex Sans" pitchFamily="34" charset="0"/>
                <a:ea typeface="IBM Plex Sans" pitchFamily="34" charset="-122"/>
                <a:cs typeface="IBM Plex Sans" pitchFamily="34" charset="-120"/>
              </a:rPr>
              <a:t>CONFIGURATION</a:t>
            </a:r>
            <a:endParaRPr lang="en-US" sz="1200" dirty="0"/>
          </a:p>
        </p:txBody>
      </p:sp>
      <p:sp>
        <p:nvSpPr>
          <p:cNvPr id="12" name="Text 10"/>
          <p:cNvSpPr/>
          <p:nvPr/>
        </p:nvSpPr>
        <p:spPr>
          <a:xfrm>
            <a:off x="3797300" y="2194561"/>
            <a:ext cx="214528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Tools</a:t>
            </a:r>
            <a:endParaRPr lang="en-US" sz="1400" dirty="0"/>
          </a:p>
        </p:txBody>
      </p:sp>
      <p:sp>
        <p:nvSpPr>
          <p:cNvPr id="13" name="Text 11"/>
          <p:cNvSpPr/>
          <p:nvPr/>
        </p:nvSpPr>
        <p:spPr>
          <a:xfrm>
            <a:off x="3797300" y="2446021"/>
            <a:ext cx="21452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An explicit list of tools and the resources they use</a:t>
            </a:r>
            <a:endParaRPr lang="en-US" sz="1200" dirty="0"/>
          </a:p>
        </p:txBody>
      </p:sp>
      <p:sp>
        <p:nvSpPr>
          <p:cNvPr id="14" name="Text 12"/>
          <p:cNvSpPr/>
          <p:nvPr/>
        </p:nvSpPr>
        <p:spPr>
          <a:xfrm>
            <a:off x="6019800" y="2298700"/>
            <a:ext cx="457200" cy="444500"/>
          </a:xfrm>
          <a:prstGeom prst="rect">
            <a:avLst/>
          </a:prstGeom>
          <a:noFill/>
          <a:ln/>
        </p:spPr>
        <p:txBody>
          <a:bodyPr wrap="square" lIns="0" tIns="0" rIns="0" bIns="0" rtlCol="0" anchor="t">
            <a:normAutofit/>
          </a:bodyPr>
          <a:lstStyle/>
          <a:p>
            <a:pPr algn="ctr" indent="0" marL="0">
              <a:lnSpc>
                <a:spcPts val="3300"/>
              </a:lnSpc>
              <a:buNone/>
            </a:pPr>
            <a:r>
              <a:rPr lang="en-US" sz="3000" b="1" dirty="0">
                <a:solidFill>
                  <a:srgbClr val="1C6FA8"/>
                </a:solidFill>
                <a:latin typeface="IBM Plex Sans" pitchFamily="34" charset="0"/>
                <a:ea typeface="IBM Plex Sans" pitchFamily="34" charset="-122"/>
                <a:cs typeface="IBM Plex Sans" pitchFamily="34" charset="-120"/>
              </a:rPr>
              <a:t>+</a:t>
            </a:r>
            <a:endParaRPr lang="en-US" sz="3000" dirty="0"/>
          </a:p>
        </p:txBody>
      </p:sp>
      <p:sp>
        <p:nvSpPr>
          <p:cNvPr id="15" name="Shape 13"/>
          <p:cNvSpPr/>
          <p:nvPr/>
        </p:nvSpPr>
        <p:spPr>
          <a:xfrm>
            <a:off x="6457950" y="1784350"/>
            <a:ext cx="2400300" cy="1485900"/>
          </a:xfrm>
          <a:prstGeom prst="roundRect">
            <a:avLst>
              <a:gd name="adj" fmla="val 6410"/>
            </a:avLst>
          </a:prstGeom>
          <a:solidFill>
            <a:srgbClr val="FCFBF8"/>
          </a:solidFill>
          <a:ln w="12700">
            <a:solidFill>
              <a:srgbClr val="DAD6CC"/>
            </a:solidFill>
            <a:prstDash val="solid"/>
          </a:ln>
        </p:spPr>
      </p:sp>
      <p:sp>
        <p:nvSpPr>
          <p:cNvPr id="16" name="Text 14"/>
          <p:cNvSpPr/>
          <p:nvPr/>
        </p:nvSpPr>
        <p:spPr>
          <a:xfrm>
            <a:off x="6616700" y="1943100"/>
            <a:ext cx="214528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C6FA8"/>
                </a:solidFill>
                <a:latin typeface="IBM Plex Sans" pitchFamily="34" charset="0"/>
                <a:ea typeface="IBM Plex Sans" pitchFamily="34" charset="-122"/>
                <a:cs typeface="IBM Plex Sans" pitchFamily="34" charset="-120"/>
              </a:rPr>
              <a:t>SNOWFLAKE-HOSTED</a:t>
            </a:r>
            <a:endParaRPr lang="en-US" sz="1200" dirty="0"/>
          </a:p>
        </p:txBody>
      </p:sp>
      <p:sp>
        <p:nvSpPr>
          <p:cNvPr id="17" name="Text 15"/>
          <p:cNvSpPr/>
          <p:nvPr/>
        </p:nvSpPr>
        <p:spPr>
          <a:xfrm>
            <a:off x="6616700" y="2194561"/>
            <a:ext cx="214528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Runtime</a:t>
            </a:r>
            <a:endParaRPr lang="en-US" sz="1400" dirty="0"/>
          </a:p>
        </p:txBody>
      </p:sp>
      <p:sp>
        <p:nvSpPr>
          <p:cNvPr id="18" name="Text 16"/>
          <p:cNvSpPr/>
          <p:nvPr/>
        </p:nvSpPr>
        <p:spPr>
          <a:xfrm>
            <a:off x="6616700" y="2446021"/>
            <a:ext cx="21452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BM Plex Sans" pitchFamily="34" charset="0"/>
                <a:ea typeface="IBM Plex Sans" pitchFamily="34" charset="-122"/>
                <a:cs typeface="IBM Plex Sans" pitchFamily="34" charset="-120"/>
              </a:rPr>
              <a:t>Runs the plan, call tool, observe loop under your role</a:t>
            </a:r>
            <a:endParaRPr lang="en-US" sz="1200" dirty="0"/>
          </a:p>
        </p:txBody>
      </p:sp>
      <p:sp>
        <p:nvSpPr>
          <p:cNvPr id="19" name="Text 17"/>
          <p:cNvSpPr/>
          <p:nvPr/>
        </p:nvSpPr>
        <p:spPr>
          <a:xfrm>
            <a:off x="8839200" y="2298700"/>
            <a:ext cx="457200" cy="444500"/>
          </a:xfrm>
          <a:prstGeom prst="rect">
            <a:avLst/>
          </a:prstGeom>
          <a:noFill/>
          <a:ln/>
        </p:spPr>
        <p:txBody>
          <a:bodyPr wrap="square" lIns="0" tIns="0" rIns="0" bIns="0" rtlCol="0" anchor="t">
            <a:normAutofit/>
          </a:bodyPr>
          <a:lstStyle/>
          <a:p>
            <a:pPr algn="ctr" indent="0" marL="0">
              <a:lnSpc>
                <a:spcPts val="3300"/>
              </a:lnSpc>
              <a:buNone/>
            </a:pPr>
            <a:r>
              <a:rPr lang="en-US" sz="3000" b="1" dirty="0">
                <a:solidFill>
                  <a:srgbClr val="1C6FA8"/>
                </a:solidFill>
                <a:latin typeface="IBM Plex Sans" pitchFamily="34" charset="0"/>
                <a:ea typeface="IBM Plex Sans" pitchFamily="34" charset="-122"/>
                <a:cs typeface="IBM Plex Sans" pitchFamily="34" charset="-120"/>
              </a:rPr>
              <a:t>=</a:t>
            </a:r>
            <a:endParaRPr lang="en-US" sz="3000" dirty="0"/>
          </a:p>
        </p:txBody>
      </p:sp>
      <p:sp>
        <p:nvSpPr>
          <p:cNvPr id="20" name="Shape 18"/>
          <p:cNvSpPr/>
          <p:nvPr/>
        </p:nvSpPr>
        <p:spPr>
          <a:xfrm>
            <a:off x="9271000" y="1778000"/>
            <a:ext cx="2108200" cy="1498600"/>
          </a:xfrm>
          <a:prstGeom prst="roundRect">
            <a:avLst>
              <a:gd name="adj" fmla="val 6780"/>
            </a:avLst>
          </a:prstGeom>
          <a:solidFill>
            <a:srgbClr val="13263A"/>
          </a:solidFill>
          <a:ln/>
        </p:spPr>
      </p:sp>
      <p:sp>
        <p:nvSpPr>
          <p:cNvPr id="21" name="Text 19"/>
          <p:cNvSpPr/>
          <p:nvPr/>
        </p:nvSpPr>
        <p:spPr>
          <a:xfrm>
            <a:off x="9423400" y="2128521"/>
            <a:ext cx="1857502"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5F3EE"/>
                </a:solidFill>
                <a:latin typeface="IBM Plex Sans" pitchFamily="34" charset="0"/>
                <a:ea typeface="IBM Plex Sans" pitchFamily="34" charset="-122"/>
                <a:cs typeface="IBM Plex Sans" pitchFamily="34" charset="-120"/>
              </a:rPr>
              <a:t>Cortex Agent</a:t>
            </a:r>
            <a:endParaRPr lang="en-US" sz="2200" dirty="0"/>
          </a:p>
        </p:txBody>
      </p:sp>
      <p:sp>
        <p:nvSpPr>
          <p:cNvPr id="22" name="Text 20"/>
          <p:cNvSpPr/>
          <p:nvPr/>
        </p:nvSpPr>
        <p:spPr>
          <a:xfrm>
            <a:off x="9423400" y="2499361"/>
            <a:ext cx="18575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C4F0"/>
                </a:solidFill>
                <a:latin typeface="JetBrains Mono" pitchFamily="34" charset="0"/>
                <a:ea typeface="JetBrains Mono" pitchFamily="34" charset="-122"/>
                <a:cs typeface="JetBrains Mono" pitchFamily="34" charset="-120"/>
              </a:rPr>
              <a:t>CREATE AGENT … FROM SPECIFICATION</a:t>
            </a:r>
            <a:endParaRPr lang="en-US" sz="1200" dirty="0"/>
          </a:p>
        </p:txBody>
      </p:sp>
      <p:sp>
        <p:nvSpPr>
          <p:cNvPr id="23" name="Text 21"/>
          <p:cNvSpPr/>
          <p:nvPr/>
        </p:nvSpPr>
        <p:spPr>
          <a:xfrm>
            <a:off x="812800" y="3479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A7686"/>
                </a:solidFill>
                <a:latin typeface="IBM Plex Sans" pitchFamily="34" charset="0"/>
                <a:ea typeface="IBM Plex Sans" pitchFamily="34" charset="-122"/>
                <a:cs typeface="IBM Plex Sans" pitchFamily="34" charset="-120"/>
              </a:rPr>
              <a:t>TOOLS AN AGENT CAN USE</a:t>
            </a:r>
            <a:endParaRPr lang="en-US" sz="1200" dirty="0"/>
          </a:p>
        </p:txBody>
      </p:sp>
      <p:sp>
        <p:nvSpPr>
          <p:cNvPr id="24" name="Shape 22"/>
          <p:cNvSpPr/>
          <p:nvPr/>
        </p:nvSpPr>
        <p:spPr>
          <a:xfrm>
            <a:off x="819150" y="3740150"/>
            <a:ext cx="3403600" cy="1066800"/>
          </a:xfrm>
          <a:prstGeom prst="roundRect">
            <a:avLst>
              <a:gd name="adj" fmla="val 7738"/>
            </a:avLst>
          </a:prstGeom>
          <a:solidFill>
            <a:srgbClr val="FCFBF8"/>
          </a:solidFill>
          <a:ln w="12700">
            <a:solidFill>
              <a:srgbClr val="9DB8CF"/>
            </a:solidFill>
            <a:prstDash val="solid"/>
          </a:ln>
        </p:spPr>
      </p:sp>
      <p:pic>
        <p:nvPicPr>
          <p:cNvPr id="25" name="Image 0" descr="Code">    </p:cNvPr>
          <p:cNvPicPr>
            <a:picLocks noChangeAspect="1"/>
          </p:cNvPicPr>
          <p:nvPr/>
        </p:nvPicPr>
        <p:blipFill>
          <a:blip r:embed="rId1"/>
          <a:srcRect l="0" r="0" t="0" b="0"/>
          <a:stretch/>
        </p:blipFill>
        <p:spPr>
          <a:xfrm>
            <a:off x="977900" y="4133850"/>
            <a:ext cx="279400" cy="279400"/>
          </a:xfrm>
          <a:prstGeom prst="rect">
            <a:avLst/>
          </a:prstGeom>
        </p:spPr>
      </p:pic>
      <p:sp>
        <p:nvSpPr>
          <p:cNvPr id="26" name="Text 23"/>
          <p:cNvSpPr/>
          <p:nvPr/>
        </p:nvSpPr>
        <p:spPr>
          <a:xfrm>
            <a:off x="1384300" y="3948432"/>
            <a:ext cx="248457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A7686"/>
                </a:solidFill>
                <a:latin typeface="IBM Plex Sans" pitchFamily="34" charset="0"/>
                <a:ea typeface="IBM Plex Sans" pitchFamily="34" charset="-122"/>
                <a:cs typeface="IBM Plex Sans" pitchFamily="34" charset="-120"/>
              </a:rPr>
              <a:t>FROM SLIDE 7</a:t>
            </a:r>
            <a:endParaRPr lang="en-US" sz="1200" dirty="0"/>
          </a:p>
        </p:txBody>
      </p:sp>
      <p:sp>
        <p:nvSpPr>
          <p:cNvPr id="27" name="Text 24"/>
          <p:cNvSpPr/>
          <p:nvPr/>
        </p:nvSpPr>
        <p:spPr>
          <a:xfrm>
            <a:off x="1384300" y="4174492"/>
            <a:ext cx="248457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SQL or Python</a:t>
            </a:r>
            <a:endParaRPr lang="en-US" sz="1400" dirty="0"/>
          </a:p>
        </p:txBody>
      </p:sp>
      <p:sp>
        <p:nvSpPr>
          <p:cNvPr id="28" name="Text 25"/>
          <p:cNvSpPr/>
          <p:nvPr/>
        </p:nvSpPr>
        <p:spPr>
          <a:xfrm>
            <a:off x="1384300" y="4400550"/>
            <a:ext cx="248457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Your own procedures and functions</a:t>
            </a:r>
            <a:endParaRPr lang="en-US" sz="1200" dirty="0"/>
          </a:p>
        </p:txBody>
      </p:sp>
      <p:sp>
        <p:nvSpPr>
          <p:cNvPr id="29" name="Shape 26"/>
          <p:cNvSpPr/>
          <p:nvPr/>
        </p:nvSpPr>
        <p:spPr>
          <a:xfrm>
            <a:off x="4394200" y="3740150"/>
            <a:ext cx="3403600" cy="1066800"/>
          </a:xfrm>
          <a:prstGeom prst="roundRect">
            <a:avLst>
              <a:gd name="adj" fmla="val 7738"/>
            </a:avLst>
          </a:prstGeom>
          <a:solidFill>
            <a:srgbClr val="FCFBF8"/>
          </a:solidFill>
          <a:ln w="12700">
            <a:solidFill>
              <a:srgbClr val="9DB8CF"/>
            </a:solidFill>
            <a:prstDash val="solid"/>
          </a:ln>
        </p:spPr>
      </p:sp>
      <p:pic>
        <p:nvPicPr>
          <p:cNvPr id="30" name="Image 1" descr="Play">    </p:cNvPr>
          <p:cNvPicPr>
            <a:picLocks noChangeAspect="1"/>
          </p:cNvPicPr>
          <p:nvPr/>
        </p:nvPicPr>
        <p:blipFill>
          <a:blip r:embed="rId2"/>
          <a:srcRect l="0" r="0" t="0" b="0"/>
          <a:stretch/>
        </p:blipFill>
        <p:spPr>
          <a:xfrm>
            <a:off x="4552950" y="4133850"/>
            <a:ext cx="279400" cy="279400"/>
          </a:xfrm>
          <a:prstGeom prst="rect">
            <a:avLst/>
          </a:prstGeom>
        </p:spPr>
      </p:pic>
      <p:sp>
        <p:nvSpPr>
          <p:cNvPr id="31" name="Text 27"/>
          <p:cNvSpPr/>
          <p:nvPr/>
        </p:nvSpPr>
        <p:spPr>
          <a:xfrm>
            <a:off x="4959350" y="3948432"/>
            <a:ext cx="2077713"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A7686"/>
                </a:solidFill>
                <a:latin typeface="IBM Plex Sans" pitchFamily="34" charset="0"/>
                <a:ea typeface="IBM Plex Sans" pitchFamily="34" charset="-122"/>
                <a:cs typeface="IBM Plex Sans" pitchFamily="34" charset="-120"/>
              </a:rPr>
              <a:t>FROM SLIDE 7</a:t>
            </a:r>
            <a:endParaRPr lang="en-US" sz="1200" dirty="0"/>
          </a:p>
        </p:txBody>
      </p:sp>
      <p:sp>
        <p:nvSpPr>
          <p:cNvPr id="32" name="Text 28"/>
          <p:cNvSpPr/>
          <p:nvPr/>
        </p:nvSpPr>
        <p:spPr>
          <a:xfrm>
            <a:off x="4959350" y="4174492"/>
            <a:ext cx="20777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Run SQL</a:t>
            </a:r>
            <a:endParaRPr lang="en-US" sz="1400" dirty="0"/>
          </a:p>
        </p:txBody>
      </p:sp>
      <p:sp>
        <p:nvSpPr>
          <p:cNvPr id="33" name="Text 29"/>
          <p:cNvSpPr/>
          <p:nvPr/>
        </p:nvSpPr>
        <p:spPr>
          <a:xfrm>
            <a:off x="4959350" y="4400550"/>
            <a:ext cx="20777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Executes the SQL it is handed</a:t>
            </a:r>
            <a:endParaRPr lang="en-US" sz="1200" dirty="0"/>
          </a:p>
        </p:txBody>
      </p:sp>
      <p:sp>
        <p:nvSpPr>
          <p:cNvPr id="34" name="Shape 30"/>
          <p:cNvSpPr/>
          <p:nvPr/>
        </p:nvSpPr>
        <p:spPr>
          <a:xfrm>
            <a:off x="7969250" y="3740150"/>
            <a:ext cx="3403600" cy="1066800"/>
          </a:xfrm>
          <a:prstGeom prst="roundRect">
            <a:avLst>
              <a:gd name="adj" fmla="val 7738"/>
            </a:avLst>
          </a:prstGeom>
          <a:solidFill>
            <a:srgbClr val="FCFBF8"/>
          </a:solidFill>
          <a:ln w="12700">
            <a:solidFill>
              <a:srgbClr val="9DB8CF"/>
            </a:solidFill>
            <a:prstDash val="solid"/>
          </a:ln>
        </p:spPr>
      </p:sp>
      <p:pic>
        <p:nvPicPr>
          <p:cNvPr id="35" name="Image 2" descr="Chat">    </p:cNvPr>
          <p:cNvPicPr>
            <a:picLocks noChangeAspect="1"/>
          </p:cNvPicPr>
          <p:nvPr/>
        </p:nvPicPr>
        <p:blipFill>
          <a:blip r:embed="rId3"/>
          <a:srcRect l="0" r="0" t="0" b="0"/>
          <a:stretch/>
        </p:blipFill>
        <p:spPr>
          <a:xfrm>
            <a:off x="8128000" y="4133850"/>
            <a:ext cx="279400" cy="279400"/>
          </a:xfrm>
          <a:prstGeom prst="rect">
            <a:avLst/>
          </a:prstGeom>
        </p:spPr>
      </p:pic>
      <p:sp>
        <p:nvSpPr>
          <p:cNvPr id="36" name="Text 31"/>
          <p:cNvSpPr/>
          <p:nvPr/>
        </p:nvSpPr>
        <p:spPr>
          <a:xfrm>
            <a:off x="8534400" y="3948432"/>
            <a:ext cx="265205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A7686"/>
                </a:solidFill>
                <a:latin typeface="IBM Plex Sans" pitchFamily="34" charset="0"/>
                <a:ea typeface="IBM Plex Sans" pitchFamily="34" charset="-122"/>
                <a:cs typeface="IBM Plex Sans" pitchFamily="34" charset="-120"/>
              </a:rPr>
              <a:t>FROM SLIDE 7</a:t>
            </a:r>
            <a:endParaRPr lang="en-US" sz="1200" dirty="0"/>
          </a:p>
        </p:txBody>
      </p:sp>
      <p:sp>
        <p:nvSpPr>
          <p:cNvPr id="37" name="Text 32"/>
          <p:cNvSpPr/>
          <p:nvPr/>
        </p:nvSpPr>
        <p:spPr>
          <a:xfrm>
            <a:off x="8534400" y="4174492"/>
            <a:ext cx="265205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Cortex Analyst</a:t>
            </a:r>
            <a:endParaRPr lang="en-US" sz="1400" dirty="0"/>
          </a:p>
        </p:txBody>
      </p:sp>
      <p:sp>
        <p:nvSpPr>
          <p:cNvPr id="38" name="Text 33"/>
          <p:cNvSpPr/>
          <p:nvPr/>
        </p:nvSpPr>
        <p:spPr>
          <a:xfrm>
            <a:off x="8534400" y="4400550"/>
            <a:ext cx="265205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Question → SQL over a semantic view</a:t>
            </a:r>
            <a:endParaRPr lang="en-US" sz="1200" dirty="0"/>
          </a:p>
        </p:txBody>
      </p:sp>
      <p:sp>
        <p:nvSpPr>
          <p:cNvPr id="39" name="Shape 34"/>
          <p:cNvSpPr/>
          <p:nvPr/>
        </p:nvSpPr>
        <p:spPr>
          <a:xfrm>
            <a:off x="819150" y="4972050"/>
            <a:ext cx="3403600" cy="1066800"/>
          </a:xfrm>
          <a:prstGeom prst="roundRect">
            <a:avLst>
              <a:gd name="adj" fmla="val 7738"/>
            </a:avLst>
          </a:prstGeom>
          <a:solidFill>
            <a:srgbClr val="FCFBF8"/>
          </a:solidFill>
          <a:ln w="12700">
            <a:solidFill>
              <a:srgbClr val="9DB8CF"/>
            </a:solidFill>
            <a:prstDash val="solid"/>
          </a:ln>
        </p:spPr>
      </p:sp>
      <p:pic>
        <p:nvPicPr>
          <p:cNvPr id="40" name="Image 3" descr="Lightbulb">    </p:cNvPr>
          <p:cNvPicPr>
            <a:picLocks noChangeAspect="1"/>
          </p:cNvPicPr>
          <p:nvPr/>
        </p:nvPicPr>
        <p:blipFill>
          <a:blip r:embed="rId4"/>
          <a:srcRect l="0" r="0" t="0" b="0"/>
          <a:stretch/>
        </p:blipFill>
        <p:spPr>
          <a:xfrm>
            <a:off x="977900" y="5365750"/>
            <a:ext cx="279400" cy="279400"/>
          </a:xfrm>
          <a:prstGeom prst="rect">
            <a:avLst/>
          </a:prstGeom>
        </p:spPr>
      </p:pic>
      <p:sp>
        <p:nvSpPr>
          <p:cNvPr id="41" name="Text 35"/>
          <p:cNvSpPr/>
          <p:nvPr/>
        </p:nvSpPr>
        <p:spPr>
          <a:xfrm>
            <a:off x="1384300" y="5180329"/>
            <a:ext cx="2131549"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A7686"/>
                </a:solidFill>
                <a:latin typeface="IBM Plex Sans" pitchFamily="34" charset="0"/>
                <a:ea typeface="IBM Plex Sans" pitchFamily="34" charset="-122"/>
                <a:cs typeface="IBM Plex Sans" pitchFamily="34" charset="-120"/>
              </a:rPr>
              <a:t>FROM SLIDE 7</a:t>
            </a:r>
            <a:endParaRPr lang="en-US" sz="1200" dirty="0"/>
          </a:p>
        </p:txBody>
      </p:sp>
      <p:sp>
        <p:nvSpPr>
          <p:cNvPr id="42" name="Text 36"/>
          <p:cNvSpPr/>
          <p:nvPr/>
        </p:nvSpPr>
        <p:spPr>
          <a:xfrm>
            <a:off x="1384300" y="5406392"/>
            <a:ext cx="213154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Cortex Agent</a:t>
            </a:r>
            <a:endParaRPr lang="en-US" sz="1400" dirty="0"/>
          </a:p>
        </p:txBody>
      </p:sp>
      <p:sp>
        <p:nvSpPr>
          <p:cNvPr id="43" name="Text 37"/>
          <p:cNvSpPr/>
          <p:nvPr/>
        </p:nvSpPr>
        <p:spPr>
          <a:xfrm>
            <a:off x="1384300" y="5632450"/>
            <a:ext cx="213154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Another agent, called as a tool</a:t>
            </a:r>
            <a:endParaRPr lang="en-US" sz="1200" dirty="0"/>
          </a:p>
        </p:txBody>
      </p:sp>
      <p:sp>
        <p:nvSpPr>
          <p:cNvPr id="44" name="Shape 38"/>
          <p:cNvSpPr/>
          <p:nvPr/>
        </p:nvSpPr>
        <p:spPr>
          <a:xfrm>
            <a:off x="4397375" y="4975225"/>
            <a:ext cx="3397250" cy="1060450"/>
          </a:xfrm>
          <a:prstGeom prst="roundRect">
            <a:avLst>
              <a:gd name="adj" fmla="val 7485"/>
            </a:avLst>
          </a:prstGeom>
          <a:solidFill>
            <a:srgbClr val="FCFBF8"/>
          </a:solidFill>
          <a:ln w="19050">
            <a:solidFill>
              <a:srgbClr val="E9B949"/>
            </a:solidFill>
            <a:prstDash val="solid"/>
          </a:ln>
        </p:spPr>
      </p:sp>
      <p:pic>
        <p:nvPicPr>
          <p:cNvPr id="45" name="Image 4" descr="Wrench">    </p:cNvPr>
          <p:cNvPicPr>
            <a:picLocks noChangeAspect="1"/>
          </p:cNvPicPr>
          <p:nvPr/>
        </p:nvPicPr>
        <p:blipFill>
          <a:blip r:embed="rId5"/>
          <a:srcRect l="0" r="0" t="0" b="0"/>
          <a:stretch/>
        </p:blipFill>
        <p:spPr>
          <a:xfrm>
            <a:off x="4558030" y="5365750"/>
            <a:ext cx="279400" cy="279400"/>
          </a:xfrm>
          <a:prstGeom prst="rect">
            <a:avLst/>
          </a:prstGeom>
        </p:spPr>
      </p:pic>
      <p:sp>
        <p:nvSpPr>
          <p:cNvPr id="46" name="Text 39"/>
          <p:cNvSpPr/>
          <p:nvPr/>
        </p:nvSpPr>
        <p:spPr>
          <a:xfrm>
            <a:off x="4964430" y="5180329"/>
            <a:ext cx="236762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9A6A12"/>
                </a:solidFill>
                <a:latin typeface="IBM Plex Sans" pitchFamily="34" charset="0"/>
                <a:ea typeface="IBM Plex Sans" pitchFamily="34" charset="-122"/>
                <a:cs typeface="IBM Plex Sans" pitchFamily="34" charset="-120"/>
              </a:rPr>
              <a:t>ALSO AVAILABLE</a:t>
            </a:r>
            <a:endParaRPr lang="en-US" sz="1200" dirty="0"/>
          </a:p>
        </p:txBody>
      </p:sp>
      <p:sp>
        <p:nvSpPr>
          <p:cNvPr id="47" name="Text 40"/>
          <p:cNvSpPr/>
          <p:nvPr/>
        </p:nvSpPr>
        <p:spPr>
          <a:xfrm>
            <a:off x="4964430" y="5406392"/>
            <a:ext cx="236762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Code execution</a:t>
            </a:r>
            <a:endParaRPr lang="en-US" sz="1400" dirty="0"/>
          </a:p>
        </p:txBody>
      </p:sp>
      <p:sp>
        <p:nvSpPr>
          <p:cNvPr id="48" name="Text 41"/>
          <p:cNvSpPr/>
          <p:nvPr/>
        </p:nvSpPr>
        <p:spPr>
          <a:xfrm>
            <a:off x="4964430" y="5632450"/>
            <a:ext cx="236762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Sandboxed Python, shell and files</a:t>
            </a:r>
            <a:endParaRPr lang="en-US" sz="1200" dirty="0"/>
          </a:p>
        </p:txBody>
      </p:sp>
      <p:sp>
        <p:nvSpPr>
          <p:cNvPr id="49" name="Shape 42"/>
          <p:cNvSpPr/>
          <p:nvPr/>
        </p:nvSpPr>
        <p:spPr>
          <a:xfrm>
            <a:off x="7969250" y="4972050"/>
            <a:ext cx="3403600" cy="1066800"/>
          </a:xfrm>
          <a:prstGeom prst="roundRect">
            <a:avLst>
              <a:gd name="adj" fmla="val 7738"/>
            </a:avLst>
          </a:prstGeom>
          <a:solidFill>
            <a:srgbClr val="FCFBF8"/>
          </a:solidFill>
          <a:ln w="12700">
            <a:solidFill>
              <a:srgbClr val="9DB8CF"/>
            </a:solidFill>
            <a:prstDash val="solid"/>
          </a:ln>
        </p:spPr>
      </p:sp>
      <p:pic>
        <p:nvPicPr>
          <p:cNvPr id="50" name="Image 5" descr="Search">    </p:cNvPr>
          <p:cNvPicPr>
            <a:picLocks noChangeAspect="1"/>
          </p:cNvPicPr>
          <p:nvPr/>
        </p:nvPicPr>
        <p:blipFill>
          <a:blip r:embed="rId6"/>
          <a:srcRect l="0" r="0" t="-598" b="-598"/>
          <a:stretch/>
        </p:blipFill>
        <p:spPr>
          <a:xfrm>
            <a:off x="8128000" y="5365750"/>
            <a:ext cx="232172" cy="279400"/>
          </a:xfrm>
          <a:prstGeom prst="rect">
            <a:avLst/>
          </a:prstGeom>
        </p:spPr>
      </p:pic>
      <p:sp>
        <p:nvSpPr>
          <p:cNvPr id="51" name="Text 43"/>
          <p:cNvSpPr/>
          <p:nvPr/>
        </p:nvSpPr>
        <p:spPr>
          <a:xfrm>
            <a:off x="8487172" y="5073650"/>
            <a:ext cx="2808736"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A7686"/>
                </a:solidFill>
                <a:latin typeface="IBM Plex Sans" pitchFamily="34" charset="0"/>
                <a:ea typeface="IBM Plex Sans" pitchFamily="34" charset="-122"/>
                <a:cs typeface="IBM Plex Sans" pitchFamily="34" charset="-120"/>
              </a:rPr>
              <a:t>ALSO AVAILABLE</a:t>
            </a:r>
            <a:endParaRPr lang="en-US" sz="1200" dirty="0"/>
          </a:p>
        </p:txBody>
      </p:sp>
      <p:sp>
        <p:nvSpPr>
          <p:cNvPr id="52" name="Text 44"/>
          <p:cNvSpPr/>
          <p:nvPr/>
        </p:nvSpPr>
        <p:spPr>
          <a:xfrm>
            <a:off x="8487172" y="5299714"/>
            <a:ext cx="2808736"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Semantic search and other Cortex tools</a:t>
            </a:r>
            <a:endParaRPr lang="en-US" sz="1400" dirty="0"/>
          </a:p>
        </p:txBody>
      </p:sp>
      <p:sp>
        <p:nvSpPr>
          <p:cNvPr id="53" name="Text 45"/>
          <p:cNvSpPr/>
          <p:nvPr/>
        </p:nvSpPr>
        <p:spPr>
          <a:xfrm>
            <a:off x="8487172" y="5739129"/>
            <a:ext cx="280873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Cortex Search, charts, web search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9E1"/>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6FA8"/>
                </a:solidFill>
                <a:latin typeface="IBM Plex Sans" pitchFamily="34" charset="0"/>
                <a:ea typeface="IBM Plex Sans" pitchFamily="34" charset="-122"/>
                <a:cs typeface="IBM Plex Sans" pitchFamily="34" charset="-120"/>
              </a:rPr>
              <a:t>FOUR WAYS WE TESTED</a:t>
            </a:r>
            <a:endParaRPr lang="en-US" sz="1200" dirty="0"/>
          </a:p>
        </p:txBody>
      </p:sp>
      <p:sp>
        <p:nvSpPr>
          <p:cNvPr id="3" name="Text 1"/>
          <p:cNvSpPr/>
          <p:nvPr/>
        </p:nvSpPr>
        <p:spPr>
          <a:xfrm>
            <a:off x="812800" y="848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3263A"/>
                </a:solidFill>
                <a:latin typeface="IBM Plex Sans" pitchFamily="34" charset="0"/>
                <a:ea typeface="IBM Plex Sans" pitchFamily="34" charset="-122"/>
                <a:cs typeface="IBM Plex Sans" pitchFamily="34" charset="-120"/>
              </a:rPr>
              <a:t>How a Cortex Agent can access a semantic view</a:t>
            </a:r>
            <a:endParaRPr lang="en-US" sz="3000" dirty="0"/>
          </a:p>
        </p:txBody>
      </p:sp>
      <p:sp>
        <p:nvSpPr>
          <p:cNvPr id="4" name="Shape 2"/>
          <p:cNvSpPr/>
          <p:nvPr/>
        </p:nvSpPr>
        <p:spPr>
          <a:xfrm>
            <a:off x="819150" y="1670050"/>
            <a:ext cx="2514600" cy="3289300"/>
          </a:xfrm>
          <a:prstGeom prst="roundRect">
            <a:avLst>
              <a:gd name="adj" fmla="val 3788"/>
            </a:avLst>
          </a:prstGeom>
          <a:solidFill>
            <a:srgbClr val="FCFBF8"/>
          </a:solidFill>
          <a:ln w="12700">
            <a:solidFill>
              <a:srgbClr val="DAD6CC"/>
            </a:solidFill>
            <a:prstDash val="solid"/>
          </a:ln>
        </p:spPr>
      </p:sp>
      <p:sp>
        <p:nvSpPr>
          <p:cNvPr id="5" name="Text 3"/>
          <p:cNvSpPr/>
          <p:nvPr/>
        </p:nvSpPr>
        <p:spPr>
          <a:xfrm>
            <a:off x="977900" y="1828800"/>
            <a:ext cx="22630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Cortex Analyst</a:t>
            </a:r>
            <a:endParaRPr lang="en-US" sz="1400" dirty="0"/>
          </a:p>
        </p:txBody>
      </p:sp>
      <p:sp>
        <p:nvSpPr>
          <p:cNvPr id="6" name="Text 4"/>
          <p:cNvSpPr/>
          <p:nvPr/>
        </p:nvSpPr>
        <p:spPr>
          <a:xfrm>
            <a:off x="977900" y="2105664"/>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HOW</a:t>
            </a:r>
            <a:endParaRPr lang="en-US" sz="1200" dirty="0"/>
          </a:p>
        </p:txBody>
      </p:sp>
      <p:sp>
        <p:nvSpPr>
          <p:cNvPr id="7" name="Text 5"/>
          <p:cNvSpPr/>
          <p:nvPr/>
        </p:nvSpPr>
        <p:spPr>
          <a:xfrm>
            <a:off x="977900" y="2303779"/>
            <a:ext cx="22630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Analyst writes and runs the SQL</a:t>
            </a:r>
            <a:endParaRPr lang="en-US" sz="1200" dirty="0"/>
          </a:p>
        </p:txBody>
      </p:sp>
      <p:sp>
        <p:nvSpPr>
          <p:cNvPr id="8" name="Text 6"/>
          <p:cNvSpPr/>
          <p:nvPr/>
        </p:nvSpPr>
        <p:spPr>
          <a:xfrm>
            <a:off x="977900" y="2565400"/>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WEEKDAY AVERAGES TEST</a:t>
            </a:r>
            <a:endParaRPr lang="en-US" sz="1200" dirty="0"/>
          </a:p>
        </p:txBody>
      </p:sp>
      <p:sp>
        <p:nvSpPr>
          <p:cNvPr id="9" name="Text 7"/>
          <p:cNvSpPr/>
          <p:nvPr/>
        </p:nvSpPr>
        <p:spPr>
          <a:xfrm>
            <a:off x="977900" y="2763521"/>
            <a:ext cx="226301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531F"/>
                </a:solidFill>
                <a:latin typeface="IBM Plex Sans" pitchFamily="34" charset="0"/>
                <a:ea typeface="IBM Plex Sans" pitchFamily="34" charset="-122"/>
                <a:cs typeface="IBM Plex Sans" pitchFamily="34" charset="-120"/>
              </a:rPr>
              <a:t>~5% high: skipped empty days</a:t>
            </a:r>
            <a:endParaRPr lang="en-US" sz="1200" dirty="0"/>
          </a:p>
        </p:txBody>
      </p:sp>
      <p:sp>
        <p:nvSpPr>
          <p:cNvPr id="10" name="Text 8"/>
          <p:cNvSpPr/>
          <p:nvPr/>
        </p:nvSpPr>
        <p:spPr>
          <a:xfrm>
            <a:off x="977900" y="3025142"/>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OUTPUT</a:t>
            </a:r>
            <a:endParaRPr lang="en-US" sz="1200" dirty="0"/>
          </a:p>
        </p:txBody>
      </p:sp>
      <p:sp>
        <p:nvSpPr>
          <p:cNvPr id="11" name="Text 9"/>
          <p:cNvSpPr/>
          <p:nvPr/>
        </p:nvSpPr>
        <p:spPr>
          <a:xfrm>
            <a:off x="977900" y="3223264"/>
            <a:ext cx="22630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Tables and charts</a:t>
            </a:r>
            <a:endParaRPr lang="en-US" sz="1200" dirty="0"/>
          </a:p>
        </p:txBody>
      </p:sp>
      <p:sp>
        <p:nvSpPr>
          <p:cNvPr id="12" name="Text 10"/>
          <p:cNvSpPr/>
          <p:nvPr/>
        </p:nvSpPr>
        <p:spPr>
          <a:xfrm>
            <a:off x="977900" y="3484879"/>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BEST FOR</a:t>
            </a:r>
            <a:endParaRPr lang="en-US" sz="1200" dirty="0"/>
          </a:p>
        </p:txBody>
      </p:sp>
      <p:sp>
        <p:nvSpPr>
          <p:cNvPr id="13" name="Text 11"/>
          <p:cNvSpPr/>
          <p:nvPr/>
        </p:nvSpPr>
        <p:spPr>
          <a:xfrm>
            <a:off x="977900" y="3683000"/>
            <a:ext cx="22630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Everyday business questions</a:t>
            </a:r>
            <a:endParaRPr lang="en-US" sz="1200" dirty="0"/>
          </a:p>
        </p:txBody>
      </p:sp>
      <p:sp>
        <p:nvSpPr>
          <p:cNvPr id="14" name="Shape 12"/>
          <p:cNvSpPr/>
          <p:nvPr/>
        </p:nvSpPr>
        <p:spPr>
          <a:xfrm>
            <a:off x="3498850" y="1670050"/>
            <a:ext cx="2514600" cy="3289300"/>
          </a:xfrm>
          <a:prstGeom prst="roundRect">
            <a:avLst>
              <a:gd name="adj" fmla="val 3788"/>
            </a:avLst>
          </a:prstGeom>
          <a:solidFill>
            <a:srgbClr val="FCFBF8"/>
          </a:solidFill>
          <a:ln w="12700">
            <a:solidFill>
              <a:srgbClr val="DAD6CC"/>
            </a:solidFill>
            <a:prstDash val="solid"/>
          </a:ln>
        </p:spPr>
      </p:sp>
      <p:sp>
        <p:nvSpPr>
          <p:cNvPr id="15" name="Text 13"/>
          <p:cNvSpPr/>
          <p:nvPr/>
        </p:nvSpPr>
        <p:spPr>
          <a:xfrm>
            <a:off x="3657600" y="1828800"/>
            <a:ext cx="22630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Analyst + Python</a:t>
            </a:r>
            <a:endParaRPr lang="en-US" sz="1400" dirty="0"/>
          </a:p>
        </p:txBody>
      </p:sp>
      <p:sp>
        <p:nvSpPr>
          <p:cNvPr id="16" name="Text 14"/>
          <p:cNvSpPr/>
          <p:nvPr/>
        </p:nvSpPr>
        <p:spPr>
          <a:xfrm>
            <a:off x="3657600" y="2105664"/>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HOW</a:t>
            </a:r>
            <a:endParaRPr lang="en-US" sz="1200" dirty="0"/>
          </a:p>
        </p:txBody>
      </p:sp>
      <p:sp>
        <p:nvSpPr>
          <p:cNvPr id="17" name="Text 15"/>
          <p:cNvSpPr/>
          <p:nvPr/>
        </p:nvSpPr>
        <p:spPr>
          <a:xfrm>
            <a:off x="3657600" y="2303779"/>
            <a:ext cx="2263013"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Analyst writes SQL, Python for small inputs</a:t>
            </a:r>
            <a:endParaRPr lang="en-US" sz="1200" dirty="0"/>
          </a:p>
        </p:txBody>
      </p:sp>
      <p:sp>
        <p:nvSpPr>
          <p:cNvPr id="18" name="Text 16"/>
          <p:cNvSpPr/>
          <p:nvPr/>
        </p:nvSpPr>
        <p:spPr>
          <a:xfrm>
            <a:off x="3657600" y="2763521"/>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WEEKDAY AVERAGES TEST</a:t>
            </a:r>
            <a:endParaRPr lang="en-US" sz="1200" dirty="0"/>
          </a:p>
        </p:txBody>
      </p:sp>
      <p:sp>
        <p:nvSpPr>
          <p:cNvPr id="19" name="Text 17"/>
          <p:cNvSpPr/>
          <p:nvPr/>
        </p:nvSpPr>
        <p:spPr>
          <a:xfrm>
            <a:off x="3657600" y="2961642"/>
            <a:ext cx="2263013"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531F"/>
                </a:solidFill>
                <a:latin typeface="IBM Plex Sans" pitchFamily="34" charset="0"/>
                <a:ea typeface="IBM Plex Sans" pitchFamily="34" charset="-122"/>
                <a:cs typeface="IBM Plex Sans" pitchFamily="34" charset="-120"/>
              </a:rPr>
              <a:t>~5% high, but claimed it zero-filled</a:t>
            </a:r>
            <a:endParaRPr lang="en-US" sz="1200" dirty="0"/>
          </a:p>
        </p:txBody>
      </p:sp>
      <p:sp>
        <p:nvSpPr>
          <p:cNvPr id="20" name="Text 18"/>
          <p:cNvSpPr/>
          <p:nvPr/>
        </p:nvSpPr>
        <p:spPr>
          <a:xfrm>
            <a:off x="3657600" y="3421379"/>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OUTPUT</a:t>
            </a:r>
            <a:endParaRPr lang="en-US" sz="1200" dirty="0"/>
          </a:p>
        </p:txBody>
      </p:sp>
      <p:sp>
        <p:nvSpPr>
          <p:cNvPr id="21" name="Text 19"/>
          <p:cNvSpPr/>
          <p:nvPr/>
        </p:nvSpPr>
        <p:spPr>
          <a:xfrm>
            <a:off x="3657600" y="3619500"/>
            <a:ext cx="22630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Tables and charts</a:t>
            </a:r>
            <a:endParaRPr lang="en-US" sz="1200" dirty="0"/>
          </a:p>
        </p:txBody>
      </p:sp>
      <p:sp>
        <p:nvSpPr>
          <p:cNvPr id="22" name="Text 20"/>
          <p:cNvSpPr/>
          <p:nvPr/>
        </p:nvSpPr>
        <p:spPr>
          <a:xfrm>
            <a:off x="3657600" y="3881121"/>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BEST FOR</a:t>
            </a:r>
            <a:endParaRPr lang="en-US" sz="1200" dirty="0"/>
          </a:p>
        </p:txBody>
      </p:sp>
      <p:sp>
        <p:nvSpPr>
          <p:cNvPr id="23" name="Text 21"/>
          <p:cNvSpPr/>
          <p:nvPr/>
        </p:nvSpPr>
        <p:spPr>
          <a:xfrm>
            <a:off x="3657600" y="4079242"/>
            <a:ext cx="22630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Analyst plus light Python</a:t>
            </a:r>
            <a:endParaRPr lang="en-US" sz="1200" dirty="0"/>
          </a:p>
        </p:txBody>
      </p:sp>
      <p:sp>
        <p:nvSpPr>
          <p:cNvPr id="24" name="Shape 22"/>
          <p:cNvSpPr/>
          <p:nvPr/>
        </p:nvSpPr>
        <p:spPr>
          <a:xfrm>
            <a:off x="6178550" y="1670050"/>
            <a:ext cx="2514600" cy="3289300"/>
          </a:xfrm>
          <a:prstGeom prst="roundRect">
            <a:avLst>
              <a:gd name="adj" fmla="val 3788"/>
            </a:avLst>
          </a:prstGeom>
          <a:solidFill>
            <a:srgbClr val="FCFBF8"/>
          </a:solidFill>
          <a:ln w="12700">
            <a:solidFill>
              <a:srgbClr val="DAD6CC"/>
            </a:solidFill>
            <a:prstDash val="solid"/>
          </a:ln>
        </p:spPr>
      </p:sp>
      <p:sp>
        <p:nvSpPr>
          <p:cNvPr id="25" name="Text 23"/>
          <p:cNvSpPr/>
          <p:nvPr/>
        </p:nvSpPr>
        <p:spPr>
          <a:xfrm>
            <a:off x="6337300" y="1828800"/>
            <a:ext cx="22630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Run SQL via MCP</a:t>
            </a:r>
            <a:endParaRPr lang="en-US" sz="1400" dirty="0"/>
          </a:p>
        </p:txBody>
      </p:sp>
      <p:sp>
        <p:nvSpPr>
          <p:cNvPr id="26" name="Text 24"/>
          <p:cNvSpPr/>
          <p:nvPr/>
        </p:nvSpPr>
        <p:spPr>
          <a:xfrm>
            <a:off x="6337300" y="2105664"/>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HOW</a:t>
            </a:r>
            <a:endParaRPr lang="en-US" sz="1200" dirty="0"/>
          </a:p>
        </p:txBody>
      </p:sp>
      <p:sp>
        <p:nvSpPr>
          <p:cNvPr id="27" name="Text 25"/>
          <p:cNvSpPr/>
          <p:nvPr/>
        </p:nvSpPr>
        <p:spPr>
          <a:xfrm>
            <a:off x="6337300" y="2303779"/>
            <a:ext cx="2263013"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Reads DESCRIBE, writes its own SQL</a:t>
            </a:r>
            <a:endParaRPr lang="en-US" sz="1200" dirty="0"/>
          </a:p>
        </p:txBody>
      </p:sp>
      <p:sp>
        <p:nvSpPr>
          <p:cNvPr id="28" name="Text 26"/>
          <p:cNvSpPr/>
          <p:nvPr/>
        </p:nvSpPr>
        <p:spPr>
          <a:xfrm>
            <a:off x="6337300" y="2763521"/>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WEEKDAY AVERAGES TEST</a:t>
            </a:r>
            <a:endParaRPr lang="en-US" sz="1200" dirty="0"/>
          </a:p>
        </p:txBody>
      </p:sp>
      <p:sp>
        <p:nvSpPr>
          <p:cNvPr id="29" name="Text 27"/>
          <p:cNvSpPr/>
          <p:nvPr/>
        </p:nvSpPr>
        <p:spPr>
          <a:xfrm>
            <a:off x="6337300" y="2961642"/>
            <a:ext cx="226301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6FA8"/>
                </a:solidFill>
                <a:latin typeface="IBM Plex Sans" pitchFamily="34" charset="0"/>
                <a:ea typeface="IBM Plex Sans" pitchFamily="34" charset="-122"/>
                <a:cs typeface="IBM Plex Sans" pitchFamily="34" charset="-120"/>
              </a:rPr>
              <a:t>Fully correct</a:t>
            </a:r>
            <a:endParaRPr lang="en-US" sz="1200" dirty="0"/>
          </a:p>
        </p:txBody>
      </p:sp>
      <p:sp>
        <p:nvSpPr>
          <p:cNvPr id="30" name="Text 28"/>
          <p:cNvSpPr/>
          <p:nvPr/>
        </p:nvSpPr>
        <p:spPr>
          <a:xfrm>
            <a:off x="6337300" y="3223264"/>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OUTPUT</a:t>
            </a:r>
            <a:endParaRPr lang="en-US" sz="1200" dirty="0"/>
          </a:p>
        </p:txBody>
      </p:sp>
      <p:sp>
        <p:nvSpPr>
          <p:cNvPr id="31" name="Text 29"/>
          <p:cNvSpPr/>
          <p:nvPr/>
        </p:nvSpPr>
        <p:spPr>
          <a:xfrm>
            <a:off x="6337300" y="3421379"/>
            <a:ext cx="22630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Tables</a:t>
            </a:r>
            <a:endParaRPr lang="en-US" sz="1200" dirty="0"/>
          </a:p>
        </p:txBody>
      </p:sp>
      <p:sp>
        <p:nvSpPr>
          <p:cNvPr id="32" name="Text 30"/>
          <p:cNvSpPr/>
          <p:nvPr/>
        </p:nvSpPr>
        <p:spPr>
          <a:xfrm>
            <a:off x="6337300" y="3683000"/>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BEST FOR</a:t>
            </a:r>
            <a:endParaRPr lang="en-US" sz="1200" dirty="0"/>
          </a:p>
        </p:txBody>
      </p:sp>
      <p:sp>
        <p:nvSpPr>
          <p:cNvPr id="33" name="Text 31"/>
          <p:cNvSpPr/>
          <p:nvPr/>
        </p:nvSpPr>
        <p:spPr>
          <a:xfrm>
            <a:off x="6337300" y="3881121"/>
            <a:ext cx="22630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SQL-only use, no Analyst</a:t>
            </a:r>
            <a:endParaRPr lang="en-US" sz="1200" dirty="0"/>
          </a:p>
        </p:txBody>
      </p:sp>
      <p:sp>
        <p:nvSpPr>
          <p:cNvPr id="34" name="Shape 32"/>
          <p:cNvSpPr/>
          <p:nvPr/>
        </p:nvSpPr>
        <p:spPr>
          <a:xfrm>
            <a:off x="8851900" y="1371600"/>
            <a:ext cx="2527300" cy="281940"/>
          </a:xfrm>
          <a:prstGeom prst="roundRect">
            <a:avLst>
              <a:gd name="adj" fmla="val 50000"/>
            </a:avLst>
          </a:prstGeom>
          <a:solidFill>
            <a:srgbClr val="E9B949"/>
          </a:solidFill>
          <a:ln/>
        </p:spPr>
      </p:sp>
      <p:sp>
        <p:nvSpPr>
          <p:cNvPr id="35" name="Text 33"/>
          <p:cNvSpPr/>
          <p:nvPr/>
        </p:nvSpPr>
        <p:spPr>
          <a:xfrm>
            <a:off x="8944801" y="1409700"/>
            <a:ext cx="2341499" cy="23114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3263A"/>
                </a:solidFill>
                <a:latin typeface="IBM Plex Sans" pitchFamily="34" charset="0"/>
                <a:ea typeface="IBM Plex Sans" pitchFamily="34" charset="-122"/>
                <a:cs typeface="IBM Plex Sans" pitchFamily="34" charset="-120"/>
              </a:rPr>
              <a:t>Claude Code equivalent</a:t>
            </a:r>
            <a:endParaRPr lang="en-US" sz="1200" dirty="0"/>
          </a:p>
        </p:txBody>
      </p:sp>
      <p:sp>
        <p:nvSpPr>
          <p:cNvPr id="36" name="Shape 34"/>
          <p:cNvSpPr/>
          <p:nvPr/>
        </p:nvSpPr>
        <p:spPr>
          <a:xfrm>
            <a:off x="8864600" y="1676400"/>
            <a:ext cx="2501900" cy="3276600"/>
          </a:xfrm>
          <a:prstGeom prst="roundRect">
            <a:avLst>
              <a:gd name="adj" fmla="val 3553"/>
            </a:avLst>
          </a:prstGeom>
          <a:solidFill>
            <a:srgbClr val="FCFBF8"/>
          </a:solidFill>
          <a:ln w="25400">
            <a:solidFill>
              <a:srgbClr val="E9B949"/>
            </a:solidFill>
            <a:prstDash val="solid"/>
          </a:ln>
        </p:spPr>
      </p:sp>
      <p:sp>
        <p:nvSpPr>
          <p:cNvPr id="37" name="Text 35"/>
          <p:cNvSpPr/>
          <p:nvPr/>
        </p:nvSpPr>
        <p:spPr>
          <a:xfrm>
            <a:off x="9017000" y="1828800"/>
            <a:ext cx="22630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Code sandbox + pandas</a:t>
            </a:r>
            <a:endParaRPr lang="en-US" sz="1400" dirty="0"/>
          </a:p>
        </p:txBody>
      </p:sp>
      <p:sp>
        <p:nvSpPr>
          <p:cNvPr id="38" name="Text 36"/>
          <p:cNvSpPr/>
          <p:nvPr/>
        </p:nvSpPr>
        <p:spPr>
          <a:xfrm>
            <a:off x="9017000" y="2105664"/>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HOW</a:t>
            </a:r>
            <a:endParaRPr lang="en-US" sz="1200" dirty="0"/>
          </a:p>
        </p:txBody>
      </p:sp>
      <p:sp>
        <p:nvSpPr>
          <p:cNvPr id="39" name="Text 37"/>
          <p:cNvSpPr/>
          <p:nvPr/>
        </p:nvSpPr>
        <p:spPr>
          <a:xfrm>
            <a:off x="9017000" y="2303779"/>
            <a:ext cx="2263013"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Discovers the view, then SQL + Python</a:t>
            </a:r>
            <a:endParaRPr lang="en-US" sz="1200" dirty="0"/>
          </a:p>
        </p:txBody>
      </p:sp>
      <p:sp>
        <p:nvSpPr>
          <p:cNvPr id="40" name="Text 38"/>
          <p:cNvSpPr/>
          <p:nvPr/>
        </p:nvSpPr>
        <p:spPr>
          <a:xfrm>
            <a:off x="9017000" y="2763521"/>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WEEKDAY AVERAGES TEST</a:t>
            </a:r>
            <a:endParaRPr lang="en-US" sz="1200" dirty="0"/>
          </a:p>
        </p:txBody>
      </p:sp>
      <p:sp>
        <p:nvSpPr>
          <p:cNvPr id="41" name="Text 39"/>
          <p:cNvSpPr/>
          <p:nvPr/>
        </p:nvSpPr>
        <p:spPr>
          <a:xfrm>
            <a:off x="9017000" y="2961642"/>
            <a:ext cx="226301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6FA8"/>
                </a:solidFill>
                <a:latin typeface="IBM Plex Sans" pitchFamily="34" charset="0"/>
                <a:ea typeface="IBM Plex Sans" pitchFamily="34" charset="-122"/>
                <a:cs typeface="IBM Plex Sans" pitchFamily="34" charset="-120"/>
              </a:rPr>
              <a:t>Fully correct: zero-filled</a:t>
            </a:r>
            <a:endParaRPr lang="en-US" sz="1200" dirty="0"/>
          </a:p>
        </p:txBody>
      </p:sp>
      <p:sp>
        <p:nvSpPr>
          <p:cNvPr id="42" name="Text 40"/>
          <p:cNvSpPr/>
          <p:nvPr/>
        </p:nvSpPr>
        <p:spPr>
          <a:xfrm>
            <a:off x="9017000" y="3223264"/>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OUTPUT</a:t>
            </a:r>
            <a:endParaRPr lang="en-US" sz="1200" dirty="0"/>
          </a:p>
        </p:txBody>
      </p:sp>
      <p:sp>
        <p:nvSpPr>
          <p:cNvPr id="43" name="Text 41"/>
          <p:cNvSpPr/>
          <p:nvPr/>
        </p:nvSpPr>
        <p:spPr>
          <a:xfrm>
            <a:off x="9017000" y="3421379"/>
            <a:ext cx="22630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Markdown only</a:t>
            </a:r>
            <a:endParaRPr lang="en-US" sz="1200" dirty="0"/>
          </a:p>
        </p:txBody>
      </p:sp>
      <p:sp>
        <p:nvSpPr>
          <p:cNvPr id="44" name="Text 42"/>
          <p:cNvSpPr/>
          <p:nvPr/>
        </p:nvSpPr>
        <p:spPr>
          <a:xfrm>
            <a:off x="9017000" y="3683000"/>
            <a:ext cx="2263013" cy="22352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6A7686"/>
                </a:solidFill>
                <a:latin typeface="IBM Plex Sans" pitchFamily="34" charset="0"/>
                <a:ea typeface="IBM Plex Sans" pitchFamily="34" charset="-122"/>
                <a:cs typeface="IBM Plex Sans" pitchFamily="34" charset="-120"/>
              </a:rPr>
              <a:t>BEST FOR</a:t>
            </a:r>
            <a:endParaRPr lang="en-US" sz="1200" dirty="0"/>
          </a:p>
        </p:txBody>
      </p:sp>
      <p:sp>
        <p:nvSpPr>
          <p:cNvPr id="45" name="Text 43"/>
          <p:cNvSpPr/>
          <p:nvPr/>
        </p:nvSpPr>
        <p:spPr>
          <a:xfrm>
            <a:off x="9017000" y="3881121"/>
            <a:ext cx="226301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63A"/>
                </a:solidFill>
                <a:latin typeface="IBM Plex Sans" pitchFamily="34" charset="0"/>
                <a:ea typeface="IBM Plex Sans" pitchFamily="34" charset="-122"/>
                <a:cs typeface="IBM Plex Sans" pitchFamily="34" charset="-120"/>
              </a:rPr>
              <a:t>Statistics and deep analysis</a:t>
            </a:r>
            <a:endParaRPr lang="en-US" sz="1200" dirty="0"/>
          </a:p>
        </p:txBody>
      </p:sp>
      <p:sp>
        <p:nvSpPr>
          <p:cNvPr id="46" name="Text 44"/>
          <p:cNvSpPr/>
          <p:nvPr/>
        </p:nvSpPr>
        <p:spPr>
          <a:xfrm>
            <a:off x="812800" y="5156200"/>
            <a:ext cx="10883392"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63A"/>
                </a:solidFill>
                <a:latin typeface="IBM Plex Sans" pitchFamily="34" charset="0"/>
                <a:ea typeface="IBM Plex Sans" pitchFamily="34" charset="-122"/>
                <a:cs typeface="IBM Plex Sans" pitchFamily="34" charset="-120"/>
              </a:rPr>
              <a:t>The big difference is correctness, not speed:</a:t>
            </a:r>
            <a:r>
              <a:rPr lang="en-US" sz="1400" dirty="0">
                <a:solidFill>
                  <a:srgbClr val="13263A"/>
                </a:solidFill>
                <a:latin typeface="IBM Plex Sans" pitchFamily="34" charset="0"/>
                <a:ea typeface="IBM Plex Sans" pitchFamily="34" charset="-122"/>
                <a:cs typeface="IBM Plex Sans" pitchFamily="34" charset="-120"/>
              </a:rPr>
              <a:t> </a:t>
            </a:r>
            <a:r>
              <a:rPr lang="en-US" sz="1400" dirty="0">
                <a:solidFill>
                  <a:srgbClr val="4A5566"/>
                </a:solidFill>
                <a:latin typeface="IBM Plex Sans" pitchFamily="34" charset="0"/>
                <a:ea typeface="IBM Plex Sans" pitchFamily="34" charset="-122"/>
                <a:cs typeface="IBM Plex Sans" pitchFamily="34" charset="-120"/>
              </a:rPr>
              <a:t>the agents that write their own SQL counted days with no guests; the Analyst-based ones skipped them. Fix it for every agent by putting zero-filled metrics in the semantic view itself.</a:t>
            </a:r>
            <a:endParaRPr lang="en-US" sz="1400" dirty="0"/>
          </a:p>
        </p:txBody>
      </p:sp>
      <p:sp>
        <p:nvSpPr>
          <p:cNvPr id="47" name="Text 45"/>
          <p:cNvSpPr/>
          <p:nvPr/>
        </p:nvSpPr>
        <p:spPr>
          <a:xfrm>
            <a:off x="812800" y="579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6"/>
                </a:solidFill>
                <a:latin typeface="IBM Plex Sans" pitchFamily="34" charset="0"/>
                <a:ea typeface="IBM Plex Sans" pitchFamily="34" charset="-122"/>
                <a:cs typeface="IBM Plex Sans" pitchFamily="34" charset="-120"/>
              </a:rPr>
              <a:t>All four agent definitions: </a:t>
            </a:r>
            <a:r>
              <a:rPr lang="en-US" sz="1200" dirty="0">
                <a:solidFill>
                  <a:srgbClr val="1C6FA8"/>
                </a:solidFill>
                <a:latin typeface="IBM Plex Sans" pitchFamily="34" charset="0"/>
                <a:ea typeface="IBM Plex Sans" pitchFamily="34" charset="-122"/>
                <a:cs typeface="IBM Plex Sans" pitchFamily="34" charset="-120"/>
              </a:rPr>
              <a:t>sv-to-agent/sql</a:t>
            </a:r>
            <a:r>
              <a:rPr lang="en-US" sz="1200" dirty="0">
                <a:solidFill>
                  <a:srgbClr val="6A7686"/>
                </a:solidFill>
                <a:latin typeface="IBM Plex Sans" pitchFamily="34" charset="0"/>
                <a:ea typeface="IBM Plex Sans" pitchFamily="34" charset="-122"/>
                <a:cs typeface="IBM Plex Sans" pitchFamily="34" charset="-120"/>
              </a:rPr>
              <a:t> in the source package, shared after the session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6FA8"/>
                </a:solidFill>
                <a:latin typeface="IBM Plex Sans" pitchFamily="34" charset="0"/>
                <a:ea typeface="IBM Plex Sans" pitchFamily="34" charset="-122"/>
                <a:cs typeface="IBM Plex Sans" pitchFamily="34" charset="-120"/>
              </a:rPr>
              <a:t>PLATFORM TEAM · KNOWLEDGE AGENT</a:t>
            </a:r>
            <a:endParaRPr lang="en-US" sz="1200" dirty="0"/>
          </a:p>
        </p:txBody>
      </p:sp>
      <p:sp>
        <p:nvSpPr>
          <p:cNvPr id="3" name="Text 1"/>
          <p:cNvSpPr/>
          <p:nvPr/>
        </p:nvSpPr>
        <p:spPr>
          <a:xfrm>
            <a:off x="812800" y="848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3263A"/>
                </a:solidFill>
                <a:latin typeface="IBM Plex Sans" pitchFamily="34" charset="0"/>
                <a:ea typeface="IBM Plex Sans" pitchFamily="34" charset="-122"/>
                <a:cs typeface="IBM Plex Sans" pitchFamily="34" charset="-120"/>
              </a:rPr>
              <a:t>How the shared memory works</a:t>
            </a:r>
            <a:endParaRPr lang="en-US" sz="3000" dirty="0"/>
          </a:p>
        </p:txBody>
      </p:sp>
      <p:sp>
        <p:nvSpPr>
          <p:cNvPr id="4" name="Text 2"/>
          <p:cNvSpPr/>
          <p:nvPr/>
        </p:nvSpPr>
        <p:spPr>
          <a:xfrm>
            <a:off x="812800" y="1524000"/>
            <a:ext cx="209296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A7686"/>
                </a:solidFill>
                <a:latin typeface="IBM Plex Sans" pitchFamily="34" charset="0"/>
                <a:ea typeface="IBM Plex Sans" pitchFamily="34" charset="-122"/>
                <a:cs typeface="IBM Plex Sans" pitchFamily="34" charset="-120"/>
              </a:rPr>
              <a:t>EVERY AGENT</a:t>
            </a:r>
            <a:endParaRPr lang="en-US" sz="1200" dirty="0"/>
          </a:p>
        </p:txBody>
      </p:sp>
      <p:sp>
        <p:nvSpPr>
          <p:cNvPr id="5" name="Shape 3"/>
          <p:cNvSpPr/>
          <p:nvPr/>
        </p:nvSpPr>
        <p:spPr>
          <a:xfrm>
            <a:off x="812800" y="1778000"/>
            <a:ext cx="2032000" cy="457200"/>
          </a:xfrm>
          <a:prstGeom prst="roundRect">
            <a:avLst>
              <a:gd name="adj" fmla="val 16667"/>
            </a:avLst>
          </a:prstGeom>
          <a:solidFill>
            <a:srgbClr val="DDE8F1"/>
          </a:solidFill>
          <a:ln/>
        </p:spPr>
      </p:sp>
      <p:sp>
        <p:nvSpPr>
          <p:cNvPr id="6" name="Text 4"/>
          <p:cNvSpPr/>
          <p:nvPr/>
        </p:nvSpPr>
        <p:spPr>
          <a:xfrm>
            <a:off x="914400" y="1899921"/>
            <a:ext cx="12605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Owner LTV agent</a:t>
            </a:r>
            <a:endParaRPr lang="en-US" sz="1200" dirty="0"/>
          </a:p>
        </p:txBody>
      </p:sp>
      <p:sp>
        <p:nvSpPr>
          <p:cNvPr id="7" name="Shape 5"/>
          <p:cNvSpPr/>
          <p:nvPr/>
        </p:nvSpPr>
        <p:spPr>
          <a:xfrm>
            <a:off x="812800" y="2336800"/>
            <a:ext cx="2032000" cy="457200"/>
          </a:xfrm>
          <a:prstGeom prst="roundRect">
            <a:avLst>
              <a:gd name="adj" fmla="val 16667"/>
            </a:avLst>
          </a:prstGeom>
          <a:solidFill>
            <a:srgbClr val="DDE8F1"/>
          </a:solidFill>
          <a:ln/>
        </p:spPr>
      </p:sp>
      <p:sp>
        <p:nvSpPr>
          <p:cNvPr id="8" name="Text 6"/>
          <p:cNvSpPr/>
          <p:nvPr/>
        </p:nvSpPr>
        <p:spPr>
          <a:xfrm>
            <a:off x="914400" y="2458721"/>
            <a:ext cx="145093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Top of Funnel agent</a:t>
            </a:r>
            <a:endParaRPr lang="en-US" sz="1200" dirty="0"/>
          </a:p>
        </p:txBody>
      </p:sp>
      <p:sp>
        <p:nvSpPr>
          <p:cNvPr id="9" name="Shape 7"/>
          <p:cNvSpPr/>
          <p:nvPr/>
        </p:nvSpPr>
        <p:spPr>
          <a:xfrm>
            <a:off x="812800" y="2895600"/>
            <a:ext cx="2032000" cy="457200"/>
          </a:xfrm>
          <a:prstGeom prst="roundRect">
            <a:avLst>
              <a:gd name="adj" fmla="val 16667"/>
            </a:avLst>
          </a:prstGeom>
          <a:solidFill>
            <a:srgbClr val="DDE8F1"/>
          </a:solidFill>
          <a:ln/>
        </p:spPr>
      </p:sp>
      <p:sp>
        <p:nvSpPr>
          <p:cNvPr id="10" name="Text 8"/>
          <p:cNvSpPr/>
          <p:nvPr/>
        </p:nvSpPr>
        <p:spPr>
          <a:xfrm>
            <a:off x="914400" y="3017521"/>
            <a:ext cx="173116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Performance Marketing</a:t>
            </a:r>
            <a:endParaRPr lang="en-US" sz="1200" dirty="0"/>
          </a:p>
        </p:txBody>
      </p:sp>
      <p:sp>
        <p:nvSpPr>
          <p:cNvPr id="11" name="Shape 9"/>
          <p:cNvSpPr/>
          <p:nvPr/>
        </p:nvSpPr>
        <p:spPr>
          <a:xfrm>
            <a:off x="812800" y="3454400"/>
            <a:ext cx="2032000" cy="457200"/>
          </a:xfrm>
          <a:prstGeom prst="roundRect">
            <a:avLst>
              <a:gd name="adj" fmla="val 16667"/>
            </a:avLst>
          </a:prstGeom>
          <a:solidFill>
            <a:srgbClr val="DDE8F1"/>
          </a:solidFill>
          <a:ln/>
        </p:spPr>
      </p:sp>
      <p:sp>
        <p:nvSpPr>
          <p:cNvPr id="12" name="Text 10"/>
          <p:cNvSpPr/>
          <p:nvPr/>
        </p:nvSpPr>
        <p:spPr>
          <a:xfrm>
            <a:off x="914400" y="3576321"/>
            <a:ext cx="140092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Orchestrator agent</a:t>
            </a:r>
            <a:endParaRPr lang="en-US" sz="1200" dirty="0"/>
          </a:p>
        </p:txBody>
      </p:sp>
      <p:sp>
        <p:nvSpPr>
          <p:cNvPr id="13" name="Shape 11"/>
          <p:cNvSpPr/>
          <p:nvPr/>
        </p:nvSpPr>
        <p:spPr>
          <a:xfrm>
            <a:off x="819150" y="4019550"/>
            <a:ext cx="2019300" cy="444500"/>
          </a:xfrm>
          <a:prstGeom prst="roundRect">
            <a:avLst>
              <a:gd name="adj" fmla="val 15714"/>
            </a:avLst>
          </a:prstGeom>
          <a:solidFill>
            <a:srgbClr val="EAE7E0"/>
          </a:solidFill>
          <a:ln w="12700">
            <a:solidFill>
              <a:srgbClr val="8A97A6"/>
            </a:solidFill>
            <a:prstDash val="dash"/>
          </a:ln>
        </p:spPr>
      </p:sp>
      <p:sp>
        <p:nvSpPr>
          <p:cNvPr id="14" name="Text 12"/>
          <p:cNvSpPr/>
          <p:nvPr/>
        </p:nvSpPr>
        <p:spPr>
          <a:xfrm>
            <a:off x="927100" y="4028442"/>
            <a:ext cx="185750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3A"/>
                </a:solidFill>
                <a:latin typeface="IBM Plex Sans" pitchFamily="34" charset="0"/>
                <a:ea typeface="IBM Plex Sans" pitchFamily="34" charset="-122"/>
                <a:cs typeface="IBM Plex Sans" pitchFamily="34" charset="-120"/>
              </a:rPr>
              <a:t>Claude Code, while building</a:t>
            </a:r>
            <a:endParaRPr lang="en-US" sz="1200" dirty="0"/>
          </a:p>
        </p:txBody>
      </p:sp>
      <p:sp>
        <p:nvSpPr>
          <p:cNvPr id="15" name="Text 13"/>
          <p:cNvSpPr/>
          <p:nvPr/>
        </p:nvSpPr>
        <p:spPr>
          <a:xfrm>
            <a:off x="812800" y="4546600"/>
            <a:ext cx="209296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BM Plex Sans" pitchFamily="34" charset="0"/>
                <a:ea typeface="IBM Plex Sans" pitchFamily="34" charset="-122"/>
                <a:cs typeface="IBM Plex Sans" pitchFamily="34" charset="-120"/>
              </a:rPr>
              <a:t>each lists the server under </a:t>
            </a:r>
            <a:r>
              <a:rPr lang="en-US" sz="1200" dirty="0">
                <a:solidFill>
                  <a:srgbClr val="1C6FA8"/>
                </a:solidFill>
                <a:latin typeface="IBM Plex Sans" pitchFamily="34" charset="0"/>
                <a:ea typeface="IBM Plex Sans" pitchFamily="34" charset="-122"/>
                <a:cs typeface="IBM Plex Sans" pitchFamily="34" charset="-120"/>
              </a:rPr>
              <a:t>mcp_servers:</a:t>
            </a:r>
            <a:endParaRPr lang="en-US" sz="1200" dirty="0"/>
          </a:p>
        </p:txBody>
      </p:sp>
      <p:pic>
        <p:nvPicPr>
          <p:cNvPr id="16" name="Image 0" descr="connector">    </p:cNvPr>
          <p:cNvPicPr>
            <a:picLocks noChangeAspect="1"/>
          </p:cNvPicPr>
          <p:nvPr/>
        </p:nvPicPr>
        <p:blipFill>
          <a:blip r:embed="rId1"/>
          <a:srcRect l="0" r="0" t="0" b="0"/>
          <a:stretch/>
        </p:blipFill>
        <p:spPr>
          <a:xfrm>
            <a:off x="2781300" y="1943100"/>
            <a:ext cx="381000" cy="127000"/>
          </a:xfrm>
          <a:prstGeom prst="rect">
            <a:avLst/>
          </a:prstGeom>
        </p:spPr>
      </p:pic>
      <p:pic>
        <p:nvPicPr>
          <p:cNvPr id="17" name="Image 1" descr="connector">    </p:cNvPr>
          <p:cNvPicPr>
            <a:picLocks noChangeAspect="1"/>
          </p:cNvPicPr>
          <p:nvPr/>
        </p:nvPicPr>
        <p:blipFill>
          <a:blip r:embed="rId2"/>
          <a:srcRect l="0" r="0" t="0" b="0"/>
          <a:stretch/>
        </p:blipFill>
        <p:spPr>
          <a:xfrm>
            <a:off x="2781300" y="2501900"/>
            <a:ext cx="381000" cy="127000"/>
          </a:xfrm>
          <a:prstGeom prst="rect">
            <a:avLst/>
          </a:prstGeom>
        </p:spPr>
      </p:pic>
      <p:pic>
        <p:nvPicPr>
          <p:cNvPr id="18" name="Image 2" descr="connector">    </p:cNvPr>
          <p:cNvPicPr>
            <a:picLocks noChangeAspect="1"/>
          </p:cNvPicPr>
          <p:nvPr/>
        </p:nvPicPr>
        <p:blipFill>
          <a:blip r:embed="rId3"/>
          <a:srcRect l="0" r="0" t="0" b="0"/>
          <a:stretch/>
        </p:blipFill>
        <p:spPr>
          <a:xfrm>
            <a:off x="2781300" y="3060700"/>
            <a:ext cx="381000" cy="127000"/>
          </a:xfrm>
          <a:prstGeom prst="rect">
            <a:avLst/>
          </a:prstGeom>
        </p:spPr>
      </p:pic>
      <p:pic>
        <p:nvPicPr>
          <p:cNvPr id="19" name="Image 3" descr="connector">    </p:cNvPr>
          <p:cNvPicPr>
            <a:picLocks noChangeAspect="1"/>
          </p:cNvPicPr>
          <p:nvPr/>
        </p:nvPicPr>
        <p:blipFill>
          <a:blip r:embed="rId4"/>
          <a:srcRect l="0" r="0" t="0" b="0"/>
          <a:stretch/>
        </p:blipFill>
        <p:spPr>
          <a:xfrm>
            <a:off x="2781300" y="3619500"/>
            <a:ext cx="381000" cy="127000"/>
          </a:xfrm>
          <a:prstGeom prst="rect">
            <a:avLst/>
          </a:prstGeom>
        </p:spPr>
      </p:pic>
      <p:pic>
        <p:nvPicPr>
          <p:cNvPr id="20" name="Image 4" descr="connector">    </p:cNvPr>
          <p:cNvPicPr>
            <a:picLocks noChangeAspect="1"/>
          </p:cNvPicPr>
          <p:nvPr/>
        </p:nvPicPr>
        <p:blipFill>
          <a:blip r:embed="rId5"/>
          <a:srcRect l="0" r="0" t="0" b="0"/>
          <a:stretch/>
        </p:blipFill>
        <p:spPr>
          <a:xfrm>
            <a:off x="2781300" y="4178300"/>
            <a:ext cx="381000" cy="127000"/>
          </a:xfrm>
          <a:prstGeom prst="rect">
            <a:avLst/>
          </a:prstGeom>
        </p:spPr>
      </p:pic>
      <p:pic>
        <p:nvPicPr>
          <p:cNvPr id="21" name="Image 5" descr="connector">    </p:cNvPr>
          <p:cNvPicPr>
            <a:picLocks noChangeAspect="1"/>
          </p:cNvPicPr>
          <p:nvPr/>
        </p:nvPicPr>
        <p:blipFill>
          <a:blip r:embed="rId6"/>
          <a:srcRect l="0" r="0" t="0" b="0"/>
          <a:stretch/>
        </p:blipFill>
        <p:spPr>
          <a:xfrm>
            <a:off x="3035300" y="1943100"/>
            <a:ext cx="127000" cy="2362200"/>
          </a:xfrm>
          <a:prstGeom prst="rect">
            <a:avLst/>
          </a:prstGeom>
        </p:spPr>
      </p:pic>
      <p:pic>
        <p:nvPicPr>
          <p:cNvPr id="22" name="Image 6" descr="connector">    </p:cNvPr>
          <p:cNvPicPr>
            <a:picLocks noChangeAspect="1"/>
          </p:cNvPicPr>
          <p:nvPr/>
        </p:nvPicPr>
        <p:blipFill>
          <a:blip r:embed="rId7"/>
          <a:srcRect l="0" r="0" t="0" b="0"/>
          <a:stretch/>
        </p:blipFill>
        <p:spPr>
          <a:xfrm>
            <a:off x="3035300" y="2946400"/>
            <a:ext cx="381000" cy="127000"/>
          </a:xfrm>
          <a:prstGeom prst="rect">
            <a:avLst/>
          </a:prstGeom>
        </p:spPr>
      </p:pic>
      <p:sp>
        <p:nvSpPr>
          <p:cNvPr id="23" name="Shape 14"/>
          <p:cNvSpPr/>
          <p:nvPr/>
        </p:nvSpPr>
        <p:spPr>
          <a:xfrm>
            <a:off x="3352800" y="1549400"/>
            <a:ext cx="3810000" cy="2921000"/>
          </a:xfrm>
          <a:prstGeom prst="roundRect">
            <a:avLst>
              <a:gd name="adj" fmla="val 3913"/>
            </a:avLst>
          </a:prstGeom>
          <a:solidFill>
            <a:srgbClr val="13263A"/>
          </a:solidFill>
          <a:ln/>
        </p:spPr>
      </p:sp>
      <p:sp>
        <p:nvSpPr>
          <p:cNvPr id="24" name="Text 15"/>
          <p:cNvSpPr/>
          <p:nvPr/>
        </p:nvSpPr>
        <p:spPr>
          <a:xfrm>
            <a:off x="3556000" y="1727200"/>
            <a:ext cx="3505708"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E9B949"/>
                </a:solidFill>
                <a:latin typeface="IBM Plex Sans" pitchFamily="34" charset="0"/>
                <a:ea typeface="IBM Plex Sans" pitchFamily="34" charset="-122"/>
                <a:cs typeface="IBM Plex Sans" pitchFamily="34" charset="-120"/>
              </a:rPr>
              <a:t>MCP SERVER · FOUR TOOLS</a:t>
            </a:r>
            <a:endParaRPr lang="en-US" sz="1200" dirty="0"/>
          </a:p>
        </p:txBody>
      </p:sp>
      <p:sp>
        <p:nvSpPr>
          <p:cNvPr id="25" name="Text 16"/>
          <p:cNvSpPr/>
          <p:nvPr/>
        </p:nvSpPr>
        <p:spPr>
          <a:xfrm>
            <a:off x="3556000" y="1953264"/>
            <a:ext cx="350570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5F3EE"/>
                </a:solidFill>
                <a:latin typeface="JetBrains Mono" pitchFamily="34" charset="0"/>
                <a:ea typeface="JetBrains Mono" pitchFamily="34" charset="-122"/>
                <a:cs typeface="JetBrains Mono" pitchFamily="34" charset="-120"/>
              </a:rPr>
              <a:t>FOOTFALL_BOOKINGS_MEMORY_MCP</a:t>
            </a:r>
            <a:endParaRPr lang="en-US" sz="1200" dirty="0"/>
          </a:p>
        </p:txBody>
      </p:sp>
      <p:sp>
        <p:nvSpPr>
          <p:cNvPr id="26" name="Text 17"/>
          <p:cNvSpPr/>
          <p:nvPr/>
        </p:nvSpPr>
        <p:spPr>
          <a:xfrm>
            <a:off x="3556000" y="2240279"/>
            <a:ext cx="350570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CC4F0"/>
                </a:solidFill>
                <a:latin typeface="JetBrains Mono" pitchFamily="34" charset="0"/>
                <a:ea typeface="JetBrains Mono" pitchFamily="34" charset="-122"/>
                <a:cs typeface="JetBrains Mono" pitchFamily="34" charset="-120"/>
              </a:rPr>
              <a:t>findings_index</a:t>
            </a:r>
            <a:endParaRPr lang="en-US" sz="1200" dirty="0"/>
          </a:p>
        </p:txBody>
      </p:sp>
      <p:sp>
        <p:nvSpPr>
          <p:cNvPr id="27" name="Text 18"/>
          <p:cNvSpPr/>
          <p:nvPr/>
        </p:nvSpPr>
        <p:spPr>
          <a:xfrm>
            <a:off x="3556000" y="2438400"/>
            <a:ext cx="350570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CCD8"/>
                </a:solidFill>
                <a:latin typeface="IBM Plex Sans" pitchFamily="34" charset="0"/>
                <a:ea typeface="IBM Plex Sans" pitchFamily="34" charset="-122"/>
                <a:cs typeface="IBM Plex Sans" pitchFamily="34" charset="-120"/>
              </a:rPr>
              <a:t>Brief, rules and a line per finding</a:t>
            </a:r>
            <a:endParaRPr lang="en-US" sz="1200" dirty="0"/>
          </a:p>
        </p:txBody>
      </p:sp>
      <p:sp>
        <p:nvSpPr>
          <p:cNvPr id="28" name="Text 19"/>
          <p:cNvSpPr/>
          <p:nvPr/>
        </p:nvSpPr>
        <p:spPr>
          <a:xfrm>
            <a:off x="3556000" y="2725421"/>
            <a:ext cx="350570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CC4F0"/>
                </a:solidFill>
                <a:latin typeface="JetBrains Mono" pitchFamily="34" charset="0"/>
                <a:ea typeface="JetBrains Mono" pitchFamily="34" charset="-122"/>
                <a:cs typeface="JetBrains Mono" pitchFamily="34" charset="-120"/>
              </a:rPr>
              <a:t>search_findings</a:t>
            </a:r>
            <a:endParaRPr lang="en-US" sz="1200" dirty="0"/>
          </a:p>
        </p:txBody>
      </p:sp>
      <p:sp>
        <p:nvSpPr>
          <p:cNvPr id="29" name="Text 20"/>
          <p:cNvSpPr/>
          <p:nvPr/>
        </p:nvSpPr>
        <p:spPr>
          <a:xfrm>
            <a:off x="3556000" y="2923542"/>
            <a:ext cx="350570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CCD8"/>
                </a:solidFill>
                <a:latin typeface="IBM Plex Sans" pitchFamily="34" charset="0"/>
                <a:ea typeface="IBM Plex Sans" pitchFamily="34" charset="-122"/>
                <a:cs typeface="IBM Plex Sans" pitchFamily="34" charset="-120"/>
              </a:rPr>
              <a:t>Semantic plus keyword search</a:t>
            </a:r>
            <a:endParaRPr lang="en-US" sz="1200" dirty="0"/>
          </a:p>
        </p:txBody>
      </p:sp>
      <p:sp>
        <p:nvSpPr>
          <p:cNvPr id="30" name="Text 21"/>
          <p:cNvSpPr/>
          <p:nvPr/>
        </p:nvSpPr>
        <p:spPr>
          <a:xfrm>
            <a:off x="3556000" y="3210564"/>
            <a:ext cx="350570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CC4F0"/>
                </a:solidFill>
                <a:latin typeface="JetBrains Mono" pitchFamily="34" charset="0"/>
                <a:ea typeface="JetBrains Mono" pitchFamily="34" charset="-122"/>
                <a:cs typeface="JetBrains Mono" pitchFamily="34" charset="-120"/>
              </a:rPr>
              <a:t>get_findings</a:t>
            </a:r>
            <a:endParaRPr lang="en-US" sz="1200" dirty="0"/>
          </a:p>
        </p:txBody>
      </p:sp>
      <p:sp>
        <p:nvSpPr>
          <p:cNvPr id="31" name="Text 22"/>
          <p:cNvSpPr/>
          <p:nvPr/>
        </p:nvSpPr>
        <p:spPr>
          <a:xfrm>
            <a:off x="3556000" y="3408679"/>
            <a:ext cx="350570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CCD8"/>
                </a:solidFill>
                <a:latin typeface="IBM Plex Sans" pitchFamily="34" charset="0"/>
                <a:ea typeface="IBM Plex Sans" pitchFamily="34" charset="-122"/>
                <a:cs typeface="IBM Plex Sans" pitchFamily="34" charset="-120"/>
              </a:rPr>
              <a:t>Full items by id, with links and history</a:t>
            </a:r>
            <a:endParaRPr lang="en-US" sz="1200" dirty="0"/>
          </a:p>
        </p:txBody>
      </p:sp>
      <p:sp>
        <p:nvSpPr>
          <p:cNvPr id="32" name="Text 23"/>
          <p:cNvSpPr/>
          <p:nvPr/>
        </p:nvSpPr>
        <p:spPr>
          <a:xfrm>
            <a:off x="3556000" y="3695700"/>
            <a:ext cx="350570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9B949"/>
                </a:solidFill>
                <a:latin typeface="JetBrains Mono" pitchFamily="34" charset="0"/>
                <a:ea typeface="JetBrains Mono" pitchFamily="34" charset="-122"/>
                <a:cs typeface="JetBrains Mono" pitchFamily="34" charset="-120"/>
              </a:rPr>
              <a:t>record_finding</a:t>
            </a:r>
            <a:endParaRPr lang="en-US" sz="1200" dirty="0"/>
          </a:p>
        </p:txBody>
      </p:sp>
      <p:sp>
        <p:nvSpPr>
          <p:cNvPr id="33" name="Text 24"/>
          <p:cNvSpPr/>
          <p:nvPr/>
        </p:nvSpPr>
        <p:spPr>
          <a:xfrm>
            <a:off x="3556000" y="3893821"/>
            <a:ext cx="350570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CCD8"/>
                </a:solidFill>
                <a:latin typeface="IBM Plex Sans" pitchFamily="34" charset="0"/>
                <a:ea typeface="IBM Plex Sans" pitchFamily="34" charset="-122"/>
                <a:cs typeface="IBM Plex Sans" pitchFamily="34" charset="-120"/>
              </a:rPr>
              <a:t>Save one finding; flags likely duplicates</a:t>
            </a:r>
            <a:endParaRPr lang="en-US" sz="1200" dirty="0"/>
          </a:p>
        </p:txBody>
      </p:sp>
      <p:pic>
        <p:nvPicPr>
          <p:cNvPr id="34" name="Image 7" descr="connector">    </p:cNvPr>
          <p:cNvPicPr>
            <a:picLocks noChangeAspect="1"/>
          </p:cNvPicPr>
          <p:nvPr/>
        </p:nvPicPr>
        <p:blipFill>
          <a:blip r:embed="rId8"/>
          <a:srcRect l="0" r="0" t="0" b="0"/>
          <a:stretch/>
        </p:blipFill>
        <p:spPr>
          <a:xfrm>
            <a:off x="7099300" y="1949450"/>
            <a:ext cx="635000" cy="127000"/>
          </a:xfrm>
          <a:prstGeom prst="rect">
            <a:avLst/>
          </a:prstGeom>
        </p:spPr>
      </p:pic>
      <p:sp>
        <p:nvSpPr>
          <p:cNvPr id="35" name="Shape 25"/>
          <p:cNvSpPr/>
          <p:nvPr/>
        </p:nvSpPr>
        <p:spPr>
          <a:xfrm>
            <a:off x="7677150" y="1555750"/>
            <a:ext cx="3695700" cy="914400"/>
          </a:xfrm>
          <a:prstGeom prst="roundRect">
            <a:avLst>
              <a:gd name="adj" fmla="val 10417"/>
            </a:avLst>
          </a:prstGeom>
          <a:solidFill>
            <a:srgbClr val="FCFBF8"/>
          </a:solidFill>
          <a:ln w="12700">
            <a:solidFill>
              <a:srgbClr val="9DB8CF"/>
            </a:solidFill>
            <a:prstDash val="solid"/>
          </a:ln>
        </p:spPr>
      </p:sp>
      <p:sp>
        <p:nvSpPr>
          <p:cNvPr id="36" name="Text 26"/>
          <p:cNvSpPr/>
          <p:nvPr/>
        </p:nvSpPr>
        <p:spPr>
          <a:xfrm>
            <a:off x="7835900" y="1695450"/>
            <a:ext cx="3479546"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6FA8"/>
                </a:solidFill>
                <a:latin typeface="JetBrains Mono" pitchFamily="34" charset="0"/>
                <a:ea typeface="JetBrains Mono" pitchFamily="34" charset="-122"/>
                <a:cs typeface="JetBrains Mono" pitchFamily="34" charset="-120"/>
              </a:rPr>
              <a:t>MEM_ITEM</a:t>
            </a:r>
            <a:endParaRPr lang="en-US" sz="1200" dirty="0"/>
          </a:p>
        </p:txBody>
      </p:sp>
      <p:sp>
        <p:nvSpPr>
          <p:cNvPr id="37" name="Text 27"/>
          <p:cNvSpPr/>
          <p:nvPr/>
        </p:nvSpPr>
        <p:spPr>
          <a:xfrm>
            <a:off x="7835900" y="1918971"/>
            <a:ext cx="347954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BM Plex Sans" pitchFamily="34" charset="0"/>
                <a:ea typeface="IBM Plex Sans" pitchFamily="34" charset="-122"/>
                <a:cs typeface="IBM Plex Sans" pitchFamily="34" charset="-120"/>
              </a:rPr>
              <a:t>One row per finding, with embeddings; new items are searchable at once</a:t>
            </a:r>
            <a:endParaRPr lang="en-US" sz="1200" dirty="0"/>
          </a:p>
        </p:txBody>
      </p:sp>
      <p:pic>
        <p:nvPicPr>
          <p:cNvPr id="38" name="Image 8" descr="connector">    </p:cNvPr>
          <p:cNvPicPr>
            <a:picLocks noChangeAspect="1"/>
          </p:cNvPicPr>
          <p:nvPr/>
        </p:nvPicPr>
        <p:blipFill>
          <a:blip r:embed="rId9"/>
          <a:srcRect l="0" r="0" t="0" b="0"/>
          <a:stretch/>
        </p:blipFill>
        <p:spPr>
          <a:xfrm>
            <a:off x="9461500" y="2413000"/>
            <a:ext cx="127000" cy="381000"/>
          </a:xfrm>
          <a:prstGeom prst="rect">
            <a:avLst/>
          </a:prstGeom>
        </p:spPr>
      </p:pic>
      <p:sp>
        <p:nvSpPr>
          <p:cNvPr id="39" name="Shape 28"/>
          <p:cNvSpPr/>
          <p:nvPr/>
        </p:nvSpPr>
        <p:spPr>
          <a:xfrm>
            <a:off x="7670800" y="2730500"/>
            <a:ext cx="3708400" cy="3314700"/>
          </a:xfrm>
          <a:prstGeom prst="roundRect">
            <a:avLst>
              <a:gd name="adj" fmla="val 3065"/>
            </a:avLst>
          </a:prstGeom>
          <a:solidFill>
            <a:srgbClr val="DDE8F1"/>
          </a:solidFill>
          <a:ln/>
        </p:spPr>
      </p:sp>
      <p:sp>
        <p:nvSpPr>
          <p:cNvPr id="40" name="Text 29"/>
          <p:cNvSpPr/>
          <p:nvPr/>
        </p:nvSpPr>
        <p:spPr>
          <a:xfrm>
            <a:off x="7823200" y="2870200"/>
            <a:ext cx="3505708"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C6FA8"/>
                </a:solidFill>
                <a:latin typeface="IBM Plex Sans" pitchFamily="34" charset="0"/>
                <a:ea typeface="IBM Plex Sans" pitchFamily="34" charset="-122"/>
                <a:cs typeface="IBM Plex Sans" pitchFamily="34" charset="-120"/>
              </a:rPr>
              <a:t>BACKGROUND ORGANISER</a:t>
            </a:r>
            <a:endParaRPr lang="en-US" sz="1200" dirty="0"/>
          </a:p>
        </p:txBody>
      </p:sp>
      <p:sp>
        <p:nvSpPr>
          <p:cNvPr id="41" name="Shape 30"/>
          <p:cNvSpPr/>
          <p:nvPr/>
        </p:nvSpPr>
        <p:spPr>
          <a:xfrm>
            <a:off x="7823200" y="3172464"/>
            <a:ext cx="3403600" cy="1290320"/>
          </a:xfrm>
          <a:prstGeom prst="roundRect">
            <a:avLst>
              <a:gd name="adj" fmla="val 5906"/>
            </a:avLst>
          </a:prstGeom>
          <a:solidFill>
            <a:srgbClr val="FCFBF8"/>
          </a:solidFill>
          <a:ln/>
        </p:spPr>
      </p:sp>
      <p:pic>
        <p:nvPicPr>
          <p:cNvPr id="42" name="Image 9" descr="Lightning">    </p:cNvPr>
          <p:cNvPicPr>
            <a:picLocks noChangeAspect="1"/>
          </p:cNvPicPr>
          <p:nvPr/>
        </p:nvPicPr>
        <p:blipFill>
          <a:blip r:embed="rId10"/>
          <a:srcRect l="0" r="0" t="0" b="0"/>
          <a:stretch/>
        </p:blipFill>
        <p:spPr>
          <a:xfrm>
            <a:off x="7950200" y="3291842"/>
            <a:ext cx="203200" cy="203200"/>
          </a:xfrm>
          <a:prstGeom prst="rect">
            <a:avLst/>
          </a:prstGeom>
        </p:spPr>
      </p:pic>
      <p:sp>
        <p:nvSpPr>
          <p:cNvPr id="43" name="Text 31"/>
          <p:cNvSpPr/>
          <p:nvPr/>
        </p:nvSpPr>
        <p:spPr>
          <a:xfrm>
            <a:off x="8229600" y="3286764"/>
            <a:ext cx="136140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On insert, ~30 s</a:t>
            </a:r>
            <a:endParaRPr lang="en-US" sz="1400" dirty="0"/>
          </a:p>
        </p:txBody>
      </p:sp>
      <p:sp>
        <p:nvSpPr>
          <p:cNvPr id="44" name="Text 32"/>
          <p:cNvSpPr/>
          <p:nvPr/>
        </p:nvSpPr>
        <p:spPr>
          <a:xfrm>
            <a:off x="7950200" y="3525521"/>
            <a:ext cx="3244088"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BM Plex Sans" pitchFamily="34" charset="0"/>
                <a:ea typeface="IBM Plex Sans" pitchFamily="34" charset="-122"/>
                <a:cs typeface="IBM Plex Sans" pitchFamily="34" charset="-120"/>
              </a:rPr>
              <a:t>Stream + triggered task. An LLM compares each new item with its 6 nearest: activate, duplicate, merge, supersede, reject or escalate</a:t>
            </a:r>
            <a:endParaRPr lang="en-US" sz="1200" dirty="0"/>
          </a:p>
        </p:txBody>
      </p:sp>
      <p:sp>
        <p:nvSpPr>
          <p:cNvPr id="45" name="Shape 33"/>
          <p:cNvSpPr/>
          <p:nvPr/>
        </p:nvSpPr>
        <p:spPr>
          <a:xfrm>
            <a:off x="7823200" y="4551679"/>
            <a:ext cx="3403600" cy="1084580"/>
          </a:xfrm>
          <a:prstGeom prst="roundRect">
            <a:avLst>
              <a:gd name="adj" fmla="val 7026"/>
            </a:avLst>
          </a:prstGeom>
          <a:solidFill>
            <a:srgbClr val="FCFBF8"/>
          </a:solidFill>
          <a:ln/>
        </p:spPr>
      </p:sp>
      <p:pic>
        <p:nvPicPr>
          <p:cNvPr id="46" name="Image 10" descr="Clock">    </p:cNvPr>
          <p:cNvPicPr>
            <a:picLocks noChangeAspect="1"/>
          </p:cNvPicPr>
          <p:nvPr/>
        </p:nvPicPr>
        <p:blipFill>
          <a:blip r:embed="rId11"/>
          <a:srcRect l="0" r="0" t="0" b="0"/>
          <a:stretch/>
        </p:blipFill>
        <p:spPr>
          <a:xfrm>
            <a:off x="7950200" y="4671064"/>
            <a:ext cx="203200" cy="203200"/>
          </a:xfrm>
          <a:prstGeom prst="rect">
            <a:avLst/>
          </a:prstGeom>
        </p:spPr>
      </p:pic>
      <p:sp>
        <p:nvSpPr>
          <p:cNvPr id="47" name="Text 34"/>
          <p:cNvSpPr/>
          <p:nvPr/>
        </p:nvSpPr>
        <p:spPr>
          <a:xfrm>
            <a:off x="8229600" y="4665979"/>
            <a:ext cx="169493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On cadence, nightly</a:t>
            </a:r>
            <a:endParaRPr lang="en-US" sz="1400" dirty="0"/>
          </a:p>
        </p:txBody>
      </p:sp>
      <p:sp>
        <p:nvSpPr>
          <p:cNvPr id="48" name="Text 35"/>
          <p:cNvSpPr/>
          <p:nvPr/>
        </p:nvSpPr>
        <p:spPr>
          <a:xfrm>
            <a:off x="7950200" y="4904742"/>
            <a:ext cx="3244088"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BM Plex Sans" pitchFamily="34" charset="0"/>
                <a:ea typeface="IBM Plex Sans" pitchFamily="34" charset="-122"/>
                <a:cs typeface="IBM Plex Sans" pitchFamily="34" charset="-120"/>
              </a:rPr>
              <a:t>Cron task runs the organiser Cortex agent: resolves flagged and stale items, merges, rewrites the index overview</a:t>
            </a:r>
            <a:endParaRPr lang="en-US" sz="1200" dirty="0"/>
          </a:p>
        </p:txBody>
      </p:sp>
      <p:sp>
        <p:nvSpPr>
          <p:cNvPr id="49" name="Text 36"/>
          <p:cNvSpPr/>
          <p:nvPr/>
        </p:nvSpPr>
        <p:spPr>
          <a:xfrm>
            <a:off x="3352800" y="4749800"/>
            <a:ext cx="3924300"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63A"/>
                </a:solidFill>
                <a:latin typeface="IBM Plex Sans" pitchFamily="34" charset="0"/>
                <a:ea typeface="IBM Plex Sans" pitchFamily="34" charset="-122"/>
                <a:cs typeface="IBM Plex Sans" pitchFamily="34" charset="-120"/>
              </a:rPr>
              <a:t>Agents record, the organiser curates.</a:t>
            </a:r>
            <a:r>
              <a:rPr lang="en-US" sz="1400" dirty="0">
                <a:solidFill>
                  <a:srgbClr val="13263A"/>
                </a:solidFill>
                <a:latin typeface="IBM Plex Sans" pitchFamily="34" charset="0"/>
                <a:ea typeface="IBM Plex Sans" pitchFamily="34" charset="-122"/>
                <a:cs typeface="IBM Plex Sans" pitchFamily="34" charset="-120"/>
              </a:rPr>
              <a:t> </a:t>
            </a:r>
            <a:r>
              <a:rPr lang="en-US" sz="1400" dirty="0">
                <a:solidFill>
                  <a:srgbClr val="4A5566"/>
                </a:solidFill>
                <a:latin typeface="IBM Plex Sans" pitchFamily="34" charset="0"/>
                <a:ea typeface="IBM Plex Sans" pitchFamily="34" charset="-122"/>
                <a:cs typeface="IBM Plex Sans" pitchFamily="34" charset="-120"/>
              </a:rPr>
              <a:t>Every change is versioned, with a reason.</a:t>
            </a:r>
            <a:endParaRPr lang="en-US" sz="1400" dirty="0"/>
          </a:p>
        </p:txBody>
      </p:sp>
      <p:sp>
        <p:nvSpPr>
          <p:cNvPr id="50" name="Text 37"/>
          <p:cNvSpPr/>
          <p:nvPr/>
        </p:nvSpPr>
        <p:spPr>
          <a:xfrm>
            <a:off x="3352800" y="5588000"/>
            <a:ext cx="39243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A7686"/>
                </a:solidFill>
                <a:latin typeface="IBM Plex Sans" pitchFamily="34" charset="0"/>
                <a:ea typeface="IBM Plex Sans" pitchFamily="34" charset="-122"/>
                <a:cs typeface="IBM Plex Sans" pitchFamily="34" charset="-120"/>
              </a:rPr>
              <a:t>One topic = one YAML config, deployed with </a:t>
            </a:r>
            <a:r>
              <a:rPr lang="en-US" sz="1200" dirty="0">
                <a:solidFill>
                  <a:srgbClr val="1C6FA8"/>
                </a:solidFill>
                <a:latin typeface="IBM Plex Sans" pitchFamily="34" charset="0"/>
                <a:ea typeface="IBM Plex Sans" pitchFamily="34" charset="-122"/>
                <a:cs typeface="IBM Plex Sans" pitchFamily="34" charset="-120"/>
              </a:rPr>
              <a:t>memctl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6FA8"/>
                </a:solidFill>
                <a:latin typeface="IBM Plex Sans" pitchFamily="34" charset="0"/>
                <a:ea typeface="IBM Plex Sans" pitchFamily="34" charset="-122"/>
                <a:cs typeface="IBM Plex Sans" pitchFamily="34" charset="-120"/>
              </a:rPr>
              <a:t>SETUP · MCP_AUTH</a:t>
            </a:r>
            <a:endParaRPr lang="en-US" sz="1200" dirty="0"/>
          </a:p>
        </p:txBody>
      </p:sp>
      <p:sp>
        <p:nvSpPr>
          <p:cNvPr id="3" name="Text 1"/>
          <p:cNvSpPr/>
          <p:nvPr/>
        </p:nvSpPr>
        <p:spPr>
          <a:xfrm>
            <a:off x="812800" y="848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3263A"/>
                </a:solidFill>
                <a:latin typeface="IBM Plex Sans" pitchFamily="34" charset="0"/>
                <a:ea typeface="IBM Plex Sans" pitchFamily="34" charset="-122"/>
                <a:cs typeface="IBM Plex Sans" pitchFamily="34" charset="-120"/>
              </a:rPr>
              <a:t>Snowflake MCP tools in Claude Code</a:t>
            </a:r>
            <a:endParaRPr lang="en-US" sz="3000" dirty="0"/>
          </a:p>
        </p:txBody>
      </p:sp>
      <p:sp>
        <p:nvSpPr>
          <p:cNvPr id="4" name="Shape 2"/>
          <p:cNvSpPr/>
          <p:nvPr/>
        </p:nvSpPr>
        <p:spPr>
          <a:xfrm>
            <a:off x="812800" y="1549400"/>
            <a:ext cx="2286000" cy="1016000"/>
          </a:xfrm>
          <a:prstGeom prst="roundRect">
            <a:avLst>
              <a:gd name="adj" fmla="val 10000"/>
            </a:avLst>
          </a:prstGeom>
          <a:solidFill>
            <a:srgbClr val="DDE8F1"/>
          </a:solidFill>
          <a:ln/>
        </p:spPr>
      </p:sp>
      <p:sp>
        <p:nvSpPr>
          <p:cNvPr id="5" name="Text 3"/>
          <p:cNvSpPr/>
          <p:nvPr/>
        </p:nvSpPr>
        <p:spPr>
          <a:xfrm>
            <a:off x="965200" y="1835150"/>
            <a:ext cx="204063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Claude Code</a:t>
            </a:r>
            <a:endParaRPr lang="en-US" sz="1400" dirty="0"/>
          </a:p>
        </p:txBody>
      </p:sp>
      <p:sp>
        <p:nvSpPr>
          <p:cNvPr id="6" name="Text 4"/>
          <p:cNvSpPr/>
          <p:nvPr/>
        </p:nvSpPr>
        <p:spPr>
          <a:xfrm>
            <a:off x="965200" y="2073914"/>
            <a:ext cx="204063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BM Plex Sans" pitchFamily="34" charset="0"/>
                <a:ea typeface="IBM Plex Sans" pitchFamily="34" charset="-122"/>
                <a:cs typeface="IBM Plex Sans" pitchFamily="34" charset="-120"/>
              </a:rPr>
              <a:t>or any MCP client</a:t>
            </a:r>
            <a:endParaRPr lang="en-US" sz="1200" dirty="0"/>
          </a:p>
        </p:txBody>
      </p:sp>
      <p:sp>
        <p:nvSpPr>
          <p:cNvPr id="7" name="Text 5"/>
          <p:cNvSpPr/>
          <p:nvPr/>
        </p:nvSpPr>
        <p:spPr>
          <a:xfrm>
            <a:off x="3073400" y="1752600"/>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6FA8"/>
                </a:solidFill>
                <a:latin typeface="JetBrains Mono" pitchFamily="34" charset="0"/>
                <a:ea typeface="JetBrains Mono" pitchFamily="34" charset="-122"/>
                <a:cs typeface="JetBrains Mono" pitchFamily="34" charset="-120"/>
              </a:rPr>
              <a:t>stdio</a:t>
            </a:r>
            <a:endParaRPr lang="en-US" sz="1200" dirty="0"/>
          </a:p>
        </p:txBody>
      </p:sp>
      <p:pic>
        <p:nvPicPr>
          <p:cNvPr id="8" name="Image 0" descr="connector">    </p:cNvPr>
          <p:cNvPicPr>
            <a:picLocks noChangeAspect="1"/>
          </p:cNvPicPr>
          <p:nvPr/>
        </p:nvPicPr>
        <p:blipFill>
          <a:blip r:embed="rId1"/>
          <a:srcRect l="0" r="0" t="0" b="0"/>
          <a:stretch/>
        </p:blipFill>
        <p:spPr>
          <a:xfrm>
            <a:off x="3035300" y="1993900"/>
            <a:ext cx="1143000" cy="127000"/>
          </a:xfrm>
          <a:prstGeom prst="rect">
            <a:avLst/>
          </a:prstGeom>
        </p:spPr>
      </p:pic>
      <p:sp>
        <p:nvSpPr>
          <p:cNvPr id="9" name="Shape 6"/>
          <p:cNvSpPr/>
          <p:nvPr/>
        </p:nvSpPr>
        <p:spPr>
          <a:xfrm>
            <a:off x="4114800" y="1549400"/>
            <a:ext cx="3962400" cy="1016000"/>
          </a:xfrm>
          <a:prstGeom prst="roundRect">
            <a:avLst>
              <a:gd name="adj" fmla="val 10000"/>
            </a:avLst>
          </a:prstGeom>
          <a:solidFill>
            <a:srgbClr val="13263A"/>
          </a:solidFill>
          <a:ln/>
        </p:spPr>
      </p:sp>
      <p:sp>
        <p:nvSpPr>
          <p:cNvPr id="10" name="Text 7"/>
          <p:cNvSpPr/>
          <p:nvPr/>
        </p:nvSpPr>
        <p:spPr>
          <a:xfrm>
            <a:off x="4292600" y="1739900"/>
            <a:ext cx="3715004"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E9B949"/>
                </a:solidFill>
                <a:latin typeface="JetBrains Mono" pitchFamily="34" charset="0"/>
                <a:ea typeface="JetBrains Mono" pitchFamily="34" charset="-122"/>
                <a:cs typeface="JetBrains Mono" pitchFamily="34" charset="-120"/>
              </a:rPr>
              <a:t>sf_mcp_proxy.py · on your laptop</a:t>
            </a:r>
            <a:endParaRPr lang="en-US" sz="1200" dirty="0"/>
          </a:p>
        </p:txBody>
      </p:sp>
      <p:sp>
        <p:nvSpPr>
          <p:cNvPr id="11" name="Text 8"/>
          <p:cNvSpPr/>
          <p:nvPr/>
        </p:nvSpPr>
        <p:spPr>
          <a:xfrm>
            <a:off x="4292600" y="1963421"/>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CD8"/>
                </a:solidFill>
                <a:latin typeface="IBM Plex Sans" pitchFamily="34" charset="0"/>
                <a:ea typeface="IBM Plex Sans" pitchFamily="34" charset="-122"/>
                <a:cs typeface="IBM Plex Sans" pitchFamily="34" charset="-120"/>
              </a:rPr>
              <a:t>Logs in as you with SSO and renews the one-hour session token</a:t>
            </a:r>
            <a:endParaRPr lang="en-US" sz="1200" dirty="0"/>
          </a:p>
        </p:txBody>
      </p:sp>
      <p:sp>
        <p:nvSpPr>
          <p:cNvPr id="12" name="Text 9"/>
          <p:cNvSpPr/>
          <p:nvPr/>
        </p:nvSpPr>
        <p:spPr>
          <a:xfrm>
            <a:off x="8051800" y="1752600"/>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6FA8"/>
                </a:solidFill>
                <a:latin typeface="JetBrains Mono" pitchFamily="34" charset="0"/>
                <a:ea typeface="JetBrains Mono" pitchFamily="34" charset="-122"/>
                <a:cs typeface="JetBrains Mono" pitchFamily="34" charset="-120"/>
              </a:rPr>
              <a:t>HTTPS</a:t>
            </a:r>
            <a:endParaRPr lang="en-US" sz="1200" dirty="0"/>
          </a:p>
        </p:txBody>
      </p:sp>
      <p:pic>
        <p:nvPicPr>
          <p:cNvPr id="13" name="Image 1" descr="connector">    </p:cNvPr>
          <p:cNvPicPr>
            <a:picLocks noChangeAspect="1"/>
          </p:cNvPicPr>
          <p:nvPr/>
        </p:nvPicPr>
        <p:blipFill>
          <a:blip r:embed="rId2"/>
          <a:srcRect l="0" r="0" t="0" b="0"/>
          <a:stretch/>
        </p:blipFill>
        <p:spPr>
          <a:xfrm>
            <a:off x="8013700" y="1993900"/>
            <a:ext cx="1143000" cy="127000"/>
          </a:xfrm>
          <a:prstGeom prst="rect">
            <a:avLst/>
          </a:prstGeom>
        </p:spPr>
      </p:pic>
      <p:sp>
        <p:nvSpPr>
          <p:cNvPr id="14" name="Shape 10"/>
          <p:cNvSpPr/>
          <p:nvPr/>
        </p:nvSpPr>
        <p:spPr>
          <a:xfrm>
            <a:off x="9099550" y="1555750"/>
            <a:ext cx="2273300" cy="1003300"/>
          </a:xfrm>
          <a:prstGeom prst="roundRect">
            <a:avLst>
              <a:gd name="adj" fmla="val 9494"/>
            </a:avLst>
          </a:prstGeom>
          <a:solidFill>
            <a:srgbClr val="FCFBF8"/>
          </a:solidFill>
          <a:ln w="12700">
            <a:solidFill>
              <a:srgbClr val="9DB8CF"/>
            </a:solidFill>
            <a:prstDash val="solid"/>
          </a:ln>
        </p:spPr>
      </p:sp>
      <p:sp>
        <p:nvSpPr>
          <p:cNvPr id="15" name="Text 11"/>
          <p:cNvSpPr/>
          <p:nvPr/>
        </p:nvSpPr>
        <p:spPr>
          <a:xfrm>
            <a:off x="9258300" y="1835150"/>
            <a:ext cx="201447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Snowflake MCP server</a:t>
            </a:r>
            <a:endParaRPr lang="en-US" sz="1400" dirty="0"/>
          </a:p>
        </p:txBody>
      </p:sp>
      <p:sp>
        <p:nvSpPr>
          <p:cNvPr id="16" name="Text 12"/>
          <p:cNvSpPr/>
          <p:nvPr/>
        </p:nvSpPr>
        <p:spPr>
          <a:xfrm>
            <a:off x="9258300" y="2073914"/>
            <a:ext cx="201447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BM Plex Sans" pitchFamily="34" charset="0"/>
                <a:ea typeface="IBM Plex Sans" pitchFamily="34" charset="-122"/>
                <a:cs typeface="IBM Plex Sans" pitchFamily="34" charset="-120"/>
              </a:rPr>
              <a:t>Memory, analysts, agents</a:t>
            </a:r>
            <a:endParaRPr lang="en-US" sz="1200" dirty="0"/>
          </a:p>
        </p:txBody>
      </p:sp>
      <p:sp>
        <p:nvSpPr>
          <p:cNvPr id="17" name="Text 13"/>
          <p:cNvSpPr/>
          <p:nvPr/>
        </p:nvSpPr>
        <p:spPr>
          <a:xfrm>
            <a:off x="812800" y="2870200"/>
            <a:ext cx="21844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E9B949"/>
                </a:solidFill>
                <a:latin typeface="IBM Plex Sans" pitchFamily="34" charset="0"/>
                <a:ea typeface="IBM Plex Sans" pitchFamily="34" charset="-122"/>
                <a:cs typeface="IBM Plex Sans" pitchFamily="34" charset="-120"/>
              </a:rPr>
              <a:t>1</a:t>
            </a:r>
            <a:endParaRPr lang="en-US" sz="2200" dirty="0"/>
          </a:p>
        </p:txBody>
      </p:sp>
      <p:sp>
        <p:nvSpPr>
          <p:cNvPr id="18" name="Text 14"/>
          <p:cNvSpPr/>
          <p:nvPr/>
        </p:nvSpPr>
        <p:spPr>
          <a:xfrm>
            <a:off x="1107440" y="2870200"/>
            <a:ext cx="29196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Install</a:t>
            </a:r>
            <a:endParaRPr lang="en-US" sz="1400" dirty="0"/>
          </a:p>
        </p:txBody>
      </p:sp>
      <p:sp>
        <p:nvSpPr>
          <p:cNvPr id="19" name="Text 15"/>
          <p:cNvSpPr/>
          <p:nvPr/>
        </p:nvSpPr>
        <p:spPr>
          <a:xfrm>
            <a:off x="1107440" y="3096264"/>
            <a:ext cx="291967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6FA8"/>
                </a:solidFill>
                <a:latin typeface="JetBrains Mono" pitchFamily="34" charset="0"/>
                <a:ea typeface="JetBrains Mono" pitchFamily="34" charset="-122"/>
                <a:cs typeface="JetBrains Mono" pitchFamily="34" charset="-120"/>
              </a:rPr>
              <a:t>pip install -r requirements.txt</a:t>
            </a:r>
            <a:endParaRPr lang="en-US" sz="1200" dirty="0"/>
          </a:p>
        </p:txBody>
      </p:sp>
      <p:sp>
        <p:nvSpPr>
          <p:cNvPr id="20" name="Text 16"/>
          <p:cNvSpPr/>
          <p:nvPr/>
        </p:nvSpPr>
        <p:spPr>
          <a:xfrm>
            <a:off x="812800" y="3606800"/>
            <a:ext cx="21844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E9B949"/>
                </a:solidFill>
                <a:latin typeface="IBM Plex Sans" pitchFamily="34" charset="0"/>
                <a:ea typeface="IBM Plex Sans" pitchFamily="34" charset="-122"/>
                <a:cs typeface="IBM Plex Sans" pitchFamily="34" charset="-120"/>
              </a:rPr>
              <a:t>2</a:t>
            </a:r>
            <a:endParaRPr lang="en-US" sz="2200" dirty="0"/>
          </a:p>
        </p:txBody>
      </p:sp>
      <p:sp>
        <p:nvSpPr>
          <p:cNvPr id="21" name="Text 17"/>
          <p:cNvSpPr/>
          <p:nvPr/>
        </p:nvSpPr>
        <p:spPr>
          <a:xfrm>
            <a:off x="1107440" y="3606800"/>
            <a:ext cx="340772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Log in once with SSO</a:t>
            </a:r>
            <a:endParaRPr lang="en-US" sz="1400" dirty="0"/>
          </a:p>
        </p:txBody>
      </p:sp>
      <p:sp>
        <p:nvSpPr>
          <p:cNvPr id="22" name="Text 18"/>
          <p:cNvSpPr/>
          <p:nvPr/>
        </p:nvSpPr>
        <p:spPr>
          <a:xfrm>
            <a:off x="1107440" y="3832864"/>
            <a:ext cx="340772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6FA8"/>
                </a:solidFill>
                <a:latin typeface="JetBrains Mono" pitchFamily="34" charset="0"/>
                <a:ea typeface="JetBrains Mono" pitchFamily="34" charset="-122"/>
                <a:cs typeface="JetBrains Mono" pitchFamily="34" charset="-120"/>
              </a:rPr>
              <a:t>python sf_mcp_auth.py --login</a:t>
            </a:r>
            <a:endParaRPr lang="en-US" sz="1200" dirty="0"/>
          </a:p>
        </p:txBody>
      </p:sp>
      <p:sp>
        <p:nvSpPr>
          <p:cNvPr id="23" name="Text 19"/>
          <p:cNvSpPr/>
          <p:nvPr/>
        </p:nvSpPr>
        <p:spPr>
          <a:xfrm>
            <a:off x="1107440" y="4043679"/>
            <a:ext cx="340772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Opens the browser; then silent for about 4 hours</a:t>
            </a:r>
            <a:endParaRPr lang="en-US" sz="1200" dirty="0"/>
          </a:p>
        </p:txBody>
      </p:sp>
      <p:sp>
        <p:nvSpPr>
          <p:cNvPr id="24" name="Text 20"/>
          <p:cNvSpPr/>
          <p:nvPr/>
        </p:nvSpPr>
        <p:spPr>
          <a:xfrm>
            <a:off x="812800" y="4554221"/>
            <a:ext cx="21844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E9B949"/>
                </a:solidFill>
                <a:latin typeface="IBM Plex Sans" pitchFamily="34" charset="0"/>
                <a:ea typeface="IBM Plex Sans" pitchFamily="34" charset="-122"/>
                <a:cs typeface="IBM Plex Sans" pitchFamily="34" charset="-120"/>
              </a:rPr>
              <a:t>3</a:t>
            </a:r>
            <a:endParaRPr lang="en-US" sz="2200" dirty="0"/>
          </a:p>
        </p:txBody>
      </p:sp>
      <p:sp>
        <p:nvSpPr>
          <p:cNvPr id="25" name="Text 21"/>
          <p:cNvSpPr/>
          <p:nvPr/>
        </p:nvSpPr>
        <p:spPr>
          <a:xfrm>
            <a:off x="1107440" y="4554221"/>
            <a:ext cx="365450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Add one proxy per MCP server</a:t>
            </a:r>
            <a:endParaRPr lang="en-US" sz="1400" dirty="0"/>
          </a:p>
        </p:txBody>
      </p:sp>
      <p:sp>
        <p:nvSpPr>
          <p:cNvPr id="26" name="Text 22"/>
          <p:cNvSpPr/>
          <p:nvPr/>
        </p:nvSpPr>
        <p:spPr>
          <a:xfrm>
            <a:off x="1107440" y="4780279"/>
            <a:ext cx="365450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6"/>
                </a:solidFill>
                <a:latin typeface="IBM Plex Sans" pitchFamily="34" charset="0"/>
                <a:ea typeface="IBM Plex Sans" pitchFamily="34" charset="-122"/>
                <a:cs typeface="IBM Plex Sans" pitchFamily="34" charset="-120"/>
              </a:rPr>
              <a:t>An entry in .mcp.json (right), then approve it in /mcp</a:t>
            </a:r>
            <a:endParaRPr lang="en-US" sz="1200" dirty="0"/>
          </a:p>
        </p:txBody>
      </p:sp>
      <p:sp>
        <p:nvSpPr>
          <p:cNvPr id="27" name="Text 23"/>
          <p:cNvSpPr/>
          <p:nvPr/>
        </p:nvSpPr>
        <p:spPr>
          <a:xfrm>
            <a:off x="812800" y="5290821"/>
            <a:ext cx="21844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E9B949"/>
                </a:solidFill>
                <a:latin typeface="IBM Plex Sans" pitchFamily="34" charset="0"/>
                <a:ea typeface="IBM Plex Sans" pitchFamily="34" charset="-122"/>
                <a:cs typeface="IBM Plex Sans" pitchFamily="34" charset="-120"/>
              </a:rPr>
              <a:t>4</a:t>
            </a:r>
            <a:endParaRPr lang="en-US" sz="2200" dirty="0"/>
          </a:p>
        </p:txBody>
      </p:sp>
      <p:sp>
        <p:nvSpPr>
          <p:cNvPr id="28" name="Text 24"/>
          <p:cNvSpPr/>
          <p:nvPr/>
        </p:nvSpPr>
        <p:spPr>
          <a:xfrm>
            <a:off x="1107440" y="5290821"/>
            <a:ext cx="329641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63A"/>
                </a:solidFill>
                <a:latin typeface="IBM Plex Sans" pitchFamily="34" charset="0"/>
                <a:ea typeface="IBM Plex Sans" pitchFamily="34" charset="-122"/>
                <a:cs typeface="IBM Plex Sans" pitchFamily="34" charset="-120"/>
              </a:rPr>
              <a:t>Verify</a:t>
            </a:r>
            <a:endParaRPr lang="en-US" sz="1400" dirty="0"/>
          </a:p>
        </p:txBody>
      </p:sp>
      <p:sp>
        <p:nvSpPr>
          <p:cNvPr id="29" name="Text 25"/>
          <p:cNvSpPr/>
          <p:nvPr/>
        </p:nvSpPr>
        <p:spPr>
          <a:xfrm>
            <a:off x="1107440" y="5516879"/>
            <a:ext cx="329641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6FA8"/>
                </a:solidFill>
                <a:latin typeface="JetBrains Mono" pitchFamily="34" charset="0"/>
                <a:ea typeface="JetBrains Mono" pitchFamily="34" charset="-122"/>
                <a:cs typeface="JetBrains Mono" pitchFamily="34" charset="-120"/>
              </a:rPr>
              <a:t>python sf_mcp_auth.py --check &lt;url&gt;</a:t>
            </a:r>
            <a:endParaRPr lang="en-US" sz="1200" dirty="0"/>
          </a:p>
        </p:txBody>
      </p:sp>
      <p:sp>
        <p:nvSpPr>
          <p:cNvPr id="30" name="Shape 26"/>
          <p:cNvSpPr/>
          <p:nvPr/>
        </p:nvSpPr>
        <p:spPr>
          <a:xfrm>
            <a:off x="5892800" y="2870200"/>
            <a:ext cx="5486400" cy="2844800"/>
          </a:xfrm>
          <a:prstGeom prst="roundRect">
            <a:avLst>
              <a:gd name="adj" fmla="val 3571"/>
            </a:avLst>
          </a:prstGeom>
          <a:solidFill>
            <a:srgbClr val="13263A"/>
          </a:solidFill>
          <a:ln/>
        </p:spPr>
      </p:sp>
      <p:sp>
        <p:nvSpPr>
          <p:cNvPr id="31" name="Text 27"/>
          <p:cNvSpPr/>
          <p:nvPr/>
        </p:nvSpPr>
        <p:spPr>
          <a:xfrm>
            <a:off x="6096000" y="3022600"/>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FA3B5"/>
                </a:solidFill>
                <a:latin typeface="IBM Plex Sans" pitchFamily="34" charset="0"/>
                <a:ea typeface="IBM Plex Sans" pitchFamily="34" charset="-122"/>
                <a:cs typeface="IBM Plex Sans" pitchFamily="34" charset="-120"/>
              </a:rPr>
              <a:t>.MCP.JSON</a:t>
            </a:r>
            <a:endParaRPr lang="en-US" sz="1200" dirty="0"/>
          </a:p>
        </p:txBody>
      </p:sp>
      <p:sp>
        <p:nvSpPr>
          <p:cNvPr id="32" name="Text 28"/>
          <p:cNvSpPr/>
          <p:nvPr/>
        </p:nvSpPr>
        <p:spPr>
          <a:xfrm>
            <a:off x="6096000" y="3299464"/>
            <a:ext cx="5232400" cy="201422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F0C674"/>
                </a:solidFill>
                <a:latin typeface="JetBrains Mono" pitchFamily="34" charset="0"/>
                <a:ea typeface="JetBrains Mono" pitchFamily="34" charset="-122"/>
                <a:cs typeface="JetBrains Mono" pitchFamily="34" charset="-120"/>
              </a:rPr>
              <a:t>"my-snowflake-mcp"</a:t>
            </a:r>
            <a:r>
              <a:rPr lang="en-US" sz="1200" dirty="0">
                <a:solidFill>
                  <a:srgbClr val="E6EDF3"/>
                </a:solidFill>
                <a:latin typeface="JetBrains Mono" pitchFamily="34" charset="0"/>
                <a:ea typeface="JetBrains Mono" pitchFamily="34" charset="-122"/>
                <a:cs typeface="JetBrains Mono" pitchFamily="34" charset="-120"/>
              </a:rPr>
              <a:t>: {</a:t>
            </a:r>
            <a:endParaRPr lang="en-US" sz="1200" dirty="0"/>
          </a:p>
          <a:p>
            <a:pPr algn="l" indent="0" marL="0">
              <a:lnSpc>
                <a:spcPts val="174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"type"</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F0C674"/>
                </a:solidFill>
                <a:latin typeface="JetBrains Mono" pitchFamily="34" charset="0"/>
                <a:ea typeface="JetBrains Mono" pitchFamily="34" charset="-122"/>
                <a:cs typeface="JetBrains Mono" pitchFamily="34" charset="-120"/>
              </a:rPr>
              <a:t>"stdio"</a:t>
            </a: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"command"</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F0C674"/>
                </a:solidFill>
                <a:latin typeface="JetBrains Mono" pitchFamily="34" charset="0"/>
                <a:ea typeface="JetBrains Mono" pitchFamily="34" charset="-122"/>
                <a:cs typeface="JetBrains Mono" pitchFamily="34" charset="-120"/>
              </a:rPr>
              <a:t>".venv/bin/python"</a:t>
            </a: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"args"</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F0C674"/>
                </a:solidFill>
                <a:latin typeface="JetBrains Mono" pitchFamily="34" charset="0"/>
                <a:ea typeface="JetBrains Mono" pitchFamily="34" charset="-122"/>
                <a:cs typeface="JetBrains Mono" pitchFamily="34" charset="-120"/>
              </a:rPr>
              <a:t>"sf_mcp_proxy.py"</a:t>
            </a: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F0C674"/>
                </a:solidFill>
                <a:latin typeface="JetBrains Mono" pitchFamily="34" charset="0"/>
                <a:ea typeface="JetBrains Mono" pitchFamily="34" charset="-122"/>
                <a:cs typeface="JetBrains Mono" pitchFamily="34" charset="-120"/>
              </a:rPr>
              <a:t>"https://&lt;account&gt;…/mcp-servers/&lt;NAME&gt;"</a:t>
            </a: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"env"</a:t>
            </a:r>
            <a:r>
              <a:rPr lang="en-US" sz="1200" dirty="0">
                <a:solidFill>
                  <a:srgbClr val="E6EDF3"/>
                </a:solidFill>
                <a:latin typeface="JetBrains Mono" pitchFamily="34" charset="0"/>
                <a:ea typeface="JetBrains Mono" pitchFamily="34" charset="-122"/>
                <a:cs typeface="JetBrains Mono" pitchFamily="34" charset="-120"/>
              </a:rPr>
              <a:t>: { </a:t>
            </a:r>
            <a:r>
              <a:rPr lang="en-US" sz="1200" dirty="0">
                <a:solidFill>
                  <a:srgbClr val="7CC4F0"/>
                </a:solidFill>
                <a:latin typeface="JetBrains Mono" pitchFamily="34" charset="0"/>
                <a:ea typeface="JetBrains Mono" pitchFamily="34" charset="-122"/>
                <a:cs typeface="JetBrains Mono" pitchFamily="34" charset="-120"/>
              </a:rPr>
              <a:t>"SF_ACCOUNT"</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F0C674"/>
                </a:solidFill>
                <a:latin typeface="JetBrains Mono" pitchFamily="34" charset="0"/>
                <a:ea typeface="JetBrains Mono" pitchFamily="34" charset="-122"/>
                <a:cs typeface="JetBrains Mono" pitchFamily="34" charset="-120"/>
              </a:rPr>
              <a:t>"&lt;account&gt;"</a:t>
            </a: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"SF_USER"</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F0C674"/>
                </a:solidFill>
                <a:latin typeface="JetBrains Mono" pitchFamily="34" charset="0"/>
                <a:ea typeface="JetBrains Mono" pitchFamily="34" charset="-122"/>
                <a:cs typeface="JetBrains Mono" pitchFamily="34" charset="-120"/>
              </a:rPr>
              <a:t>"you@example.com"</a:t>
            </a: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7CC4F0"/>
                </a:solidFill>
                <a:latin typeface="JetBrains Mono" pitchFamily="34" charset="0"/>
                <a:ea typeface="JetBrains Mono" pitchFamily="34" charset="-122"/>
                <a:cs typeface="JetBrains Mono" pitchFamily="34" charset="-120"/>
              </a:rPr>
              <a:t>"SF_ROLE"</a:t>
            </a:r>
            <a:r>
              <a:rPr lang="en-US" sz="1200" dirty="0">
                <a:solidFill>
                  <a:srgbClr val="E6EDF3"/>
                </a:solidFill>
                <a:latin typeface="JetBrains Mono" pitchFamily="34" charset="0"/>
                <a:ea typeface="JetBrains Mono" pitchFamily="34" charset="-122"/>
                <a:cs typeface="JetBrains Mono" pitchFamily="34" charset="-120"/>
              </a:rPr>
              <a:t>: </a:t>
            </a:r>
            <a:r>
              <a:rPr lang="en-US" sz="1200" dirty="0">
                <a:solidFill>
                  <a:srgbClr val="F0C674"/>
                </a:solidFill>
                <a:latin typeface="JetBrains Mono" pitchFamily="34" charset="0"/>
                <a:ea typeface="JetBrains Mono" pitchFamily="34" charset="-122"/>
                <a:cs typeface="JetBrains Mono" pitchFamily="34" charset="-120"/>
              </a:rPr>
              <a:t>"MY_ROLE"</a:t>
            </a:r>
            <a:r>
              <a:rPr lang="en-US" sz="1200" dirty="0">
                <a:solidFill>
                  <a:srgbClr val="E6EDF3"/>
                </a:solidFill>
                <a:latin typeface="JetBrains Mono" pitchFamily="34" charset="0"/>
                <a:ea typeface="JetBrains Mono" pitchFamily="34" charset="-122"/>
                <a:cs typeface="JetBrains Mono" pitchFamily="34" charset="-120"/>
              </a:rPr>
              <a:t> }</a:t>
            </a:r>
            <a:endParaRPr lang="en-US" sz="1200" dirty="0"/>
          </a:p>
          <a:p>
            <a:pPr algn="l" indent="0" marL="0">
              <a:lnSpc>
                <a:spcPts val="1740"/>
              </a:lnSpc>
              <a:buNone/>
            </a:pPr>
            <a:r>
              <a:rPr lang="en-US" sz="1200" dirty="0">
                <a:solidFill>
                  <a:srgbClr val="E6EDF3"/>
                </a:solidFill>
                <a:latin typeface="JetBrains Mono" pitchFamily="34" charset="0"/>
                <a:ea typeface="JetBrains Mono" pitchFamily="34" charset="-122"/>
                <a:cs typeface="JetBrains Mono" pitchFamily="34" charset="-120"/>
              </a:rPr>
              <a:t>}</a:t>
            </a:r>
            <a:endParaRPr lang="en-US" sz="1200" dirty="0"/>
          </a:p>
        </p:txBody>
      </p:sp>
      <p:sp>
        <p:nvSpPr>
          <p:cNvPr id="33" name="Text 29"/>
          <p:cNvSpPr/>
          <p:nvPr/>
        </p:nvSpPr>
        <p:spPr>
          <a:xfrm>
            <a:off x="812800" y="5867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7686"/>
                </a:solidFill>
                <a:latin typeface="IBM Plex Sans" pitchFamily="34" charset="0"/>
                <a:ea typeface="IBM Plex Sans" pitchFamily="34" charset="-122"/>
                <a:cs typeface="IBM Plex Sans" pitchFamily="34" charset="-120"/>
              </a:rPr>
              <a:t>Dev only:</a:t>
            </a:r>
            <a:r>
              <a:rPr lang="en-US" sz="1200" dirty="0">
                <a:solidFill>
                  <a:srgbClr val="6A7686"/>
                </a:solidFill>
                <a:latin typeface="IBM Plex Sans" pitchFamily="34" charset="0"/>
                <a:ea typeface="IBM Plex Sans" pitchFamily="34" charset="-122"/>
                <a:cs typeface="IBM Plex Sans" pitchFamily="34" charset="-120"/>
              </a:rPr>
              <a:t> every call runs as you, with your role. For shared or unattended use, use a PAT, key pair or OAuth.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63A"/>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B949"/>
                </a:solidFill>
                <a:latin typeface="IBM Plex Sans" pitchFamily="34" charset="0"/>
                <a:ea typeface="IBM Plex Sans" pitchFamily="34" charset="-122"/>
                <a:cs typeface="IBM Plex Sans" pitchFamily="34" charset="-120"/>
              </a:rPr>
              <a:t>YOUR DAY, IN FIVE STEPS</a:t>
            </a:r>
            <a:endParaRPr lang="en-US" sz="1200" dirty="0"/>
          </a:p>
        </p:txBody>
      </p:sp>
      <p:sp>
        <p:nvSpPr>
          <p:cNvPr id="3" name="Text 1"/>
          <p:cNvSpPr/>
          <p:nvPr/>
        </p:nvSpPr>
        <p:spPr>
          <a:xfrm>
            <a:off x="812800" y="848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F5F3EE"/>
                </a:solidFill>
                <a:latin typeface="IBM Plex Sans" pitchFamily="34" charset="0"/>
                <a:ea typeface="IBM Plex Sans" pitchFamily="34" charset="-122"/>
                <a:cs typeface="IBM Plex Sans" pitchFamily="34" charset="-120"/>
              </a:rPr>
              <a:t>How to develop</a:t>
            </a:r>
            <a:endParaRPr lang="en-US" sz="3000" dirty="0"/>
          </a:p>
        </p:txBody>
      </p:sp>
      <p:sp>
        <p:nvSpPr>
          <p:cNvPr id="4" name="Shape 2"/>
          <p:cNvSpPr/>
          <p:nvPr/>
        </p:nvSpPr>
        <p:spPr>
          <a:xfrm>
            <a:off x="812800" y="1600200"/>
            <a:ext cx="1987550" cy="3784600"/>
          </a:xfrm>
          <a:prstGeom prst="roundRect">
            <a:avLst>
              <a:gd name="adj" fmla="val 5751"/>
            </a:avLst>
          </a:prstGeom>
          <a:solidFill>
            <a:srgbClr val="1C3654"/>
          </a:solidFill>
          <a:ln/>
        </p:spPr>
      </p:sp>
      <p:sp>
        <p:nvSpPr>
          <p:cNvPr id="5" name="Text 3"/>
          <p:cNvSpPr/>
          <p:nvPr/>
        </p:nvSpPr>
        <p:spPr>
          <a:xfrm>
            <a:off x="965200" y="1752600"/>
            <a:ext cx="1733550"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E9B949"/>
                </a:solidFill>
                <a:latin typeface="IBM Plex Sans" pitchFamily="34" charset="0"/>
                <a:ea typeface="IBM Plex Sans" pitchFamily="34" charset="-122"/>
                <a:cs typeface="IBM Plex Sans" pitchFamily="34" charset="-120"/>
              </a:rPr>
              <a:t>1</a:t>
            </a:r>
            <a:endParaRPr lang="en-US" sz="3000" dirty="0"/>
          </a:p>
        </p:txBody>
      </p:sp>
      <p:sp>
        <p:nvSpPr>
          <p:cNvPr id="6" name="Text 4"/>
          <p:cNvSpPr/>
          <p:nvPr/>
        </p:nvSpPr>
        <p:spPr>
          <a:xfrm>
            <a:off x="965200" y="2235200"/>
            <a:ext cx="1733550"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Start with a small semantic view</a:t>
            </a:r>
            <a:endParaRPr lang="en-US" sz="1400" dirty="0"/>
          </a:p>
        </p:txBody>
      </p:sp>
      <p:sp>
        <p:nvSpPr>
          <p:cNvPr id="7" name="Text 5"/>
          <p:cNvSpPr/>
          <p:nvPr/>
        </p:nvSpPr>
        <p:spPr>
          <a:xfrm>
            <a:off x="965200" y="2725421"/>
            <a:ext cx="173355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Have Claude Code create one with a couple of dimensions and metrics, then deploy it</a:t>
            </a:r>
            <a:endParaRPr lang="en-US" sz="1200" dirty="0"/>
          </a:p>
        </p:txBody>
      </p:sp>
      <p:sp>
        <p:nvSpPr>
          <p:cNvPr id="8" name="Shape 6"/>
          <p:cNvSpPr/>
          <p:nvPr/>
        </p:nvSpPr>
        <p:spPr>
          <a:xfrm>
            <a:off x="965200" y="4198621"/>
            <a:ext cx="1682750" cy="1033780"/>
          </a:xfrm>
          <a:prstGeom prst="roundRect">
            <a:avLst>
              <a:gd name="adj" fmla="val 7371"/>
            </a:avLst>
          </a:prstGeom>
          <a:solidFill>
            <a:srgbClr val="24425F"/>
          </a:solidFill>
          <a:ln/>
        </p:spPr>
      </p:sp>
      <p:sp>
        <p:nvSpPr>
          <p:cNvPr id="9" name="Text 7"/>
          <p:cNvSpPr/>
          <p:nvPr/>
        </p:nvSpPr>
        <p:spPr>
          <a:xfrm>
            <a:off x="1066800" y="4287521"/>
            <a:ext cx="153035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7CC4F0"/>
                </a:solidFill>
                <a:latin typeface="IBM Plex Sans" pitchFamily="34" charset="0"/>
                <a:ea typeface="IBM Plex Sans" pitchFamily="34" charset="-122"/>
                <a:cs typeface="IBM Plex Sans" pitchFamily="34" charset="-120"/>
              </a:rPr>
              <a:t>TRY</a:t>
            </a:r>
            <a:endParaRPr lang="en-US" sz="1200" dirty="0"/>
          </a:p>
        </p:txBody>
      </p:sp>
      <p:sp>
        <p:nvSpPr>
          <p:cNvPr id="10" name="Text 8"/>
          <p:cNvSpPr/>
          <p:nvPr/>
        </p:nvSpPr>
        <p:spPr>
          <a:xfrm>
            <a:off x="1066800" y="4526279"/>
            <a:ext cx="1530350" cy="64262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E6EDF3"/>
                </a:solidFill>
                <a:latin typeface="IBM Plex Sans" pitchFamily="34" charset="0"/>
                <a:ea typeface="IBM Plex Sans" pitchFamily="34" charset="-122"/>
                <a:cs typeface="IBM Plex Sans" pitchFamily="34" charset="-120"/>
              </a:rPr>
              <a:t>“Create a semantic view over our tables with two metrics”</a:t>
            </a:r>
            <a:endParaRPr lang="en-US" sz="1200" dirty="0"/>
          </a:p>
        </p:txBody>
      </p:sp>
      <p:sp>
        <p:nvSpPr>
          <p:cNvPr id="11" name="Shape 9"/>
          <p:cNvSpPr/>
          <p:nvPr/>
        </p:nvSpPr>
        <p:spPr>
          <a:xfrm>
            <a:off x="2952750" y="1600200"/>
            <a:ext cx="1987550" cy="3784600"/>
          </a:xfrm>
          <a:prstGeom prst="roundRect">
            <a:avLst>
              <a:gd name="adj" fmla="val 5751"/>
            </a:avLst>
          </a:prstGeom>
          <a:solidFill>
            <a:srgbClr val="1C3654"/>
          </a:solidFill>
          <a:ln/>
        </p:spPr>
      </p:sp>
      <p:sp>
        <p:nvSpPr>
          <p:cNvPr id="12" name="Text 10"/>
          <p:cNvSpPr/>
          <p:nvPr/>
        </p:nvSpPr>
        <p:spPr>
          <a:xfrm>
            <a:off x="3105150" y="1752600"/>
            <a:ext cx="1733550"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E9B949"/>
                </a:solidFill>
                <a:latin typeface="IBM Plex Sans" pitchFamily="34" charset="0"/>
                <a:ea typeface="IBM Plex Sans" pitchFamily="34" charset="-122"/>
                <a:cs typeface="IBM Plex Sans" pitchFamily="34" charset="-120"/>
              </a:rPr>
              <a:t>2</a:t>
            </a:r>
            <a:endParaRPr lang="en-US" sz="3000" dirty="0"/>
          </a:p>
        </p:txBody>
      </p:sp>
      <p:sp>
        <p:nvSpPr>
          <p:cNvPr id="13" name="Text 11"/>
          <p:cNvSpPr/>
          <p:nvPr/>
        </p:nvSpPr>
        <p:spPr>
          <a:xfrm>
            <a:off x="3105150" y="2235200"/>
            <a:ext cx="1733550"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Experiment with plain SQL</a:t>
            </a:r>
            <a:endParaRPr lang="en-US" sz="1400" dirty="0"/>
          </a:p>
        </p:txBody>
      </p:sp>
      <p:sp>
        <p:nvSpPr>
          <p:cNvPr id="14" name="Text 12"/>
          <p:cNvSpPr/>
          <p:nvPr/>
        </p:nvSpPr>
        <p:spPr>
          <a:xfrm>
            <a:off x="3105150" y="2725421"/>
            <a:ext cx="173355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Use the view from Claude Code over your Snowflake connection. Skip Cortex Analyst</a:t>
            </a:r>
            <a:endParaRPr lang="en-US" sz="1200" dirty="0"/>
          </a:p>
        </p:txBody>
      </p:sp>
      <p:sp>
        <p:nvSpPr>
          <p:cNvPr id="15" name="Shape 13"/>
          <p:cNvSpPr/>
          <p:nvPr/>
        </p:nvSpPr>
        <p:spPr>
          <a:xfrm>
            <a:off x="3105150" y="4198621"/>
            <a:ext cx="1682750" cy="1033780"/>
          </a:xfrm>
          <a:prstGeom prst="roundRect">
            <a:avLst>
              <a:gd name="adj" fmla="val 7371"/>
            </a:avLst>
          </a:prstGeom>
          <a:solidFill>
            <a:srgbClr val="24425F"/>
          </a:solidFill>
          <a:ln/>
        </p:spPr>
      </p:sp>
      <p:sp>
        <p:nvSpPr>
          <p:cNvPr id="16" name="Text 14"/>
          <p:cNvSpPr/>
          <p:nvPr/>
        </p:nvSpPr>
        <p:spPr>
          <a:xfrm>
            <a:off x="3206750" y="4287521"/>
            <a:ext cx="153035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7CC4F0"/>
                </a:solidFill>
                <a:latin typeface="IBM Plex Sans" pitchFamily="34" charset="0"/>
                <a:ea typeface="IBM Plex Sans" pitchFamily="34" charset="-122"/>
                <a:cs typeface="IBM Plex Sans" pitchFamily="34" charset="-120"/>
              </a:rPr>
              <a:t>TRY</a:t>
            </a:r>
            <a:endParaRPr lang="en-US" sz="1200" dirty="0"/>
          </a:p>
        </p:txBody>
      </p:sp>
      <p:sp>
        <p:nvSpPr>
          <p:cNvPr id="17" name="Text 15"/>
          <p:cNvSpPr/>
          <p:nvPr/>
        </p:nvSpPr>
        <p:spPr>
          <a:xfrm>
            <a:off x="3206750" y="4526279"/>
            <a:ext cx="1530350" cy="64262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E6EDF3"/>
                </a:solidFill>
                <a:latin typeface="IBM Plex Sans" pitchFamily="34" charset="0"/>
                <a:ea typeface="IBM Plex Sans" pitchFamily="34" charset="-122"/>
                <a:cs typeface="IBM Plex Sans" pitchFamily="34" charset="-120"/>
              </a:rPr>
              <a:t>“Answer this from the semantic view and show me the SQL”</a:t>
            </a:r>
            <a:endParaRPr lang="en-US" sz="1200" dirty="0"/>
          </a:p>
        </p:txBody>
      </p:sp>
      <p:sp>
        <p:nvSpPr>
          <p:cNvPr id="18" name="Shape 16"/>
          <p:cNvSpPr/>
          <p:nvPr/>
        </p:nvSpPr>
        <p:spPr>
          <a:xfrm>
            <a:off x="5092700" y="1600200"/>
            <a:ext cx="1987550" cy="3784600"/>
          </a:xfrm>
          <a:prstGeom prst="roundRect">
            <a:avLst>
              <a:gd name="adj" fmla="val 5751"/>
            </a:avLst>
          </a:prstGeom>
          <a:solidFill>
            <a:srgbClr val="1C3654"/>
          </a:solidFill>
          <a:ln/>
        </p:spPr>
      </p:sp>
      <p:sp>
        <p:nvSpPr>
          <p:cNvPr id="19" name="Text 17"/>
          <p:cNvSpPr/>
          <p:nvPr/>
        </p:nvSpPr>
        <p:spPr>
          <a:xfrm>
            <a:off x="5245100" y="1752600"/>
            <a:ext cx="1733550"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E9B949"/>
                </a:solidFill>
                <a:latin typeface="IBM Plex Sans" pitchFamily="34" charset="0"/>
                <a:ea typeface="IBM Plex Sans" pitchFamily="34" charset="-122"/>
                <a:cs typeface="IBM Plex Sans" pitchFamily="34" charset="-120"/>
              </a:rPr>
              <a:t>3</a:t>
            </a:r>
            <a:endParaRPr lang="en-US" sz="3000" dirty="0"/>
          </a:p>
        </p:txBody>
      </p:sp>
      <p:sp>
        <p:nvSpPr>
          <p:cNvPr id="20" name="Text 18"/>
          <p:cNvSpPr/>
          <p:nvPr/>
        </p:nvSpPr>
        <p:spPr>
          <a:xfrm>
            <a:off x="5245100" y="2235200"/>
            <a:ext cx="1733550"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Plug in the shared memory</a:t>
            </a:r>
            <a:endParaRPr lang="en-US" sz="1400" dirty="0"/>
          </a:p>
        </p:txBody>
      </p:sp>
      <p:sp>
        <p:nvSpPr>
          <p:cNvPr id="21" name="Text 19"/>
          <p:cNvSpPr/>
          <p:nvPr/>
        </p:nvSpPr>
        <p:spPr>
          <a:xfrm>
            <a:off x="5245100" y="2725421"/>
            <a:ext cx="173355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Add the memory MCP server to your session and check that findings get recorded</a:t>
            </a:r>
            <a:endParaRPr lang="en-US" sz="1200" dirty="0"/>
          </a:p>
        </p:txBody>
      </p:sp>
      <p:sp>
        <p:nvSpPr>
          <p:cNvPr id="22" name="Shape 20"/>
          <p:cNvSpPr/>
          <p:nvPr/>
        </p:nvSpPr>
        <p:spPr>
          <a:xfrm>
            <a:off x="5245100" y="4404364"/>
            <a:ext cx="1682750" cy="828040"/>
          </a:xfrm>
          <a:prstGeom prst="roundRect">
            <a:avLst>
              <a:gd name="adj" fmla="val 9202"/>
            </a:avLst>
          </a:prstGeom>
          <a:solidFill>
            <a:srgbClr val="24425F"/>
          </a:solidFill>
          <a:ln/>
        </p:spPr>
      </p:sp>
      <p:sp>
        <p:nvSpPr>
          <p:cNvPr id="23" name="Text 21"/>
          <p:cNvSpPr/>
          <p:nvPr/>
        </p:nvSpPr>
        <p:spPr>
          <a:xfrm>
            <a:off x="5346700" y="4493264"/>
            <a:ext cx="153035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7CC4F0"/>
                </a:solidFill>
                <a:latin typeface="IBM Plex Sans" pitchFamily="34" charset="0"/>
                <a:ea typeface="IBM Plex Sans" pitchFamily="34" charset="-122"/>
                <a:cs typeface="IBM Plex Sans" pitchFamily="34" charset="-120"/>
              </a:rPr>
              <a:t>TRY</a:t>
            </a:r>
            <a:endParaRPr lang="en-US" sz="1200" dirty="0"/>
          </a:p>
        </p:txBody>
      </p:sp>
      <p:sp>
        <p:nvSpPr>
          <p:cNvPr id="24" name="Text 22"/>
          <p:cNvSpPr/>
          <p:nvPr/>
        </p:nvSpPr>
        <p:spPr>
          <a:xfrm>
            <a:off x="5346700" y="4732021"/>
            <a:ext cx="1530350" cy="43688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E6EDF3"/>
                </a:solidFill>
                <a:latin typeface="IBM Plex Sans" pitchFamily="34" charset="0"/>
                <a:ea typeface="IBM Plex Sans" pitchFamily="34" charset="-122"/>
                <a:cs typeface="IBM Plex Sans" pitchFamily="34" charset="-120"/>
              </a:rPr>
              <a:t>“Record what we just learned as a finding”</a:t>
            </a:r>
            <a:endParaRPr lang="en-US" sz="1200" dirty="0"/>
          </a:p>
        </p:txBody>
      </p:sp>
      <p:sp>
        <p:nvSpPr>
          <p:cNvPr id="25" name="Shape 23"/>
          <p:cNvSpPr/>
          <p:nvPr/>
        </p:nvSpPr>
        <p:spPr>
          <a:xfrm>
            <a:off x="7232650" y="1600200"/>
            <a:ext cx="1987550" cy="3784600"/>
          </a:xfrm>
          <a:prstGeom prst="roundRect">
            <a:avLst>
              <a:gd name="adj" fmla="val 5751"/>
            </a:avLst>
          </a:prstGeom>
          <a:solidFill>
            <a:srgbClr val="1C3654"/>
          </a:solidFill>
          <a:ln/>
        </p:spPr>
      </p:sp>
      <p:sp>
        <p:nvSpPr>
          <p:cNvPr id="26" name="Text 24"/>
          <p:cNvSpPr/>
          <p:nvPr/>
        </p:nvSpPr>
        <p:spPr>
          <a:xfrm>
            <a:off x="7385050" y="1752600"/>
            <a:ext cx="1733550"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E9B949"/>
                </a:solidFill>
                <a:latin typeface="IBM Plex Sans" pitchFamily="34" charset="0"/>
                <a:ea typeface="IBM Plex Sans" pitchFamily="34" charset="-122"/>
                <a:cs typeface="IBM Plex Sans" pitchFamily="34" charset="-120"/>
              </a:rPr>
              <a:t>4</a:t>
            </a:r>
            <a:endParaRPr lang="en-US" sz="3000" dirty="0"/>
          </a:p>
        </p:txBody>
      </p:sp>
      <p:sp>
        <p:nvSpPr>
          <p:cNvPr id="27" name="Text 25"/>
          <p:cNvSpPr/>
          <p:nvPr/>
        </p:nvSpPr>
        <p:spPr>
          <a:xfrm>
            <a:off x="7385050" y="2235200"/>
            <a:ext cx="1733550"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Generate the Cortex Agent</a:t>
            </a:r>
            <a:endParaRPr lang="en-US" sz="1400" dirty="0"/>
          </a:p>
        </p:txBody>
      </p:sp>
      <p:sp>
        <p:nvSpPr>
          <p:cNvPr id="28" name="Text 26"/>
          <p:cNvSpPr/>
          <p:nvPr/>
        </p:nvSpPr>
        <p:spPr>
          <a:xfrm>
            <a:off x="7385050" y="2725421"/>
            <a:ext cx="173355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Have Claude write the agent definition from what worked, on Opus 5.5</a:t>
            </a:r>
            <a:endParaRPr lang="en-US" sz="1200" dirty="0"/>
          </a:p>
        </p:txBody>
      </p:sp>
      <p:sp>
        <p:nvSpPr>
          <p:cNvPr id="29" name="Shape 27"/>
          <p:cNvSpPr/>
          <p:nvPr/>
        </p:nvSpPr>
        <p:spPr>
          <a:xfrm>
            <a:off x="7385050" y="4198621"/>
            <a:ext cx="1682750" cy="1033780"/>
          </a:xfrm>
          <a:prstGeom prst="roundRect">
            <a:avLst>
              <a:gd name="adj" fmla="val 7371"/>
            </a:avLst>
          </a:prstGeom>
          <a:solidFill>
            <a:srgbClr val="24425F"/>
          </a:solidFill>
          <a:ln/>
        </p:spPr>
      </p:sp>
      <p:sp>
        <p:nvSpPr>
          <p:cNvPr id="30" name="Text 28"/>
          <p:cNvSpPr/>
          <p:nvPr/>
        </p:nvSpPr>
        <p:spPr>
          <a:xfrm>
            <a:off x="7486650" y="4287521"/>
            <a:ext cx="153035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7CC4F0"/>
                </a:solidFill>
                <a:latin typeface="IBM Plex Sans" pitchFamily="34" charset="0"/>
                <a:ea typeface="IBM Plex Sans" pitchFamily="34" charset="-122"/>
                <a:cs typeface="IBM Plex Sans" pitchFamily="34" charset="-120"/>
              </a:rPr>
              <a:t>TRY</a:t>
            </a:r>
            <a:endParaRPr lang="en-US" sz="1200" dirty="0"/>
          </a:p>
        </p:txBody>
      </p:sp>
      <p:sp>
        <p:nvSpPr>
          <p:cNvPr id="31" name="Text 29"/>
          <p:cNvSpPr/>
          <p:nvPr/>
        </p:nvSpPr>
        <p:spPr>
          <a:xfrm>
            <a:off x="7486650" y="4526279"/>
            <a:ext cx="1530350" cy="64262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E6EDF3"/>
                </a:solidFill>
                <a:latin typeface="IBM Plex Sans" pitchFamily="34" charset="0"/>
                <a:ea typeface="IBM Plex Sans" pitchFamily="34" charset="-122"/>
                <a:cs typeface="IBM Plex Sans" pitchFamily="34" charset="-120"/>
              </a:rPr>
              <a:t>“Turn this session into a Cortex Agent, claude-opus-5-5”</a:t>
            </a:r>
            <a:endParaRPr lang="en-US" sz="1200" dirty="0"/>
          </a:p>
        </p:txBody>
      </p:sp>
      <p:sp>
        <p:nvSpPr>
          <p:cNvPr id="32" name="Shape 30"/>
          <p:cNvSpPr/>
          <p:nvPr/>
        </p:nvSpPr>
        <p:spPr>
          <a:xfrm>
            <a:off x="9382125" y="1609725"/>
            <a:ext cx="1968500" cy="3765550"/>
          </a:xfrm>
          <a:prstGeom prst="roundRect">
            <a:avLst>
              <a:gd name="adj" fmla="val 5323"/>
            </a:avLst>
          </a:prstGeom>
          <a:solidFill>
            <a:srgbClr val="1C3654"/>
          </a:solidFill>
          <a:ln w="19050">
            <a:solidFill>
              <a:srgbClr val="E9B949"/>
            </a:solidFill>
            <a:prstDash val="solid"/>
          </a:ln>
        </p:spPr>
      </p:sp>
      <p:sp>
        <p:nvSpPr>
          <p:cNvPr id="33" name="Text 31"/>
          <p:cNvSpPr/>
          <p:nvPr/>
        </p:nvSpPr>
        <p:spPr>
          <a:xfrm>
            <a:off x="9523730" y="1751329"/>
            <a:ext cx="1736090"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E9B949"/>
                </a:solidFill>
                <a:latin typeface="IBM Plex Sans" pitchFamily="34" charset="0"/>
                <a:ea typeface="IBM Plex Sans" pitchFamily="34" charset="-122"/>
                <a:cs typeface="IBM Plex Sans" pitchFamily="34" charset="-120"/>
              </a:rPr>
              <a:t>5</a:t>
            </a:r>
            <a:endParaRPr lang="en-US" sz="3000" dirty="0"/>
          </a:p>
        </p:txBody>
      </p:sp>
      <p:sp>
        <p:nvSpPr>
          <p:cNvPr id="34" name="Text 32"/>
          <p:cNvSpPr/>
          <p:nvPr/>
        </p:nvSpPr>
        <p:spPr>
          <a:xfrm>
            <a:off x="9523730" y="2233929"/>
            <a:ext cx="1736090"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Expose your agent as a tool</a:t>
            </a:r>
            <a:endParaRPr lang="en-US" sz="1400" dirty="0"/>
          </a:p>
        </p:txBody>
      </p:sp>
      <p:sp>
        <p:nvSpPr>
          <p:cNvPr id="35" name="Text 33"/>
          <p:cNvSpPr/>
          <p:nvPr/>
        </p:nvSpPr>
        <p:spPr>
          <a:xfrm>
            <a:off x="9523730" y="2724150"/>
            <a:ext cx="17360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8"/>
                </a:solidFill>
                <a:latin typeface="IBM Plex Sans" pitchFamily="34" charset="0"/>
                <a:ea typeface="IBM Plex Sans" pitchFamily="34" charset="-122"/>
                <a:cs typeface="IBM Plex Sans" pitchFamily="34" charset="-120"/>
              </a:rPr>
              <a:t>Wrap it in a caller's-rights procedure so the orchestrator can call it</a:t>
            </a:r>
            <a:endParaRPr lang="en-US" sz="1200" dirty="0"/>
          </a:p>
        </p:txBody>
      </p:sp>
      <p:sp>
        <p:nvSpPr>
          <p:cNvPr id="36" name="Shape 34"/>
          <p:cNvSpPr/>
          <p:nvPr/>
        </p:nvSpPr>
        <p:spPr>
          <a:xfrm>
            <a:off x="9523730" y="4199892"/>
            <a:ext cx="1685290" cy="1033780"/>
          </a:xfrm>
          <a:prstGeom prst="roundRect">
            <a:avLst>
              <a:gd name="adj" fmla="val 7371"/>
            </a:avLst>
          </a:prstGeom>
          <a:solidFill>
            <a:srgbClr val="24425F"/>
          </a:solidFill>
          <a:ln/>
        </p:spPr>
      </p:sp>
      <p:sp>
        <p:nvSpPr>
          <p:cNvPr id="37" name="Text 35"/>
          <p:cNvSpPr/>
          <p:nvPr/>
        </p:nvSpPr>
        <p:spPr>
          <a:xfrm>
            <a:off x="9625330" y="4288792"/>
            <a:ext cx="153289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7CC4F0"/>
                </a:solidFill>
                <a:latin typeface="IBM Plex Sans" pitchFamily="34" charset="0"/>
                <a:ea typeface="IBM Plex Sans" pitchFamily="34" charset="-122"/>
                <a:cs typeface="IBM Plex Sans" pitchFamily="34" charset="-120"/>
              </a:rPr>
              <a:t>TRY</a:t>
            </a:r>
            <a:endParaRPr lang="en-US" sz="1200" dirty="0"/>
          </a:p>
        </p:txBody>
      </p:sp>
      <p:sp>
        <p:nvSpPr>
          <p:cNvPr id="38" name="Text 36"/>
          <p:cNvSpPr/>
          <p:nvPr/>
        </p:nvSpPr>
        <p:spPr>
          <a:xfrm>
            <a:off x="9625330" y="4527550"/>
            <a:ext cx="1532890" cy="64262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E6EDF3"/>
                </a:solidFill>
                <a:latin typeface="IBM Plex Sans" pitchFamily="34" charset="0"/>
                <a:ea typeface="IBM Plex Sans" pitchFamily="34" charset="-122"/>
                <a:cs typeface="IBM Plex Sans" pitchFamily="34" charset="-120"/>
              </a:rPr>
              <a:t>“Expose my agent as a tool, like the delegation example”</a:t>
            </a:r>
            <a:endParaRPr lang="en-US" sz="1200" dirty="0"/>
          </a:p>
        </p:txBody>
      </p:sp>
      <p:sp>
        <p:nvSpPr>
          <p:cNvPr id="39" name="Text 37"/>
          <p:cNvSpPr/>
          <p:nvPr/>
        </p:nvSpPr>
        <p:spPr>
          <a:xfrm>
            <a:off x="812800" y="5537200"/>
            <a:ext cx="10883392" cy="467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F5F3EE"/>
                </a:solidFill>
                <a:latin typeface="IBM Plex Sans" pitchFamily="34" charset="0"/>
                <a:ea typeface="IBM Plex Sans" pitchFamily="34" charset="-122"/>
                <a:cs typeface="IBM Plex Sans" pitchFamily="34" charset="-120"/>
              </a:rPr>
              <a:t>Templates:</a:t>
            </a:r>
            <a:r>
              <a:rPr lang="en-US" sz="1200" dirty="0">
                <a:solidFill>
                  <a:srgbClr val="BFCCD8"/>
                </a:solidFill>
                <a:latin typeface="IBM Plex Sans" pitchFamily="34" charset="0"/>
                <a:ea typeface="IBM Plex Sans" pitchFamily="34" charset="-122"/>
                <a:cs typeface="IBM Plex Sans" pitchFamily="34" charset="-120"/>
              </a:rPr>
              <a:t> step 4, the Snowflake connection + pandas agent: </a:t>
            </a:r>
            <a:r>
              <a:rPr lang="en-US" sz="1200" dirty="0">
                <a:solidFill>
                  <a:srgbClr val="7CC4F0"/>
                </a:solidFill>
                <a:latin typeface="IBM Plex Sans" pitchFamily="34" charset="0"/>
                <a:ea typeface="IBM Plex Sans" pitchFamily="34" charset="-122"/>
                <a:cs typeface="IBM Plex Sans" pitchFamily="34" charset="-120"/>
              </a:rPr>
              <a:t>sv-to-agent/sql/07_agent_code_pandas.sql</a:t>
            </a:r>
            <a:endParaRPr lang="en-US" sz="1200" dirty="0"/>
          </a:p>
          <a:p>
            <a:pPr algn="l" indent="0" marL="0">
              <a:lnSpc>
                <a:spcPts val="1740"/>
              </a:lnSpc>
              <a:buNone/>
            </a:pPr>
            <a:r>
              <a:rPr lang="en-US" sz="1200" dirty="0">
                <a:solidFill>
                  <a:srgbClr val="BFCCD8"/>
                </a:solidFill>
                <a:latin typeface="IBM Plex Sans" pitchFamily="34" charset="0"/>
                <a:ea typeface="IBM Plex Sans" pitchFamily="34" charset="-122"/>
                <a:cs typeface="IBM Plex Sans" pitchFamily="34" charset="-120"/>
              </a:rPr>
              <a:t>step 5, agent as a tool: </a:t>
            </a:r>
            <a:r>
              <a:rPr lang="en-US" sz="1200" dirty="0">
                <a:solidFill>
                  <a:srgbClr val="7CC4F0"/>
                </a:solidFill>
                <a:latin typeface="IBM Plex Sans" pitchFamily="34" charset="0"/>
                <a:ea typeface="IBM Plex Sans" pitchFamily="34" charset="-122"/>
                <a:cs typeface="IBM Plex Sans" pitchFamily="34" charset="-120"/>
              </a:rPr>
              <a:t>sv-to-agent/sql/09_agent_delegation.sql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Snowflake Semantic Views &amp; Agents — Hackathon</dc:title>
  <dc:subject>PptxGenJS Presentation</dc:subject>
  <dc:creator>PptxGenJS</dc:creator>
  <cp:lastModifiedBy>PptxGenJS</cp:lastModifiedBy>
  <cp:revision>1</cp:revision>
  <dcterms:created xsi:type="dcterms:W3CDTF">2026-09-29T01:14:52Z</dcterms:created>
  <dcterms:modified xsi:type="dcterms:W3CDTF">2026-09-29T01:14:52Z</dcterms:modified>
</cp:coreProperties>
</file>